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15"/>
  </p:notesMasterIdLst>
  <p:handoutMasterIdLst>
    <p:handoutMasterId r:id="rId16"/>
  </p:handoutMasterIdLst>
  <p:sldIdLst>
    <p:sldId id="351" r:id="rId2"/>
    <p:sldId id="454" r:id="rId3"/>
    <p:sldId id="479" r:id="rId4"/>
    <p:sldId id="481" r:id="rId5"/>
    <p:sldId id="480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6FF"/>
    <a:srgbClr val="B896FF"/>
    <a:srgbClr val="00FFF0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29" autoAdjust="0"/>
    <p:restoredTop sz="97149" autoAdjust="0"/>
  </p:normalViewPr>
  <p:slideViewPr>
    <p:cSldViewPr snapToGrid="0">
      <p:cViewPr varScale="1">
        <p:scale>
          <a:sx n="120" d="100"/>
          <a:sy n="120" d="100"/>
        </p:scale>
        <p:origin x="76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hu-HU" sz="12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A920-11CD-08BB-3823-F6C39847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6ECF4D4-B99B-7548-17FD-D04B2882A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99AEE9E-3AD2-544C-6BDF-8FA2700F1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B584D62-8882-7201-281F-AD368EBF9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AE11-9511-FC56-7A8B-0F1A1B8B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9B7541E-280F-6343-1871-53C57BF8D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EC1139A-6E4A-25E5-2BE7-2046CCBE6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15D7360-2CFC-C0A8-A442-6EAA34C28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14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9676-D89D-180B-ABB6-DB20A64D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E080FEB-649F-D58A-E4AA-1EBDF1D9C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C681E04-0774-6B10-7EBD-3AE09ADD2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355CE92-F073-8E4F-C311-EC2CFC27B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91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7030-5AC7-8EFA-312B-C7EC801C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09AA4CA-4489-C611-DC6B-61BCFB29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8BBDA02-8E9D-213A-89AA-25BF7EE4D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E215A18-770A-3D7D-72A6-BFC288E07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98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D642-7188-2344-7F10-EA83D7C7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384A300-322A-7FD7-D76A-ECEFB4346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3F3C207-02EE-E4E5-84AB-B2D00F6CA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C363012-D7A6-6D11-6423-D582B0B1F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15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8B93-E74B-C97E-FA99-F2D51B27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C07BAFE-BF54-2BC0-EBC3-8A4A8EE37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AAE51A2-091E-D47D-8F17-0699314C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79644B1-AC32-6D7A-D1F6-344820B52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47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87DE-AEA1-AF20-75F7-DBAF03EC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FD5F576-C938-868E-41CC-B792951C5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F55F047-510B-C70B-E0FC-7BBD9426E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AE377D9-2C80-484A-DE04-EEED727EF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79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BC6B-A0A1-EB16-DC70-06562AB1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F1705ED-7609-7B05-A84F-45A239275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5B6575F-7863-7763-112D-6C0DEA0BD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702A7F5-0998-D1FA-EFA0-B23D5E891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48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1F71-9B50-D2C1-9DE1-34C1B55E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0906CE3-D06A-0521-3CDA-3807AA5D6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7162473-2DEC-193B-E4B3-37F957A05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1B0728B-E99E-0222-2910-29C489BF0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49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1D7F-EF72-5EC1-3559-126B606A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0D0A2FF-BA89-1FE5-6A2B-092187F3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34DE454-4785-C24F-4726-A59720BF8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26FB78B-99FD-5540-DD28-3C955C55B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82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E9EF-1FA2-B366-AB3B-F1E36797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3A62F-7DE0-0E57-DC56-733B88287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3AF5A-DB5E-A8B5-003A-42F6C66D3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759-C0D5-24CF-D300-C7B7F3100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8A001-691D-41D9-91DC-B9507CB04C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1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Sometimes You Want to Use a </a:t>
            </a:r>
            <a:br>
              <a:rPr lang="en-US"/>
            </a:br>
            <a:r>
              <a:rPr lang="en-US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just have a bunch of type and don’t want to try too hard. Lorem ipsum diam fames </a:t>
            </a:r>
            <a:r>
              <a:rPr lang="en-US" err="1"/>
              <a:t>augue</a:t>
            </a:r>
            <a:r>
              <a:rPr lang="en-US"/>
              <a:t> in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porta,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vestibulum </a:t>
            </a:r>
            <a:r>
              <a:rPr lang="en-US" err="1"/>
              <a:t>eu</a:t>
            </a:r>
            <a:r>
              <a:rPr lang="en-US"/>
              <a:t> ac integer, </a:t>
            </a:r>
            <a:r>
              <a:rPr lang="en-US" err="1"/>
              <a:t>tellus</a:t>
            </a:r>
            <a:r>
              <a:rPr lang="en-US"/>
              <a:t> pharetra </a:t>
            </a:r>
            <a:r>
              <a:rPr lang="en-US" err="1"/>
              <a:t>dictumst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ad </a:t>
            </a:r>
            <a:r>
              <a:rPr lang="en-US" err="1"/>
              <a:t>facilisis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martinfowler.com/articles/practical-test-pyramid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ercel.com/hom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D7FC0CD-D28C-B94E-38C8-21950A2FF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MAY</a:t>
            </a:r>
            <a:r>
              <a:rPr lang="en-US" dirty="0"/>
              <a:t> 202</a:t>
            </a:r>
            <a:r>
              <a:rPr lang="hu-HU" dirty="0"/>
              <a:t>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1E964-B058-A798-23EB-88D68848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EPAM Proprietary &amp; Confidential.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FBFF413-9C9D-6973-5C8C-00B6CB14D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823" y="1641238"/>
            <a:ext cx="10169829" cy="2111091"/>
          </a:xfrm>
        </p:spPr>
        <p:txBody>
          <a:bodyPr/>
          <a:lstStyle/>
          <a:p>
            <a:r>
              <a:rPr lang="hu-HU" dirty="0"/>
              <a:t>CI/CD and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useful</a:t>
            </a:r>
            <a:r>
              <a:rPr lang="hu-HU" dirty="0"/>
              <a:t> </a:t>
            </a:r>
            <a:r>
              <a:rPr lang="hu-HU" dirty="0" err="1"/>
              <a:t>concepts</a:t>
            </a:r>
            <a:endParaRPr lang="en-US" dirty="0">
              <a:gradFill>
                <a:gsLst>
                  <a:gs pos="0">
                    <a:srgbClr val="00FFF0"/>
                  </a:gs>
                  <a:gs pos="72000">
                    <a:srgbClr val="00F6FF"/>
                  </a:gs>
                  <a:gs pos="100000">
                    <a:srgbClr val="B896FF"/>
                  </a:gs>
                </a:gsLst>
                <a:lin ang="1200000" scaled="0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9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035AD5-B1CE-08A9-E5C5-0D76A108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42134E-AD6A-9004-3382-A90676897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38E30A3-5C6D-1D5D-218A-AAE2E5706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20F7976-1202-C9CE-8493-F2CC40BCFB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A3D4906C-CA3E-723E-1B17-D691AB728B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4E5714A9-5420-4FC8-2EB8-920E3BD98F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98342" y="2235353"/>
            <a:ext cx="6245958" cy="692497"/>
          </a:xfrm>
        </p:spPr>
        <p:txBody>
          <a:bodyPr/>
          <a:lstStyle/>
          <a:p>
            <a:r>
              <a:rPr lang="en-US" dirty="0"/>
              <a:t>CI/CD</a:t>
            </a:r>
          </a:p>
          <a:p>
            <a:endParaRPr lang="en-US" dirty="0"/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76303B0D-3AAF-3CD0-4C8F-0B62E1E998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Deploying to </a:t>
            </a:r>
            <a:r>
              <a:rPr lang="en-US" dirty="0" err="1"/>
              <a:t>Vercel</a:t>
            </a:r>
            <a:endParaRPr lang="en-US" dirty="0"/>
          </a:p>
        </p:txBody>
      </p:sp>
      <p:sp>
        <p:nvSpPr>
          <p:cNvPr id="27" name="Szöveg helye 4">
            <a:extLst>
              <a:ext uri="{FF2B5EF4-FFF2-40B4-BE49-F238E27FC236}">
                <a16:creationId xmlns:a16="http://schemas.microsoft.com/office/drawing/2014/main" id="{18871E72-62FC-9D8B-5BDC-9A4E697838AE}"/>
              </a:ext>
            </a:extLst>
          </p:cNvPr>
          <p:cNvSpPr txBox="1">
            <a:spLocks/>
          </p:cNvSpPr>
          <p:nvPr/>
        </p:nvSpPr>
        <p:spPr>
          <a:xfrm>
            <a:off x="4566051" y="3634341"/>
            <a:ext cx="498928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1" i="0" kern="1200">
                <a:solidFill>
                  <a:schemeClr val="accent2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4</a:t>
            </a:r>
          </a:p>
        </p:txBody>
      </p:sp>
      <p:sp>
        <p:nvSpPr>
          <p:cNvPr id="28" name="Szöveg helye 10">
            <a:extLst>
              <a:ext uri="{FF2B5EF4-FFF2-40B4-BE49-F238E27FC236}">
                <a16:creationId xmlns:a16="http://schemas.microsoft.com/office/drawing/2014/main" id="{A2C21B40-1602-ED74-B552-E681165203D7}"/>
              </a:ext>
            </a:extLst>
          </p:cNvPr>
          <p:cNvSpPr txBox="1">
            <a:spLocks/>
          </p:cNvSpPr>
          <p:nvPr/>
        </p:nvSpPr>
        <p:spPr>
          <a:xfrm>
            <a:off x="5298342" y="3634341"/>
            <a:ext cx="6245958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000" b="0" i="0" kern="1200">
                <a:solidFill>
                  <a:schemeClr val="bg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Tooling</a:t>
            </a:r>
            <a:r>
              <a:rPr lang="hu-HU" dirty="0"/>
              <a:t> / monitoring / </a:t>
            </a:r>
            <a:r>
              <a:rPr lang="hu-HU" dirty="0" err="1"/>
              <a:t>logging</a:t>
            </a:r>
            <a:r>
              <a:rPr lang="hu-HU" dirty="0"/>
              <a:t> ...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57341C36-B799-7DFF-DD0A-823E9B94BFC4}"/>
              </a:ext>
            </a:extLst>
          </p:cNvPr>
          <p:cNvSpPr txBox="1"/>
          <p:nvPr/>
        </p:nvSpPr>
        <p:spPr>
          <a:xfrm>
            <a:off x="4851918" y="37322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21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A11AC-8F05-B787-85D8-44A3E48D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F24BDC-6394-BB37-9610-60BB53ED1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03EBC32-591A-64C8-861D-868491ADB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50" y="1473200"/>
            <a:ext cx="7251700" cy="391160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E388613A-D5B5-795B-1D89-0F7191696546}"/>
              </a:ext>
            </a:extLst>
          </p:cNvPr>
          <p:cNvSpPr txBox="1"/>
          <p:nvPr/>
        </p:nvSpPr>
        <p:spPr>
          <a:xfrm>
            <a:off x="4069492" y="5627326"/>
            <a:ext cx="4053016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ea typeface="Human Sans" charset="0"/>
                <a:cs typeface="Human Sans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https://martinfowler.com/articles/practical-test-pyramid.html</a:t>
            </a:r>
            <a:endParaRPr lang="en-US" sz="1200" dirty="0">
              <a:solidFill>
                <a:schemeClr val="bg1"/>
              </a:solidFill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02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AD55-98CA-A4F7-8C1A-E1B17466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5399F1-F6D4-771C-64C6-95668626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D94250FF-FA34-8DDC-52BB-F1DBC5E12BD1}"/>
              </a:ext>
            </a:extLst>
          </p:cNvPr>
          <p:cNvSpPr txBox="1">
            <a:spLocks/>
          </p:cNvSpPr>
          <p:nvPr/>
        </p:nvSpPr>
        <p:spPr>
          <a:xfrm>
            <a:off x="4127980" y="2225886"/>
            <a:ext cx="5409425" cy="3343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tabLst>
                <a:tab pos="2127250" algn="l"/>
              </a:tabLst>
            </a:pPr>
            <a:r>
              <a:rPr lang="hu-HU" sz="3600" dirty="0" err="1">
                <a:solidFill>
                  <a:schemeClr val="bg1"/>
                </a:solidFill>
              </a:rPr>
              <a:t>F</a:t>
            </a:r>
            <a:r>
              <a:rPr lang="hu-HU" sz="2000" b="0" dirty="0" err="1">
                <a:solidFill>
                  <a:schemeClr val="bg1"/>
                </a:solidFill>
              </a:rPr>
              <a:t>ast</a:t>
            </a:r>
            <a:r>
              <a:rPr lang="hu-HU" sz="2000" b="0" dirty="0">
                <a:solidFill>
                  <a:schemeClr val="bg1"/>
                </a:solidFill>
              </a:rPr>
              <a:t>	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20ms</a:t>
            </a:r>
            <a:endParaRPr lang="hu-HU" sz="20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tabLst>
                <a:tab pos="2168525" algn="l"/>
              </a:tabLst>
            </a:pPr>
            <a:r>
              <a:rPr lang="hu-HU" sz="3600" dirty="0" err="1"/>
              <a:t>I</a:t>
            </a:r>
            <a:r>
              <a:rPr lang="hu-HU" sz="2000" b="0" dirty="0" err="1">
                <a:solidFill>
                  <a:schemeClr val="bg1"/>
                </a:solidFill>
              </a:rPr>
              <a:t>solated</a:t>
            </a:r>
            <a:r>
              <a:rPr lang="hu-HU" sz="2000" b="0" dirty="0">
                <a:solidFill>
                  <a:schemeClr val="bg1"/>
                </a:solidFill>
              </a:rPr>
              <a:t>	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can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/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should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run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on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its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own</a:t>
            </a:r>
            <a:endParaRPr lang="hu-HU" sz="16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tabLst>
                <a:tab pos="2168525" algn="l"/>
              </a:tabLst>
            </a:pPr>
            <a:r>
              <a:rPr lang="hu-HU" sz="3600" dirty="0" err="1"/>
              <a:t>R</a:t>
            </a:r>
            <a:r>
              <a:rPr lang="hu-HU" sz="2000" b="0" dirty="0" err="1"/>
              <a:t>epeatable</a:t>
            </a:r>
            <a:r>
              <a:rPr lang="hu-HU" sz="2000" b="0" dirty="0"/>
              <a:t>	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the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same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result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always</a:t>
            </a:r>
            <a:endParaRPr lang="hu-HU" sz="16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tabLst>
                <a:tab pos="2168525" algn="l"/>
              </a:tabLst>
            </a:pPr>
            <a:r>
              <a:rPr lang="hu-HU" sz="3600" dirty="0" err="1"/>
              <a:t>S</a:t>
            </a:r>
            <a:r>
              <a:rPr lang="hu-HU" sz="2000" b="0" dirty="0" err="1"/>
              <a:t>elf-verifying</a:t>
            </a:r>
            <a:r>
              <a:rPr lang="hu-HU" sz="2000" b="0" dirty="0"/>
              <a:t>	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makes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sense</a:t>
            </a:r>
            <a:endParaRPr lang="hu-HU" sz="16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tabLst>
                <a:tab pos="2168525" algn="l"/>
              </a:tabLst>
            </a:pPr>
            <a:r>
              <a:rPr lang="hu-HU" sz="3600" dirty="0" err="1"/>
              <a:t>T</a:t>
            </a:r>
            <a:r>
              <a:rPr lang="hu-HU" sz="2000" b="0" dirty="0" err="1"/>
              <a:t>imely</a:t>
            </a:r>
            <a:r>
              <a:rPr lang="hu-HU" sz="2000" b="0" dirty="0"/>
              <a:t>	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written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before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prod</a:t>
            </a:r>
            <a:endParaRPr lang="hu-HU" sz="16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35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184C-39E6-F5D0-9A77-23D13599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2047DA-43D3-53A3-4CE7-E4F4CB71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17FFA8FC-CEEF-2A5D-4F7D-D437BFFBA8A2}"/>
              </a:ext>
            </a:extLst>
          </p:cNvPr>
          <p:cNvSpPr txBox="1">
            <a:spLocks/>
          </p:cNvSpPr>
          <p:nvPr/>
        </p:nvSpPr>
        <p:spPr>
          <a:xfrm>
            <a:off x="4446957" y="2877947"/>
            <a:ext cx="3484932" cy="11021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5400" dirty="0" err="1">
                <a:solidFill>
                  <a:schemeClr val="bg1"/>
                </a:solidFill>
              </a:rPr>
              <a:t>A</a:t>
            </a:r>
            <a:r>
              <a:rPr lang="hu-HU" sz="2000" b="0" dirty="0" err="1">
                <a:solidFill>
                  <a:schemeClr val="bg1"/>
                </a:solidFill>
              </a:rPr>
              <a:t>rrange</a:t>
            </a:r>
            <a:r>
              <a:rPr lang="hu-HU" sz="2000" b="0" dirty="0">
                <a:solidFill>
                  <a:schemeClr val="bg1"/>
                </a:solidFill>
              </a:rPr>
              <a:t> – </a:t>
            </a:r>
            <a:r>
              <a:rPr lang="hu-HU" sz="5400" dirty="0" err="1"/>
              <a:t>A</a:t>
            </a:r>
            <a:r>
              <a:rPr lang="hu-HU" sz="2000" b="0" dirty="0" err="1">
                <a:solidFill>
                  <a:schemeClr val="bg1"/>
                </a:solidFill>
              </a:rPr>
              <a:t>ct</a:t>
            </a:r>
            <a:r>
              <a:rPr lang="hu-HU" sz="2000" b="0" dirty="0">
                <a:solidFill>
                  <a:schemeClr val="bg1"/>
                </a:solidFill>
              </a:rPr>
              <a:t> - </a:t>
            </a:r>
            <a:r>
              <a:rPr lang="hu-HU" sz="5400" dirty="0" err="1"/>
              <a:t>A</a:t>
            </a:r>
            <a:r>
              <a:rPr lang="hu-HU" sz="2000" b="0" dirty="0" err="1">
                <a:solidFill>
                  <a:schemeClr val="bg1"/>
                </a:solidFill>
              </a:rPr>
              <a:t>ssert</a:t>
            </a:r>
            <a:endParaRPr lang="hu-HU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17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B28B-CB6B-BCED-1521-D9B95BEC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27C67D-3AAB-11E1-1E9C-5B7C71DD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9F2C3D19-FB67-8CF3-844F-92653F1EBBB4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/>
              <a:t>jest</a:t>
            </a:r>
            <a:r>
              <a:rPr lang="hu-HU" sz="2000" b="0" dirty="0"/>
              <a:t> / </a:t>
            </a:r>
            <a:r>
              <a:rPr lang="hu-HU" sz="2000" b="0" dirty="0" err="1"/>
              <a:t>mocha</a:t>
            </a:r>
            <a:r>
              <a:rPr lang="hu-HU" sz="2000" b="0" dirty="0"/>
              <a:t> / </a:t>
            </a:r>
            <a:r>
              <a:rPr lang="hu-HU" sz="2000" b="0" dirty="0" err="1"/>
              <a:t>vitest</a:t>
            </a:r>
            <a:r>
              <a:rPr lang="hu-HU" sz="2000" b="0" dirty="0"/>
              <a:t> / 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000" b="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Apply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common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sense</a:t>
            </a:r>
            <a:r>
              <a:rPr lang="hu-HU" sz="2000" b="0" dirty="0">
                <a:solidFill>
                  <a:schemeClr val="bg1"/>
                </a:solidFill>
              </a:rPr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Always</a:t>
            </a:r>
            <a:r>
              <a:rPr lang="hu-HU" sz="1600" dirty="0">
                <a:solidFill>
                  <a:schemeClr val="bg1"/>
                </a:solidFill>
              </a:rPr>
              <a:t> commenting `// </a:t>
            </a:r>
            <a:r>
              <a:rPr lang="hu-HU" sz="1600" dirty="0" err="1">
                <a:solidFill>
                  <a:schemeClr val="bg1"/>
                </a:solidFill>
              </a:rPr>
              <a:t>Arrange</a:t>
            </a:r>
            <a:r>
              <a:rPr lang="hu-HU" sz="1600" dirty="0">
                <a:solidFill>
                  <a:schemeClr val="bg1"/>
                </a:solidFill>
              </a:rPr>
              <a:t>` </a:t>
            </a:r>
            <a:r>
              <a:rPr lang="hu-HU" sz="1600" dirty="0" err="1">
                <a:solidFill>
                  <a:schemeClr val="bg1"/>
                </a:solidFill>
              </a:rPr>
              <a:t>before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arrangements</a:t>
            </a:r>
            <a:r>
              <a:rPr lang="hu-HU" sz="1600" dirty="0">
                <a:solidFill>
                  <a:schemeClr val="bg1"/>
                </a:solidFill>
              </a:rPr>
              <a:t> and </a:t>
            </a:r>
            <a:r>
              <a:rPr lang="hu-HU" sz="1600" dirty="0" err="1">
                <a:solidFill>
                  <a:schemeClr val="bg1"/>
                </a:solidFill>
              </a:rPr>
              <a:t>having</a:t>
            </a:r>
            <a:r>
              <a:rPr lang="hu-HU" sz="1600" dirty="0">
                <a:solidFill>
                  <a:schemeClr val="bg1"/>
                </a:solidFill>
              </a:rPr>
              <a:t> 1 </a:t>
            </a:r>
            <a:r>
              <a:rPr lang="hu-HU" sz="1600" dirty="0" err="1">
                <a:solidFill>
                  <a:schemeClr val="bg1"/>
                </a:solidFill>
              </a:rPr>
              <a:t>complex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expect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could</a:t>
            </a:r>
            <a:r>
              <a:rPr lang="hu-HU" sz="1600" dirty="0">
                <a:solidFill>
                  <a:schemeClr val="bg1"/>
                </a:solidFill>
              </a:rPr>
              <a:t> be </a:t>
            </a:r>
            <a:r>
              <a:rPr lang="hu-HU" sz="1600" dirty="0" err="1">
                <a:solidFill>
                  <a:schemeClr val="bg1"/>
                </a:solidFill>
              </a:rPr>
              <a:t>wrong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too</a:t>
            </a: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</a:rPr>
              <a:t>Follow</a:t>
            </a:r>
            <a:r>
              <a:rPr lang="hu-HU" sz="1600" b="0" dirty="0">
                <a:solidFill>
                  <a:schemeClr val="bg1"/>
                </a:solidFill>
              </a:rPr>
              <a:t> project </a:t>
            </a:r>
            <a:r>
              <a:rPr lang="hu-HU" sz="1600" b="0" dirty="0" err="1">
                <a:solidFill>
                  <a:schemeClr val="bg1"/>
                </a:solidFill>
              </a:rPr>
              <a:t>con</a:t>
            </a:r>
            <a:r>
              <a:rPr lang="hu-HU" sz="1600" dirty="0" err="1">
                <a:solidFill>
                  <a:schemeClr val="bg1"/>
                </a:solidFill>
              </a:rPr>
              <a:t>ventions</a:t>
            </a: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</a:rPr>
              <a:t>One</a:t>
            </a:r>
            <a:r>
              <a:rPr lang="hu-HU" sz="1600" b="0" dirty="0">
                <a:solidFill>
                  <a:schemeClr val="bg1"/>
                </a:solidFill>
              </a:rPr>
              <a:t> `</a:t>
            </a:r>
            <a:r>
              <a:rPr lang="hu-HU" sz="1600" b="0" dirty="0" err="1">
                <a:solidFill>
                  <a:schemeClr val="bg1"/>
                </a:solidFill>
              </a:rPr>
              <a:t>it</a:t>
            </a:r>
            <a:r>
              <a:rPr lang="hu-HU" sz="1600" dirty="0">
                <a:solidFill>
                  <a:schemeClr val="bg1"/>
                </a:solidFill>
              </a:rPr>
              <a:t>` </a:t>
            </a:r>
            <a:r>
              <a:rPr lang="hu-HU" sz="1600" dirty="0" err="1">
                <a:solidFill>
                  <a:schemeClr val="bg1"/>
                </a:solidFill>
              </a:rPr>
              <a:t>should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cover</a:t>
            </a:r>
            <a:r>
              <a:rPr lang="hu-HU" sz="1600" dirty="0">
                <a:solidFill>
                  <a:schemeClr val="bg1"/>
                </a:solidFill>
              </a:rPr>
              <a:t> 1 </a:t>
            </a:r>
            <a:r>
              <a:rPr lang="hu-HU" sz="1600" dirty="0" err="1">
                <a:solidFill>
                  <a:schemeClr val="bg1"/>
                </a:solidFill>
              </a:rPr>
              <a:t>case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if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your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sentence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contains</a:t>
            </a:r>
            <a:r>
              <a:rPr lang="hu-HU" sz="1600" dirty="0">
                <a:solidFill>
                  <a:schemeClr val="bg1"/>
                </a:solidFill>
              </a:rPr>
              <a:t> „and” </a:t>
            </a:r>
            <a:r>
              <a:rPr lang="hu-HU" sz="1600" dirty="0" err="1">
                <a:solidFill>
                  <a:schemeClr val="bg1"/>
                </a:solidFill>
              </a:rPr>
              <a:t>or</a:t>
            </a:r>
            <a:r>
              <a:rPr lang="hu-HU" sz="1600" dirty="0">
                <a:solidFill>
                  <a:schemeClr val="bg1"/>
                </a:solidFill>
              </a:rPr>
              <a:t> „</a:t>
            </a:r>
            <a:r>
              <a:rPr lang="hu-HU" sz="1600" dirty="0" err="1">
                <a:solidFill>
                  <a:schemeClr val="bg1"/>
                </a:solidFill>
              </a:rPr>
              <a:t>or</a:t>
            </a:r>
            <a:r>
              <a:rPr lang="hu-HU" sz="1600" dirty="0">
                <a:solidFill>
                  <a:schemeClr val="bg1"/>
                </a:solidFill>
              </a:rPr>
              <a:t>” </a:t>
            </a:r>
            <a:r>
              <a:rPr lang="hu-HU" sz="1600" dirty="0" err="1">
                <a:solidFill>
                  <a:schemeClr val="bg1"/>
                </a:solidFill>
              </a:rPr>
              <a:t>it’s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usually</a:t>
            </a:r>
            <a:r>
              <a:rPr lang="hu-HU" sz="1600" dirty="0">
                <a:solidFill>
                  <a:schemeClr val="bg1"/>
                </a:solidFill>
              </a:rPr>
              <a:t> a </a:t>
            </a:r>
            <a:r>
              <a:rPr lang="hu-HU" sz="1600" dirty="0" err="1">
                <a:solidFill>
                  <a:schemeClr val="bg1"/>
                </a:solidFill>
              </a:rPr>
              <a:t>separate</a:t>
            </a:r>
            <a:r>
              <a:rPr lang="hu-HU" sz="1600" dirty="0">
                <a:solidFill>
                  <a:schemeClr val="bg1"/>
                </a:solidFill>
              </a:rPr>
              <a:t> `</a:t>
            </a:r>
            <a:r>
              <a:rPr lang="hu-HU" sz="1600" dirty="0" err="1">
                <a:solidFill>
                  <a:schemeClr val="bg1"/>
                </a:solidFill>
              </a:rPr>
              <a:t>it</a:t>
            </a:r>
            <a:r>
              <a:rPr lang="hu-HU" sz="1600" dirty="0">
                <a:solidFill>
                  <a:schemeClr val="bg1"/>
                </a:solidFill>
              </a:rPr>
              <a:t>`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b="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/>
              <a:t>Components</a:t>
            </a:r>
            <a:r>
              <a:rPr lang="hu-HU" sz="2000" b="0" dirty="0"/>
              <a:t> (JSX) </a:t>
            </a:r>
            <a:r>
              <a:rPr lang="hu-HU" sz="2000" b="0" dirty="0" err="1"/>
              <a:t>can</a:t>
            </a:r>
            <a:r>
              <a:rPr lang="hu-HU" sz="2000" b="0" dirty="0"/>
              <a:t>/</a:t>
            </a:r>
            <a:r>
              <a:rPr lang="hu-HU" sz="2000" b="0" dirty="0" err="1"/>
              <a:t>should</a:t>
            </a:r>
            <a:r>
              <a:rPr lang="hu-HU" sz="2000" b="0" dirty="0"/>
              <a:t> be unit tested </a:t>
            </a:r>
            <a:r>
              <a:rPr lang="hu-HU" sz="2000" b="0" dirty="0" err="1"/>
              <a:t>too</a:t>
            </a:r>
            <a:r>
              <a:rPr lang="hu-HU" sz="2000" b="0" dirty="0"/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</a:rPr>
              <a:t>Sometimes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integration</a:t>
            </a:r>
            <a:r>
              <a:rPr lang="hu-HU" sz="2000" b="0" dirty="0">
                <a:solidFill>
                  <a:schemeClr val="bg1"/>
                </a:solidFill>
              </a:rPr>
              <a:t>-like </a:t>
            </a:r>
            <a:r>
              <a:rPr lang="hu-HU" sz="2000" b="0" dirty="0" err="1">
                <a:solidFill>
                  <a:schemeClr val="bg1"/>
                </a:solidFill>
              </a:rPr>
              <a:t>tests</a:t>
            </a:r>
            <a:r>
              <a:rPr lang="hu-HU" sz="2000" b="0" dirty="0">
                <a:solidFill>
                  <a:schemeClr val="bg1"/>
                </a:solidFill>
              </a:rPr>
              <a:t> </a:t>
            </a:r>
            <a:r>
              <a:rPr lang="hu-HU" sz="2000" b="0" dirty="0" err="1">
                <a:solidFill>
                  <a:schemeClr val="bg1"/>
                </a:solidFill>
              </a:rPr>
              <a:t>could</a:t>
            </a:r>
            <a:r>
              <a:rPr lang="hu-HU" sz="2000" b="0" dirty="0">
                <a:solidFill>
                  <a:schemeClr val="bg1"/>
                </a:solidFill>
              </a:rPr>
              <a:t> be </a:t>
            </a:r>
            <a:r>
              <a:rPr lang="hu-HU" sz="2000" b="0" dirty="0" err="1">
                <a:solidFill>
                  <a:schemeClr val="bg1"/>
                </a:solidFill>
              </a:rPr>
              <a:t>better</a:t>
            </a:r>
            <a:endParaRPr lang="hu-HU" sz="2000" b="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For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coverage</a:t>
            </a: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For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minimal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amount</a:t>
            </a:r>
            <a:r>
              <a:rPr lang="hu-HU" sz="1600" dirty="0">
                <a:solidFill>
                  <a:schemeClr val="bg1"/>
                </a:solidFill>
              </a:rPr>
              <a:t> of </a:t>
            </a:r>
            <a:r>
              <a:rPr lang="hu-HU" sz="1600" dirty="0" err="1">
                <a:solidFill>
                  <a:schemeClr val="bg1"/>
                </a:solidFill>
              </a:rPr>
              <a:t>mocks</a:t>
            </a: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</a:rPr>
              <a:t>For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common</a:t>
            </a:r>
            <a:r>
              <a:rPr lang="hu-HU" sz="1600" b="0" dirty="0">
                <a:solidFill>
                  <a:schemeClr val="bg1"/>
                </a:solidFill>
              </a:rPr>
              <a:t> </a:t>
            </a:r>
            <a:r>
              <a:rPr lang="hu-HU" sz="1600" b="0" dirty="0" err="1">
                <a:solidFill>
                  <a:schemeClr val="bg1"/>
                </a:solidFill>
              </a:rPr>
              <a:t>sense</a:t>
            </a:r>
            <a:endParaRPr lang="hu-HU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59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2DF9-8020-4A03-1877-1D99405F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ACACB3-D556-CF06-48F3-B68631DD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7C6BA276-15DD-01D0-B4D6-E1435D3D78B9}"/>
              </a:ext>
            </a:extLst>
          </p:cNvPr>
          <p:cNvGrpSpPr/>
          <p:nvPr/>
        </p:nvGrpSpPr>
        <p:grpSpPr>
          <a:xfrm>
            <a:off x="2664560" y="2653709"/>
            <a:ext cx="8386213" cy="1982972"/>
            <a:chOff x="1356755" y="2111448"/>
            <a:chExt cx="8386213" cy="1982972"/>
          </a:xfrm>
        </p:grpSpPr>
        <p:sp>
          <p:nvSpPr>
            <p:cNvPr id="5" name="Cím 1">
              <a:extLst>
                <a:ext uri="{FF2B5EF4-FFF2-40B4-BE49-F238E27FC236}">
                  <a16:creationId xmlns:a16="http://schemas.microsoft.com/office/drawing/2014/main" id="{36549CC0-2118-91DE-051B-D62156174795}"/>
                </a:ext>
              </a:extLst>
            </p:cNvPr>
            <p:cNvSpPr txBox="1">
              <a:spLocks/>
            </p:cNvSpPr>
            <p:nvPr/>
          </p:nvSpPr>
          <p:spPr>
            <a:xfrm>
              <a:off x="1356755" y="2111448"/>
              <a:ext cx="4725177" cy="1982972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2200" b="1" i="0" kern="1200" spc="0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hu-HU" sz="7200" b="0" dirty="0" err="1">
                  <a:solidFill>
                    <a:schemeClr val="bg1"/>
                  </a:solidFill>
                </a:rPr>
                <a:t>Continuous</a:t>
              </a:r>
              <a:endParaRPr lang="hu-HU" sz="7200" b="0" dirty="0">
                <a:solidFill>
                  <a:schemeClr val="bg1"/>
                </a:solidFill>
              </a:endParaRPr>
            </a:p>
          </p:txBody>
        </p:sp>
        <p:sp>
          <p:nvSpPr>
            <p:cNvPr id="3" name="Cím 1">
              <a:extLst>
                <a:ext uri="{FF2B5EF4-FFF2-40B4-BE49-F238E27FC236}">
                  <a16:creationId xmlns:a16="http://schemas.microsoft.com/office/drawing/2014/main" id="{347E742D-5A8D-2B6D-6DA8-E845B7FC2401}"/>
                </a:ext>
              </a:extLst>
            </p:cNvPr>
            <p:cNvSpPr txBox="1">
              <a:spLocks/>
            </p:cNvSpPr>
            <p:nvPr/>
          </p:nvSpPr>
          <p:spPr>
            <a:xfrm>
              <a:off x="5719540" y="2111448"/>
              <a:ext cx="4023428" cy="932120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2200" b="1" i="0" kern="1200" spc="0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hu-HU" sz="4400" b="0" dirty="0" err="1"/>
                <a:t>I</a:t>
              </a:r>
              <a:r>
                <a:rPr lang="hu-HU" sz="4400" b="0" dirty="0" err="1">
                  <a:solidFill>
                    <a:schemeClr val="bg1"/>
                  </a:solidFill>
                </a:rPr>
                <a:t>ntegration</a:t>
              </a:r>
              <a:endParaRPr lang="hu-HU" sz="6000" b="0" dirty="0">
                <a:solidFill>
                  <a:schemeClr val="bg1"/>
                </a:solidFill>
              </a:endParaRPr>
            </a:p>
          </p:txBody>
        </p:sp>
        <p:sp>
          <p:nvSpPr>
            <p:cNvPr id="4" name="Cím 1">
              <a:extLst>
                <a:ext uri="{FF2B5EF4-FFF2-40B4-BE49-F238E27FC236}">
                  <a16:creationId xmlns:a16="http://schemas.microsoft.com/office/drawing/2014/main" id="{C31E66EB-1ADA-077F-48A2-87A2F7237396}"/>
                </a:ext>
              </a:extLst>
            </p:cNvPr>
            <p:cNvSpPr txBox="1">
              <a:spLocks/>
            </p:cNvSpPr>
            <p:nvPr/>
          </p:nvSpPr>
          <p:spPr>
            <a:xfrm>
              <a:off x="5719540" y="2764465"/>
              <a:ext cx="4023428" cy="932120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2200" b="1" i="0" kern="1200" spc="0" dirty="0">
                  <a:solidFill>
                    <a:schemeClr val="bg1"/>
                  </a:solidFill>
                  <a:effectLst/>
                  <a:latin typeface="+mj-lt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hu-HU" sz="4000" b="0" dirty="0" err="1"/>
                <a:t>Deployment</a:t>
              </a:r>
              <a:endParaRPr lang="hu-HU" sz="6000" b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32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0BE3-01CE-57F3-3A74-81201150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2D8513-15CE-7113-2B8A-2B7BD442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B1A40404-C213-407E-D16D-1620BD13069F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/>
              <a:t>Integration</a:t>
            </a:r>
            <a:endParaRPr lang="hu-HU" sz="2000" b="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automatic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building and testing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what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gets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merged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to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master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(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even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before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),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so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it’s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always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”in a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good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hu-HU" sz="1600" b="0" dirty="0" err="1">
                <a:solidFill>
                  <a:schemeClr val="bg1"/>
                </a:solidFill>
                <a:sym typeface="Wingdings" pitchFamily="2" charset="2"/>
              </a:rPr>
              <a:t>shape</a:t>
            </a:r>
            <a:r>
              <a:rPr lang="hu-HU" sz="1600" b="0" dirty="0">
                <a:solidFill>
                  <a:schemeClr val="bg1"/>
                </a:solidFill>
                <a:sym typeface="Wingdings" pitchFamily="2" charset="2"/>
              </a:rPr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b="0" dirty="0">
              <a:solidFill>
                <a:schemeClr val="bg1"/>
              </a:solidFill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solidFill>
                  <a:schemeClr val="bg1"/>
                </a:solidFill>
                <a:sym typeface="Wingdings" pitchFamily="2" charset="2"/>
              </a:rPr>
              <a:t>Deployment</a:t>
            </a:r>
            <a:endParaRPr lang="hu-HU" sz="2000" b="0" dirty="0">
              <a:solidFill>
                <a:schemeClr val="bg1"/>
              </a:solidFill>
              <a:sym typeface="Wingdings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bg1"/>
                </a:solidFill>
              </a:rPr>
              <a:t>what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gets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pused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to</a:t>
            </a:r>
            <a:r>
              <a:rPr lang="hu-HU" sz="1600" dirty="0">
                <a:solidFill>
                  <a:schemeClr val="bg1"/>
                </a:solidFill>
              </a:rPr>
              <a:t> end </a:t>
            </a:r>
            <a:r>
              <a:rPr lang="hu-HU" sz="1600" dirty="0" err="1">
                <a:solidFill>
                  <a:schemeClr val="bg1"/>
                </a:solidFill>
              </a:rPr>
              <a:t>users</a:t>
            </a:r>
            <a:r>
              <a:rPr lang="hu-HU" sz="1600" dirty="0">
                <a:solidFill>
                  <a:schemeClr val="bg1"/>
                </a:solidFill>
              </a:rPr>
              <a:t> </a:t>
            </a:r>
            <a:r>
              <a:rPr lang="hu-HU" sz="1600" dirty="0" err="1">
                <a:solidFill>
                  <a:schemeClr val="bg1"/>
                </a:solidFill>
              </a:rPr>
              <a:t>automatically</a:t>
            </a: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Continuous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Delivery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-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--&gt;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ready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to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go,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but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might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require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manual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  <a:sym typeface="Wingdings" pitchFamily="2" charset="2"/>
              </a:rPr>
              <a:t>steps</a:t>
            </a:r>
            <a:endParaRPr lang="hu-HU" sz="20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2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5410-CEC9-2D5B-9AA3-2C34CE96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D5AE27-5A9C-EED2-40B6-D65ACA4B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F3DB4DC8-D0EB-5F3F-219B-BBF464ACC168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/>
              <a:t>Usually</a:t>
            </a:r>
            <a:r>
              <a:rPr lang="hu-HU" sz="2000" b="0" dirty="0"/>
              <a:t> </a:t>
            </a:r>
            <a:r>
              <a:rPr lang="hu-HU" sz="2000" b="0" dirty="0" err="1"/>
              <a:t>comes</a:t>
            </a:r>
            <a:r>
              <a:rPr lang="hu-HU" sz="2000" b="0" dirty="0"/>
              <a:t> </a:t>
            </a:r>
            <a:r>
              <a:rPr lang="hu-HU" sz="2000" b="0" dirty="0" err="1"/>
              <a:t>with</a:t>
            </a:r>
            <a:r>
              <a:rPr lang="hu-HU" sz="2000" b="0" dirty="0"/>
              <a:t> </a:t>
            </a:r>
            <a:r>
              <a:rPr lang="hu-HU" sz="2000" b="0" dirty="0" err="1"/>
              <a:t>defining</a:t>
            </a:r>
            <a:r>
              <a:rPr lang="hu-HU" sz="2000" b="0" dirty="0"/>
              <a:t> a </a:t>
            </a:r>
            <a:r>
              <a:rPr lang="hu-HU" sz="2000" b="0" dirty="0" err="1"/>
              <a:t>pipeline</a:t>
            </a:r>
            <a:r>
              <a:rPr lang="hu-HU" sz="2000" b="0" dirty="0"/>
              <a:t> of </a:t>
            </a:r>
            <a:r>
              <a:rPr lang="hu-HU" sz="2000" b="0" dirty="0" err="1"/>
              <a:t>steps</a:t>
            </a:r>
            <a:r>
              <a:rPr lang="hu-HU" sz="2000" b="0" dirty="0"/>
              <a:t> </a:t>
            </a:r>
            <a:r>
              <a:rPr lang="hu-HU" sz="1600" b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e.g</a:t>
            </a:r>
            <a:r>
              <a:rPr lang="hu-HU" sz="1600" b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</a:t>
            </a:r>
            <a:endParaRPr lang="hu-HU" sz="2000" b="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checkout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repository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build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generate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test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report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static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code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analysis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(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e.g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SonarQube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generate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package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to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be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published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publish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package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create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docker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image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send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email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about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the</a:t>
            </a: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hu-HU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run</a:t>
            </a: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hu-HU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/>
              <a:t>Steps</a:t>
            </a:r>
            <a:r>
              <a:rPr lang="hu-HU" sz="2000" b="0" dirty="0"/>
              <a:t> in </a:t>
            </a:r>
            <a:r>
              <a:rPr lang="hu-HU" sz="2000" b="0" dirty="0" err="1"/>
              <a:t>the</a:t>
            </a:r>
            <a:r>
              <a:rPr lang="hu-HU" sz="2000" b="0" dirty="0"/>
              <a:t> </a:t>
            </a:r>
            <a:r>
              <a:rPr lang="hu-HU" sz="2000" b="0" dirty="0" err="1"/>
              <a:t>pipeline</a:t>
            </a:r>
            <a:r>
              <a:rPr lang="hu-HU" sz="2000" b="0" dirty="0"/>
              <a:t> </a:t>
            </a:r>
            <a:r>
              <a:rPr lang="hu-HU" sz="2000" b="0" dirty="0" err="1"/>
              <a:t>usually</a:t>
            </a:r>
            <a:r>
              <a:rPr lang="hu-HU" sz="2000" b="0" dirty="0"/>
              <a:t> </a:t>
            </a:r>
            <a:r>
              <a:rPr lang="hu-HU" sz="2000" b="0" dirty="0" err="1"/>
              <a:t>generate</a:t>
            </a:r>
            <a:r>
              <a:rPr lang="hu-HU" sz="2000" b="0" dirty="0"/>
              <a:t> „</a:t>
            </a:r>
            <a:r>
              <a:rPr lang="hu-HU" sz="2000" b="0" dirty="0" err="1"/>
              <a:t>artifacts</a:t>
            </a:r>
            <a:r>
              <a:rPr lang="hu-HU" sz="2000" b="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61111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077F8-2C38-88D4-382C-BB9EC70D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CA04BE-A064-DCF8-DAA6-973831927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Vercel</a:t>
            </a:r>
            <a:endParaRPr lang="en-US" dirty="0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4870FFDA-F4C3-A8B7-BC06-308BB4F6E32B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i="0" dirty="0" err="1">
                <a:effectLst/>
                <a:latin typeface="Geist"/>
              </a:rPr>
              <a:t>Vercel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provides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the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developer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tools</a:t>
            </a:r>
            <a:r>
              <a:rPr lang="hu-HU" sz="2000" b="0" i="0" dirty="0">
                <a:effectLst/>
                <a:latin typeface="Geist"/>
              </a:rPr>
              <a:t> and </a:t>
            </a:r>
            <a:r>
              <a:rPr lang="hu-HU" sz="2000" b="0" i="0" dirty="0" err="1">
                <a:effectLst/>
                <a:latin typeface="Geist"/>
              </a:rPr>
              <a:t>cloud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infrastructure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to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build</a:t>
            </a:r>
            <a:r>
              <a:rPr lang="hu-HU" sz="2000" b="0" i="0" dirty="0">
                <a:effectLst/>
                <a:latin typeface="Geist"/>
              </a:rPr>
              <a:t>, </a:t>
            </a:r>
            <a:r>
              <a:rPr lang="hu-HU" sz="2000" b="0" i="0" dirty="0" err="1">
                <a:effectLst/>
                <a:latin typeface="Geist"/>
              </a:rPr>
              <a:t>scale</a:t>
            </a:r>
            <a:r>
              <a:rPr lang="hu-HU" sz="2000" b="0" i="0" dirty="0">
                <a:effectLst/>
                <a:latin typeface="Geist"/>
              </a:rPr>
              <a:t>, and </a:t>
            </a:r>
            <a:r>
              <a:rPr lang="hu-HU" sz="2000" b="0" i="0" dirty="0" err="1">
                <a:effectLst/>
                <a:latin typeface="Geist"/>
              </a:rPr>
              <a:t>secure</a:t>
            </a:r>
            <a:r>
              <a:rPr lang="hu-HU" sz="2000" b="0" i="0" dirty="0">
                <a:effectLst/>
                <a:latin typeface="Geist"/>
              </a:rPr>
              <a:t> a </a:t>
            </a:r>
            <a:r>
              <a:rPr lang="hu-HU" sz="2000" b="0" i="0" dirty="0" err="1">
                <a:effectLst/>
                <a:latin typeface="Geist"/>
              </a:rPr>
              <a:t>faster</a:t>
            </a:r>
            <a:r>
              <a:rPr lang="hu-HU" sz="2000" b="0" i="0" dirty="0">
                <a:effectLst/>
                <a:latin typeface="Geist"/>
              </a:rPr>
              <a:t>, more </a:t>
            </a:r>
            <a:r>
              <a:rPr lang="hu-HU" sz="2000" b="0" i="0" dirty="0" err="1">
                <a:effectLst/>
                <a:latin typeface="Geist"/>
              </a:rPr>
              <a:t>personalized</a:t>
            </a:r>
            <a:r>
              <a:rPr lang="hu-HU" sz="2000" b="0" i="0" dirty="0">
                <a:effectLst/>
                <a:latin typeface="Geist"/>
              </a:rPr>
              <a:t> web  </a:t>
            </a:r>
            <a:r>
              <a:rPr lang="hu-HU" sz="1200" b="0" i="0" dirty="0">
                <a:effectLst/>
                <a:latin typeface="Geist"/>
              </a:rPr>
              <a:t>~ </a:t>
            </a:r>
            <a:r>
              <a:rPr lang="hu-HU" sz="1200" b="0" i="0" dirty="0">
                <a:effectLst/>
                <a:latin typeface="Gei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https://vercel.com/home</a:t>
            </a:r>
            <a:endParaRPr lang="hu-HU" sz="1200" b="0" i="0" dirty="0">
              <a:effectLst/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1200" b="0" dirty="0">
              <a:latin typeface="Geist"/>
            </a:endParaRPr>
          </a:p>
          <a:p>
            <a:endParaRPr lang="hu-HU" sz="1200" b="0" i="0" dirty="0">
              <a:effectLst/>
              <a:latin typeface="Geist"/>
            </a:endParaRPr>
          </a:p>
          <a:p>
            <a:endParaRPr lang="hu-HU" sz="2800" b="0" dirty="0"/>
          </a:p>
        </p:txBody>
      </p:sp>
    </p:spTree>
    <p:extLst>
      <p:ext uri="{BB962C8B-B14F-4D97-AF65-F5344CB8AC3E}">
        <p14:creationId xmlns:p14="http://schemas.microsoft.com/office/powerpoint/2010/main" val="297660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4B9F-EE0E-9A36-8459-191CEE5D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41BDE7-D18E-B5AF-0ABE-EC7F3AFC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Vercel</a:t>
            </a:r>
            <a:endParaRPr lang="en-US" dirty="0"/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4FF5EF2B-8EE1-58E6-AA5E-9007377793B9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latin typeface="Geist"/>
              </a:rPr>
              <a:t>Simple</a:t>
            </a:r>
            <a:r>
              <a:rPr lang="hu-HU" sz="2000" b="0" dirty="0">
                <a:latin typeface="Geist"/>
              </a:rPr>
              <a:t> </a:t>
            </a:r>
            <a:r>
              <a:rPr lang="hu-HU" sz="2000" b="0" dirty="0" err="1">
                <a:latin typeface="Geist"/>
              </a:rPr>
              <a:t>interface</a:t>
            </a:r>
            <a:endParaRPr lang="hu-HU" sz="2000" b="0" dirty="0"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i="0" dirty="0" err="1">
                <a:effectLst/>
                <a:latin typeface="Geist"/>
              </a:rPr>
              <a:t>Many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i="0" dirty="0" err="1">
                <a:effectLst/>
                <a:latin typeface="Geist"/>
              </a:rPr>
              <a:t>templates</a:t>
            </a:r>
            <a:endParaRPr lang="hu-HU" sz="2000" b="0" i="0" dirty="0">
              <a:effectLst/>
              <a:latin typeface="Geis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  <a:latin typeface="Geist"/>
              </a:rPr>
              <a:t>CRA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i="0" dirty="0" err="1">
                <a:solidFill>
                  <a:schemeClr val="bg1"/>
                </a:solidFill>
                <a:effectLst/>
                <a:latin typeface="Geist"/>
              </a:rPr>
              <a:t>Vite</a:t>
            </a:r>
            <a:endParaRPr lang="hu-HU" sz="1600" b="0" i="0" dirty="0">
              <a:solidFill>
                <a:schemeClr val="bg1"/>
              </a:solidFill>
              <a:effectLst/>
              <a:latin typeface="Geis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i="0" dirty="0" err="1">
                <a:solidFill>
                  <a:schemeClr val="bg1"/>
                </a:solidFill>
                <a:effectLst/>
                <a:latin typeface="Geist"/>
              </a:rPr>
              <a:t>Next.js</a:t>
            </a:r>
            <a:endParaRPr lang="hu-HU" sz="1600" b="0" i="0" dirty="0">
              <a:solidFill>
                <a:schemeClr val="bg1"/>
              </a:solidFill>
              <a:effectLst/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latin typeface="Geist"/>
              </a:rPr>
              <a:t>Many</a:t>
            </a:r>
            <a:r>
              <a:rPr lang="hu-HU" sz="2000" b="0" dirty="0">
                <a:latin typeface="Geist"/>
              </a:rPr>
              <a:t> </a:t>
            </a:r>
            <a:r>
              <a:rPr lang="hu-HU" sz="2000" b="0" dirty="0" err="1">
                <a:latin typeface="Geist"/>
              </a:rPr>
              <a:t>services</a:t>
            </a:r>
            <a:endParaRPr lang="hu-HU" sz="2000" b="0" dirty="0">
              <a:latin typeface="Geis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chemeClr val="bg1"/>
                </a:solidFill>
                <a:latin typeface="Geist"/>
              </a:rPr>
              <a:t>DB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>
                <a:solidFill>
                  <a:schemeClr val="bg1"/>
                </a:solidFill>
                <a:latin typeface="Geist"/>
              </a:rPr>
              <a:t>Monitoring/</a:t>
            </a:r>
            <a:r>
              <a:rPr lang="hu-HU" sz="1600" b="0" dirty="0" err="1">
                <a:solidFill>
                  <a:schemeClr val="bg1"/>
                </a:solidFill>
                <a:latin typeface="Geist"/>
              </a:rPr>
              <a:t>tooling</a:t>
            </a:r>
            <a:endParaRPr lang="hu-HU" sz="1600" b="0" dirty="0">
              <a:solidFill>
                <a:schemeClr val="bg1"/>
              </a:solidFill>
              <a:latin typeface="Geis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600" b="0" dirty="0">
                <a:solidFill>
                  <a:schemeClr val="bg1"/>
                </a:solidFill>
                <a:latin typeface="Geist"/>
              </a:rPr>
              <a:t>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latin typeface="Geist"/>
              </a:rPr>
              <a:t>Community</a:t>
            </a:r>
            <a:r>
              <a:rPr lang="hu-HU" sz="2000" b="0" dirty="0">
                <a:latin typeface="Geist"/>
              </a:rPr>
              <a:t> </a:t>
            </a:r>
            <a:r>
              <a:rPr lang="hu-HU" sz="2000" b="0" dirty="0" err="1">
                <a:latin typeface="Geist"/>
              </a:rPr>
              <a:t>support</a:t>
            </a:r>
            <a:endParaRPr lang="hu-HU" sz="2000" b="0" dirty="0"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>
                <a:latin typeface="Geist"/>
              </a:rPr>
              <a:t>Local </a:t>
            </a:r>
            <a:r>
              <a:rPr lang="hu-HU" sz="2000" b="0" dirty="0" err="1">
                <a:latin typeface="Geist"/>
              </a:rPr>
              <a:t>development</a:t>
            </a:r>
            <a:r>
              <a:rPr lang="hu-HU" sz="2000" b="0" dirty="0">
                <a:latin typeface="Geist"/>
              </a:rPr>
              <a:t> </a:t>
            </a:r>
            <a:r>
              <a:rPr lang="hu-HU" sz="2000" b="0" dirty="0" err="1">
                <a:latin typeface="Geist"/>
              </a:rPr>
              <a:t>support</a:t>
            </a:r>
            <a:endParaRPr lang="hu-HU" sz="2000" b="0" dirty="0"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dirty="0" err="1">
                <a:latin typeface="Geist"/>
              </a:rPr>
              <a:t>Integration</a:t>
            </a:r>
            <a:r>
              <a:rPr lang="hu-HU" sz="2000" b="0" dirty="0">
                <a:latin typeface="Geist"/>
              </a:rPr>
              <a:t> </a:t>
            </a:r>
            <a:r>
              <a:rPr lang="hu-HU" sz="2000" b="0" dirty="0" err="1">
                <a:latin typeface="Geist"/>
              </a:rPr>
              <a:t>with</a:t>
            </a:r>
            <a:r>
              <a:rPr lang="hu-HU" sz="2000" b="0" dirty="0">
                <a:latin typeface="Geist"/>
              </a:rPr>
              <a:t>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2000" b="0" i="0" dirty="0">
              <a:effectLst/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0" i="0" dirty="0">
                <a:effectLst/>
                <a:latin typeface="Geist"/>
              </a:rPr>
              <a:t>Has free </a:t>
            </a:r>
            <a:r>
              <a:rPr lang="hu-HU" sz="2000" b="0" i="0" dirty="0" err="1">
                <a:effectLst/>
                <a:latin typeface="Geist"/>
              </a:rPr>
              <a:t>tier</a:t>
            </a:r>
            <a:r>
              <a:rPr lang="hu-HU" sz="2000" b="0" i="0" dirty="0">
                <a:effectLst/>
                <a:latin typeface="Geist"/>
              </a:rPr>
              <a:t> </a:t>
            </a:r>
            <a:r>
              <a:rPr lang="hu-HU" sz="2000" b="0" dirty="0">
                <a:latin typeface="Geist"/>
                <a:sym typeface="Wingdings" pitchFamily="2" charset="2"/>
              </a:rPr>
              <a:t>:)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1200" b="0" i="0" dirty="0">
              <a:effectLst/>
              <a:latin typeface="Gei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sz="1200" b="0" dirty="0">
              <a:latin typeface="Geist"/>
            </a:endParaRPr>
          </a:p>
          <a:p>
            <a:endParaRPr lang="hu-HU" sz="1200" b="0" i="0" dirty="0">
              <a:effectLst/>
              <a:latin typeface="Geist"/>
            </a:endParaRPr>
          </a:p>
          <a:p>
            <a:endParaRPr lang="hu-HU" sz="2800" b="0" dirty="0"/>
          </a:p>
        </p:txBody>
      </p:sp>
    </p:spTree>
    <p:extLst>
      <p:ext uri="{BB962C8B-B14F-4D97-AF65-F5344CB8AC3E}">
        <p14:creationId xmlns:p14="http://schemas.microsoft.com/office/powerpoint/2010/main" val="363409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309B-74C3-A8D5-A222-967A68D1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34ED0A-2C01-3AA3-1126-8AD3C1F5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Vercel</a:t>
            </a:r>
            <a:r>
              <a:rPr lang="en-US" dirty="0"/>
              <a:t> + Tooling</a:t>
            </a: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FED092E5-662D-C88D-CB0C-C88353240971}"/>
              </a:ext>
            </a:extLst>
          </p:cNvPr>
          <p:cNvSpPr txBox="1">
            <a:spLocks/>
          </p:cNvSpPr>
          <p:nvPr/>
        </p:nvSpPr>
        <p:spPr>
          <a:xfrm>
            <a:off x="633632" y="1446028"/>
            <a:ext cx="10896600" cy="43061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u-HU" sz="2800" b="0" dirty="0" err="1"/>
              <a:t>See</a:t>
            </a:r>
            <a:r>
              <a:rPr lang="hu-HU" sz="2800" b="0" dirty="0"/>
              <a:t> </a:t>
            </a:r>
            <a:r>
              <a:rPr lang="hu-HU" sz="2800" b="0" dirty="0" err="1"/>
              <a:t>during</a:t>
            </a:r>
            <a:r>
              <a:rPr lang="hu-HU" sz="2800" b="0" dirty="0"/>
              <a:t> </a:t>
            </a:r>
            <a:r>
              <a:rPr lang="hu-HU" sz="2800" b="0" dirty="0" err="1"/>
              <a:t>live</a:t>
            </a:r>
            <a:r>
              <a:rPr lang="hu-HU" sz="2800" b="0" dirty="0"/>
              <a:t> </a:t>
            </a:r>
            <a:r>
              <a:rPr lang="hu-HU" sz="2800" b="0" dirty="0" err="1"/>
              <a:t>coding</a:t>
            </a:r>
            <a:r>
              <a:rPr lang="hu-HU" sz="2800" b="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66250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9DAB-A8D6-D920-0918-5413D12B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CF42767-F42A-2A63-04D5-50D7AD1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56032"/>
            <a:ext cx="4648200" cy="1107996"/>
          </a:xfrm>
        </p:spPr>
        <p:txBody>
          <a:bodyPr/>
          <a:lstStyle/>
          <a:p>
            <a:r>
              <a:rPr lang="en-US" dirty="0"/>
              <a:t>Thank you!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35631-6850-F037-AE7C-896014222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990209"/>
            <a:ext cx="3827462" cy="289438"/>
          </a:xfrm>
        </p:spPr>
        <p:txBody>
          <a:bodyPr>
            <a:normAutofit/>
          </a:bodyPr>
          <a:lstStyle/>
          <a:p>
            <a:r>
              <a:rPr lang="hu-HU" dirty="0"/>
              <a:t>Jordan Szalontai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2C8860-983F-D9B8-AF56-3A26C2A3F6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4348630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/>
              <a:t>Lead Software Engineer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20FF53-B0E6-9FA5-3D0C-6FABD24502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877715"/>
            <a:ext cx="3827462" cy="225126"/>
          </a:xfrm>
        </p:spPr>
        <p:txBody>
          <a:bodyPr>
            <a:normAutofit/>
          </a:bodyPr>
          <a:lstStyle/>
          <a:p>
            <a:r>
              <a:rPr lang="hu-HU" dirty="0" err="1"/>
              <a:t>Jordan_Szalontai</a:t>
            </a:r>
            <a:r>
              <a:rPr lang="en-US" dirty="0"/>
              <a:t>@epam.com</a:t>
            </a:r>
          </a:p>
          <a:p>
            <a:endParaRPr lang="en-US" dirty="0"/>
          </a:p>
        </p:txBody>
      </p:sp>
      <p:pic>
        <p:nvPicPr>
          <p:cNvPr id="11" name="Picture Placeholder 11" descr="A picture containing invertebrate, bright&#10;&#10;Description automatically generated">
            <a:extLst>
              <a:ext uri="{FF2B5EF4-FFF2-40B4-BE49-F238E27FC236}">
                <a16:creationId xmlns:a16="http://schemas.microsoft.com/office/drawing/2014/main" id="{EBA617AD-C873-6DA5-9ED2-145434FA847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" b="23"/>
          <a:stretch>
            <a:fillRect/>
          </a:stretch>
        </p:blipFill>
        <p:spPr/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B2E7C6C-3124-01A7-4E89-AFE296FB29B3}"/>
              </a:ext>
            </a:extLst>
          </p:cNvPr>
          <p:cNvSpPr txBox="1">
            <a:spLocks/>
          </p:cNvSpPr>
          <p:nvPr/>
        </p:nvSpPr>
        <p:spPr>
          <a:xfrm>
            <a:off x="647700" y="3067987"/>
            <a:ext cx="3827462" cy="257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0" i="0" kern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n-US" sz="1200" b="0" i="0" kern="1200" dirty="0">
                <a:solidFill>
                  <a:schemeClr val="bg1"/>
                </a:solidFill>
                <a:latin typeface="Calibri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200" b="0" i="0" kern="1200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..and </a:t>
            </a:r>
            <a:r>
              <a:rPr lang="hu-HU" dirty="0" err="1"/>
              <a:t>now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live</a:t>
            </a:r>
            <a:r>
              <a:rPr lang="hu-HU" dirty="0"/>
              <a:t> </a:t>
            </a:r>
            <a:r>
              <a:rPr lang="hu-HU" dirty="0" err="1"/>
              <a:t>coding</a:t>
            </a:r>
            <a:r>
              <a:rPr lang="hu-HU" dirty="0"/>
              <a:t>...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62072561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14426</TotalTime>
  <Words>379</Words>
  <Application>Microsoft Macintosh PowerPoint</Application>
  <PresentationFormat>Szélesvásznú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Geist</vt:lpstr>
      <vt:lpstr>Human Sans</vt:lpstr>
      <vt:lpstr>Wingdings</vt:lpstr>
      <vt:lpstr>EPAM Master Dark 2023.1</vt:lpstr>
      <vt:lpstr>PowerPoint-bemutató</vt:lpstr>
      <vt:lpstr>Contents</vt:lpstr>
      <vt:lpstr>Unit Testing</vt:lpstr>
      <vt:lpstr>Unit Testing</vt:lpstr>
      <vt:lpstr>Unit Testing</vt:lpstr>
      <vt:lpstr>Unit Testing</vt:lpstr>
      <vt:lpstr>Unit Testing</vt:lpstr>
      <vt:lpstr>CI/CD</vt:lpstr>
      <vt:lpstr>CI/CD</vt:lpstr>
      <vt:lpstr>Vercel</vt:lpstr>
      <vt:lpstr>Vercel</vt:lpstr>
      <vt:lpstr>Vercel + Tooling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Jordan Szalontai</cp:lastModifiedBy>
  <cp:revision>484</cp:revision>
  <cp:lastPrinted>2025-02-16T20:53:39Z</cp:lastPrinted>
  <dcterms:created xsi:type="dcterms:W3CDTF">2020-10-26T14:33:58Z</dcterms:created>
  <dcterms:modified xsi:type="dcterms:W3CDTF">2025-05-06T08:51:01Z</dcterms:modified>
</cp:coreProperties>
</file>