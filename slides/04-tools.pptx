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4"/>
  </p:sldMasterIdLst>
  <p:notesMasterIdLst>
    <p:notesMasterId r:id="rId33"/>
  </p:notesMasterIdLst>
  <p:sldIdLst>
    <p:sldId id="256" r:id="rId5"/>
    <p:sldId id="257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10" r:id="rId16"/>
    <p:sldId id="314" r:id="rId17"/>
    <p:sldId id="312" r:id="rId18"/>
    <p:sldId id="313" r:id="rId19"/>
    <p:sldId id="315" r:id="rId20"/>
    <p:sldId id="311" r:id="rId21"/>
    <p:sldId id="258" r:id="rId22"/>
    <p:sldId id="259" r:id="rId23"/>
    <p:sldId id="262" r:id="rId24"/>
    <p:sldId id="260" r:id="rId25"/>
    <p:sldId id="261" r:id="rId26"/>
    <p:sldId id="263" r:id="rId27"/>
    <p:sldId id="264" r:id="rId28"/>
    <p:sldId id="265" r:id="rId29"/>
    <p:sldId id="266" r:id="rId30"/>
    <p:sldId id="268" r:id="rId31"/>
    <p:sldId id="29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zhalika Levandouskaya" initials="AL" lastIdx="43" clrIdx="0">
    <p:extLst>
      <p:ext uri="{19B8F6BF-5375-455C-9EA6-DF929625EA0E}">
        <p15:presenceInfo xmlns:p15="http://schemas.microsoft.com/office/powerpoint/2012/main" userId="S::Anzhalika_Levandouskaya@epam.com::92adfee3-e19f-494c-b48e-2a057e813d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60" autoAdjust="0"/>
    <p:restoredTop sz="69239" autoAdjust="0"/>
  </p:normalViewPr>
  <p:slideViewPr>
    <p:cSldViewPr snapToGrid="0">
      <p:cViewPr varScale="1">
        <p:scale>
          <a:sx n="57" d="100"/>
          <a:sy n="57" d="100"/>
        </p:scale>
        <p:origin x="123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DA449-81D0-4C65-80FA-E84926361CC3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5C3A5-A464-4897-B884-BB9B35180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7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62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22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3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79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49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02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b="0" i="0" dirty="0">
              <a:solidFill>
                <a:srgbClr val="F3F4F6"/>
              </a:solidFill>
              <a:effectLst/>
              <a:latin typeface="__Inter_d65c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48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 what happens if you visit a site that uses base HTTP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15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40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1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35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19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98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180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38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92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68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81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39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138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900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166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5C3A5-A464-4897-B884-BB9B35180A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7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epa.ms/stories" TargetMode="Externa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21FFBE-FD73-4914-B88C-A205297E29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3115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5192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3566160" cy="21544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US" sz="1400" spc="300" dirty="0">
                <a:solidFill>
                  <a:schemeClr val="bg2"/>
                </a:solidFill>
                <a:effectLst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1AA8C38-4FF3-4F33-8B0F-196D0BC791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486400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2010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>
                <a:effectLst/>
              </a:rPr>
              <a:t>JANUARY 2022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E8C851A-E2E7-4523-9F42-0BB009E564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776" y="610099"/>
            <a:ext cx="1070464" cy="37725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55248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5613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954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3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503D5-C016-4D7F-83A5-0A293996B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74065B5-82CF-0942-A54C-2DA21F89667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66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866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66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66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66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66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89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89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189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189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189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89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 userDrawn="1"/>
        </p:nvCxnSpPr>
        <p:spPr>
          <a:xfrm>
            <a:off x="37253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F46579F0-C0D7-394C-ABF4-CA5A1613E04C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659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7156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39377C-A4AF-4B79-9CA5-600FF7C9AA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1E7284-C854-184C-A06D-CACC02F73E92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8A1A574-71CC-6640-9BC0-9339C3ABCCC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89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D9AC8-F415-4F41-81BB-33EEA9AD708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CAD51B5-4F0B-1246-8F71-7B2D95B954E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1B932DC-E0AB-5041-A632-07A26B0EB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82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3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817990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916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921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18CE59C-541D-F946-A8DA-A4B9F8BF47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83E1B4-D017-3E4B-8268-79DFC41DB4DB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4D782FD-394E-974B-830A-5392AB47CB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488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619500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18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275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23105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557E5-085D-F44F-B30C-91E51AE491D3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E178E08-6B21-2843-9385-4D9886760A91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0266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568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B3700-A2AA-CC46-AB06-739575CE119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8F2DB0F-A762-9841-A4D7-8B6F3D5251E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61082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2947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-1/2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233F4-4BA6-EC46-8DB3-143A95D5459A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E027D5-10AF-5247-B60F-C8B2D62BC77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936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69900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540959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924339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211704-E6A2-554A-83D7-019EF0F003D0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E06C20-AA8E-8342-A500-79B18C39022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61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65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75079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87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9646"/>
            <a:ext cx="3606927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7523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00087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240792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CC76E4-4D68-894E-AF17-C8188D17CE71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4E5246D-43F4-5946-BF12-EAA7EF1F6B9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46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0CA8-AE5E-9144-B51A-3DB9B2B912F8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C884B43-5420-8A44-BD3B-D88B17EDD055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494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6920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7139"/>
            <a:ext cx="4797425" cy="338554"/>
          </a:xfrm>
        </p:spPr>
        <p:txBody>
          <a:bodyPr>
            <a:spAutoFit/>
          </a:bodyPr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55E40-4D84-A94C-A4CB-F465F24AE156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D87F5D-4F0F-994A-BFA6-46BC2DD6C51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46537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703936-AD1E-BD44-91CB-919F81D7BFEC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D1BED4F-175D-FF44-A003-4A5C8D21230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7353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613153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2495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C298-22F4-2C44-B143-5C071C1464AE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4434E4-9DFC-C54A-8FA5-A3977779F6D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7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434928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60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8340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C432762-A502-4EDF-9936-2F1B5B291C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3F49D1-094C-794E-ADD9-2E27004213E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tx1"/>
                </a:solidFill>
              </a:rPr>
              <a:t>CONFIDENTIAL. Copyright ©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0376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">
    <p:bg>
      <p:bgPr>
        <a:solidFill>
          <a:srgbClr val="ABD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97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594137"/>
          </a:xfrm>
        </p:spPr>
        <p:txBody>
          <a:bodyPr wrap="square">
            <a:spAutoFit/>
          </a:bodyPr>
          <a:lstStyle>
            <a:lvl1pPr>
              <a:defRPr sz="18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542958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endParaRPr lang="en-US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1173237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12730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1F754-B893-AE42-8D75-BA81D1A9A8FF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BD9E730-867D-BF4D-8996-7605F868D97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0D6E288-882B-514C-B335-273A187E20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 userDrawn="1"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 userDrawn="1"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bg2">
              <a:lumMod val="25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257250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4883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895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FF8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 userDrawn="1"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lt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 userDrawn="1"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</a:rPr>
            </a:br>
            <a:r>
              <a:rPr lang="en-US" sz="1600" b="1" u="sng">
                <a:solidFill>
                  <a:schemeClr val="accent3">
                    <a:lumMod val="40000"/>
                    <a:lumOff val="60000"/>
                  </a:schemeClr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accent3">
                  <a:lumMod val="40000"/>
                  <a:lumOff val="60000"/>
                </a:schemeClr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 userDrawn="1"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bg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15502107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 userDrawn="1"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6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4426771" cy="1107996"/>
          </a:xfrm>
        </p:spPr>
        <p:txBody>
          <a:bodyPr wrap="square">
            <a:spAutoFit/>
          </a:bodyPr>
          <a:lstStyle>
            <a:lvl1pPr>
              <a:defRPr sz="720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81FC57-5C71-4F5A-AB2F-52FF92CEB4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12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8369E08-22C8-4CA0-8BC3-06B27EF31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CONFIDENTIAL. Copyright ©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02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57" r:id="rId10"/>
    <p:sldLayoutId id="2147483760" r:id="rId11"/>
    <p:sldLayoutId id="2147483727" r:id="rId12"/>
    <p:sldLayoutId id="2147483729" r:id="rId13"/>
    <p:sldLayoutId id="2147483751" r:id="rId14"/>
    <p:sldLayoutId id="2147483758" r:id="rId15"/>
    <p:sldLayoutId id="2147483740" r:id="rId16"/>
    <p:sldLayoutId id="2147483766" r:id="rId17"/>
    <p:sldLayoutId id="2147483738" r:id="rId18"/>
    <p:sldLayoutId id="2147483736" r:id="rId19"/>
    <p:sldLayoutId id="2147483765" r:id="rId20"/>
    <p:sldLayoutId id="2147483744" r:id="rId21"/>
    <p:sldLayoutId id="2147483762" r:id="rId22"/>
    <p:sldLayoutId id="2147483755" r:id="rId23"/>
    <p:sldLayoutId id="2147483743" r:id="rId24"/>
    <p:sldLayoutId id="2147483756" r:id="rId25"/>
    <p:sldLayoutId id="2147483734" r:id="rId26"/>
    <p:sldLayoutId id="2147483745" r:id="rId27"/>
    <p:sldLayoutId id="2147483741" r:id="rId28"/>
    <p:sldLayoutId id="2147483735" r:id="rId29"/>
    <p:sldLayoutId id="2147483737" r:id="rId30"/>
    <p:sldLayoutId id="2147483739" r:id="rId31"/>
    <p:sldLayoutId id="2147483767" r:id="rId32"/>
    <p:sldLayoutId id="2147483742" r:id="rId33"/>
    <p:sldLayoutId id="2147483746" r:id="rId34"/>
    <p:sldLayoutId id="2147483732" r:id="rId35"/>
    <p:sldLayoutId id="2147483747" r:id="rId36"/>
    <p:sldLayoutId id="2147483748" r:id="rId37"/>
    <p:sldLayoutId id="2147483749" r:id="rId38"/>
    <p:sldLayoutId id="2147483754" r:id="rId39"/>
    <p:sldLayoutId id="2147483759" r:id="rId40"/>
    <p:sldLayoutId id="2147483761" r:id="rId41"/>
    <p:sldLayoutId id="2147483764" r:id="rId42"/>
    <p:sldLayoutId id="2147483750" r:id="rId43"/>
    <p:sldLayoutId id="2147483763" r:id="rId4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tx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 userDrawn="1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312" userDrawn="1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44" userDrawn="1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doc/html/rfc194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atatracker.ietf.org/doc/html/rfc9114" TargetMode="External"/><Relationship Id="rId5" Type="http://schemas.openxmlformats.org/officeDocument/2006/relationships/hyperlink" Target="https://datatracker.ietf.org/doc/html/rfc7540" TargetMode="External"/><Relationship Id="rId4" Type="http://schemas.openxmlformats.org/officeDocument/2006/relationships/hyperlink" Target="https://datatracker.ietf.org/doc/html/rfc206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TP/Header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developer.mozilla.org/en-US/docs/Web/HTTP/Basics_of_HTTP/MIME_type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what-is/restful-api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Relationship Id="rId4" Type="http://schemas.openxmlformats.org/officeDocument/2006/relationships/hyperlink" Target="https://yuminlee2.medium.com/rest-in-a-nutshell-ff7e85a7559b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apis.org/?ref=blog.readme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DE665-95EF-7C44-9386-81441B656B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Peter Toth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A8A66-7877-3B41-B6B6-945CAC5423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Nyíregyháza – 202</a:t>
            </a:r>
            <a:r>
              <a:rPr lang="en-US" dirty="0"/>
              <a:t>5</a:t>
            </a:r>
            <a:r>
              <a:rPr lang="hu-HU" dirty="0"/>
              <a:t>/03/</a:t>
            </a:r>
            <a:r>
              <a:rPr lang="en-US" dirty="0"/>
              <a:t>04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3BB777-E3A7-3349-B820-C2E473EC5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764213" cy="2215991"/>
          </a:xfrm>
        </p:spPr>
        <p:txBody>
          <a:bodyPr/>
          <a:lstStyle/>
          <a:p>
            <a:r>
              <a:rPr lang="en-GB" sz="7200" dirty="0"/>
              <a:t>NodeJS</a:t>
            </a:r>
            <a:r>
              <a:rPr lang="hu-HU" sz="7200" dirty="0"/>
              <a:t> and tools to use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59197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E54391-D217-4E30-AF9D-D28F2015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Agenda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B22648-D431-4AC7-B68B-8F74D39A0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86639" y="1191039"/>
            <a:ext cx="498928" cy="321627"/>
          </a:xfrm>
        </p:spPr>
        <p:txBody>
          <a:bodyPr/>
          <a:lstStyle/>
          <a:p>
            <a:r>
              <a:rPr lang="hu-HU" dirty="0"/>
              <a:t>01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32A1F0-1D3E-4F12-BA15-8B9506B899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 dirty="0"/>
              <a:t>02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33235E-1CF9-4914-A246-9DF637A56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CBFCFD-C0BD-4B49-BA53-522B73F35D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2F6457-0610-4A20-8D25-09A96FB83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0C1F58-AB37-4E2A-92F1-29C8B037EB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62153AB-6957-4A24-A5F1-BCE578056B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17023C-025E-4A97-AF3A-4597CB3E36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Swagger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DF3AB2-CBCE-4C8D-95F5-CE3FCCDF4F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Utilities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153C1F1-EBD4-41A5-860E-F5F7D475391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Node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B8B49AE-4FAD-4E25-8C04-5FA09A4E3A4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22EF39-47A8-4C05-ACB2-1ED22EA14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6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95D681C-6800-B9CC-3ECE-1C94D149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A9D05A5-54A6-0615-F90C-390AD99424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the web works</a:t>
            </a:r>
          </a:p>
        </p:txBody>
      </p:sp>
    </p:spTree>
    <p:extLst>
      <p:ext uri="{BB962C8B-B14F-4D97-AF65-F5344CB8AC3E}">
        <p14:creationId xmlns:p14="http://schemas.microsoft.com/office/powerpoint/2010/main" val="144083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4F2863-52E0-DB81-86FC-F77B0F91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HyperText</a:t>
            </a:r>
            <a:r>
              <a:rPr lang="en-US" dirty="0"/>
              <a:t> Transfer Protocol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01528-7035-4483-89C3-9D8E1B5A31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17FF55C-AE4F-6B92-A8D7-2276C2718DC9}"/>
              </a:ext>
            </a:extLst>
          </p:cNvPr>
          <p:cNvSpPr txBox="1">
            <a:spLocks/>
          </p:cNvSpPr>
          <p:nvPr/>
        </p:nvSpPr>
        <p:spPr>
          <a:xfrm>
            <a:off x="457200" y="1079499"/>
            <a:ext cx="11174540" cy="50904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Application protocol for distributed, collaborative and hypermedia information systems</a:t>
            </a: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Based on request-response protocol in client-server computing model</a:t>
            </a: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Stateless communication – no stored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History:</a:t>
            </a:r>
          </a:p>
          <a:p>
            <a:pPr marL="971550" lvl="1" indent="-285750"/>
            <a:r>
              <a:rPr lang="en-US" sz="1800" dirty="0"/>
              <a:t>Timer Berners Lee &amp; CERN</a:t>
            </a:r>
          </a:p>
          <a:p>
            <a:pPr marL="971550" lvl="1" indent="-285750"/>
            <a:r>
              <a:rPr lang="en-US" sz="1800" dirty="0"/>
              <a:t>1991: v0.9</a:t>
            </a:r>
          </a:p>
          <a:p>
            <a:pPr marL="971550" lvl="1" indent="-285750"/>
            <a:r>
              <a:rPr lang="en-US" sz="1800" dirty="0"/>
              <a:t>1996: v1.0 (</a:t>
            </a:r>
            <a:r>
              <a:rPr lang="en-US" sz="1800" dirty="0">
                <a:hlinkClick r:id="rId3"/>
              </a:rPr>
              <a:t>RFC 1945</a:t>
            </a:r>
            <a:r>
              <a:rPr lang="en-US" sz="1800" dirty="0"/>
              <a:t>)</a:t>
            </a:r>
          </a:p>
          <a:p>
            <a:pPr marL="971550" lvl="1" indent="-285750"/>
            <a:r>
              <a:rPr lang="en-US" sz="1800" dirty="0"/>
              <a:t>1997: v1.1 (</a:t>
            </a:r>
            <a:r>
              <a:rPr lang="en-US" sz="1800" dirty="0">
                <a:hlinkClick r:id="rId4"/>
              </a:rPr>
              <a:t>RFC 2068</a:t>
            </a:r>
            <a:r>
              <a:rPr lang="en-US" sz="1800" dirty="0"/>
              <a:t>) – most widely known and used</a:t>
            </a:r>
          </a:p>
          <a:p>
            <a:pPr marL="971550" lvl="1" indent="-285750"/>
            <a:r>
              <a:rPr lang="en-US" sz="1800" dirty="0"/>
              <a:t>2015: v2.0 (HTTP/2 – </a:t>
            </a:r>
            <a:r>
              <a:rPr lang="en-US" sz="1800" dirty="0">
                <a:hlinkClick r:id="rId5"/>
              </a:rPr>
              <a:t>RFC 7540</a:t>
            </a:r>
            <a:r>
              <a:rPr lang="en-US" sz="1800" dirty="0"/>
              <a:t>) – multiplexing, content pushing</a:t>
            </a:r>
          </a:p>
          <a:p>
            <a:pPr marL="971550" lvl="1" indent="-285750"/>
            <a:r>
              <a:rPr lang="en-US" sz="1800" dirty="0"/>
              <a:t>2022: v3.0 (QUIC – </a:t>
            </a:r>
            <a:r>
              <a:rPr lang="en-US" sz="1800" dirty="0">
                <a:hlinkClick r:id="rId6"/>
              </a:rPr>
              <a:t>RFC 9114</a:t>
            </a:r>
            <a:r>
              <a:rPr lang="en-US" sz="1800" dirty="0"/>
              <a:t>) – based on UDP instead of TCP</a:t>
            </a:r>
          </a:p>
        </p:txBody>
      </p:sp>
    </p:spTree>
    <p:extLst>
      <p:ext uri="{BB962C8B-B14F-4D97-AF65-F5344CB8AC3E}">
        <p14:creationId xmlns:p14="http://schemas.microsoft.com/office/powerpoint/2010/main" val="839006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9381F-E269-39F1-1747-0A59D0DEEF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6B6FA-5AB6-FF61-D2FC-51963433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</a:t>
            </a:r>
          </a:p>
        </p:txBody>
      </p:sp>
      <p:sp>
        <p:nvSpPr>
          <p:cNvPr id="4" name="Tartalom helye 9">
            <a:extLst>
              <a:ext uri="{FF2B5EF4-FFF2-40B4-BE49-F238E27FC236}">
                <a16:creationId xmlns:a16="http://schemas.microsoft.com/office/drawing/2014/main" id="{4CA03204-E091-14FC-FF29-B5CAD8018912}"/>
              </a:ext>
            </a:extLst>
          </p:cNvPr>
          <p:cNvSpPr txBox="1">
            <a:spLocks/>
          </p:cNvSpPr>
          <p:nvPr/>
        </p:nvSpPr>
        <p:spPr>
          <a:xfrm>
            <a:off x="357190" y="1079500"/>
            <a:ext cx="5595024" cy="495202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800" dirty="0"/>
              <a:t>Client to server communication</a:t>
            </a:r>
          </a:p>
          <a:p>
            <a:r>
              <a:rPr lang="hu-HU" sz="1800" dirty="0"/>
              <a:t>Contains header information and body (if needed)</a:t>
            </a:r>
          </a:p>
          <a:p>
            <a:r>
              <a:rPr lang="hu-HU" sz="1800" dirty="0"/>
              <a:t>Structure:</a:t>
            </a:r>
          </a:p>
          <a:p>
            <a:endParaRPr lang="hu-HU" dirty="0"/>
          </a:p>
          <a:p>
            <a:endParaRPr lang="hu-HU" dirty="0"/>
          </a:p>
          <a:p>
            <a:pPr marL="457200" lvl="1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2000" dirty="0">
                <a:solidFill>
                  <a:srgbClr val="00B0F0"/>
                </a:solidFill>
                <a:latin typeface="+mj-lt"/>
              </a:rPr>
              <a:t>POST</a:t>
            </a:r>
            <a:r>
              <a:rPr lang="hu-HU" sz="2000" dirty="0">
                <a:latin typeface="+mj-lt"/>
              </a:rPr>
              <a:t> </a:t>
            </a:r>
            <a:r>
              <a:rPr lang="hu-HU" sz="2000" dirty="0">
                <a:solidFill>
                  <a:srgbClr val="FF0000"/>
                </a:solidFill>
                <a:latin typeface="+mj-lt"/>
              </a:rPr>
              <a:t>/create-user </a:t>
            </a:r>
            <a:r>
              <a:rPr lang="hu-HU" sz="2000" dirty="0">
                <a:solidFill>
                  <a:srgbClr val="00B050"/>
                </a:solidFill>
                <a:latin typeface="+mj-lt"/>
              </a:rPr>
              <a:t>HTTP/1.1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hu-HU" sz="1400" dirty="0">
                <a:solidFill>
                  <a:srgbClr val="7030A0"/>
                </a:solidFill>
                <a:latin typeface="+mj-lt"/>
              </a:rPr>
              <a:t>Host: localhost:3000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hu-HU" sz="1400" dirty="0">
                <a:solidFill>
                  <a:srgbClr val="7030A0"/>
                </a:solidFill>
                <a:latin typeface="+mj-lt"/>
              </a:rPr>
              <a:t>Content-type: application/json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hu-HU" sz="1400" dirty="0">
                <a:solidFill>
                  <a:srgbClr val="002060"/>
                </a:solidFill>
                <a:latin typeface="+mj-lt"/>
              </a:rPr>
              <a:t>{ “name”: ”John”, ”age”: 35 }</a:t>
            </a:r>
          </a:p>
          <a:p>
            <a:endParaRPr lang="hu-HU" dirty="0"/>
          </a:p>
        </p:txBody>
      </p:sp>
      <p:sp>
        <p:nvSpPr>
          <p:cNvPr id="5" name="Tartalom helye 10">
            <a:extLst>
              <a:ext uri="{FF2B5EF4-FFF2-40B4-BE49-F238E27FC236}">
                <a16:creationId xmlns:a16="http://schemas.microsoft.com/office/drawing/2014/main" id="{E0F05AB4-E029-11FB-8F70-AFFBE4596EA1}"/>
              </a:ext>
            </a:extLst>
          </p:cNvPr>
          <p:cNvSpPr txBox="1">
            <a:spLocks/>
          </p:cNvSpPr>
          <p:nvPr/>
        </p:nvSpPr>
        <p:spPr>
          <a:xfrm>
            <a:off x="6239788" y="1079499"/>
            <a:ext cx="5595024" cy="49520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800" b="1" dirty="0">
                <a:solidFill>
                  <a:schemeClr val="bg1"/>
                </a:solidFill>
              </a:rPr>
              <a:t>GET: </a:t>
            </a:r>
            <a:r>
              <a:rPr lang="hu-HU" sz="1800" dirty="0">
                <a:solidFill>
                  <a:schemeClr val="bg1"/>
                </a:solidFill>
              </a:rPr>
              <a:t>retrieve information from the server using the given URI, expected to retrieve only and should have no effect on the data</a:t>
            </a:r>
          </a:p>
          <a:p>
            <a:r>
              <a:rPr lang="hu-HU" sz="1800" b="1" dirty="0">
                <a:solidFill>
                  <a:schemeClr val="bg1"/>
                </a:solidFill>
              </a:rPr>
              <a:t>POST: </a:t>
            </a:r>
            <a:r>
              <a:rPr lang="hu-HU" sz="1800" dirty="0">
                <a:solidFill>
                  <a:schemeClr val="bg1"/>
                </a:solidFill>
              </a:rPr>
              <a:t>send data to server – usually to store new information, upload data via HTML forms</a:t>
            </a:r>
          </a:p>
          <a:p>
            <a:r>
              <a:rPr lang="hu-HU" sz="1800" b="1" dirty="0">
                <a:solidFill>
                  <a:schemeClr val="bg1"/>
                </a:solidFill>
              </a:rPr>
              <a:t>PUT: </a:t>
            </a:r>
            <a:r>
              <a:rPr lang="hu-HU" sz="1800" dirty="0">
                <a:solidFill>
                  <a:schemeClr val="bg1"/>
                </a:solidFill>
              </a:rPr>
              <a:t>replace already existing information on the server; usually for update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PATCH: partial modification; update for some elements within an item</a:t>
            </a:r>
            <a:endParaRPr lang="hu-HU" sz="1800" dirty="0">
              <a:solidFill>
                <a:schemeClr val="bg1"/>
              </a:solidFill>
            </a:endParaRPr>
          </a:p>
          <a:p>
            <a:r>
              <a:rPr lang="hu-HU" sz="1800" b="1" dirty="0">
                <a:solidFill>
                  <a:schemeClr val="bg1"/>
                </a:solidFill>
              </a:rPr>
              <a:t>DELETE: </a:t>
            </a:r>
            <a:r>
              <a:rPr lang="hu-HU" sz="1800" dirty="0">
                <a:solidFill>
                  <a:schemeClr val="bg1"/>
                </a:solidFill>
              </a:rPr>
              <a:t>remove already existing data from the server</a:t>
            </a:r>
          </a:p>
          <a:p>
            <a:r>
              <a:rPr lang="hu-HU" sz="1800" b="1" dirty="0">
                <a:solidFill>
                  <a:schemeClr val="bg1"/>
                </a:solidFill>
              </a:rPr>
              <a:t>Others: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HEAD – almost same as GET, but no body is expected in the response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CONNECT – establish a tunnel to the server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OPTIONS – describe the communication options for the target resource</a:t>
            </a:r>
          </a:p>
          <a:p>
            <a:pPr lvl="1"/>
            <a:r>
              <a:rPr lang="hu-HU" dirty="0">
                <a:solidFill>
                  <a:schemeClr val="bg1"/>
                </a:solidFill>
              </a:rPr>
              <a:t>TRACE – for debugging</a:t>
            </a:r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A5403320-E9DC-5C5F-313A-FC6679855C80}"/>
              </a:ext>
            </a:extLst>
          </p:cNvPr>
          <p:cNvGrpSpPr/>
          <p:nvPr/>
        </p:nvGrpSpPr>
        <p:grpSpPr>
          <a:xfrm>
            <a:off x="835284" y="2463320"/>
            <a:ext cx="3150300" cy="1734067"/>
            <a:chOff x="191540" y="829321"/>
            <a:chExt cx="4407450" cy="2105511"/>
          </a:xfrm>
        </p:grpSpPr>
        <p:sp>
          <p:nvSpPr>
            <p:cNvPr id="7" name="Jobb oldali kapcsos zárójel 6">
              <a:extLst>
                <a:ext uri="{FF2B5EF4-FFF2-40B4-BE49-F238E27FC236}">
                  <a16:creationId xmlns:a16="http://schemas.microsoft.com/office/drawing/2014/main" id="{9078475B-651F-D391-364C-66CED7D3BD0E}"/>
                </a:ext>
              </a:extLst>
            </p:cNvPr>
            <p:cNvSpPr/>
            <p:nvPr/>
          </p:nvSpPr>
          <p:spPr>
            <a:xfrm rot="16200000" flipV="1">
              <a:off x="657720" y="863586"/>
              <a:ext cx="66954" cy="71721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Jobb oldali kapcsos zárójel 7">
              <a:extLst>
                <a:ext uri="{FF2B5EF4-FFF2-40B4-BE49-F238E27FC236}">
                  <a16:creationId xmlns:a16="http://schemas.microsoft.com/office/drawing/2014/main" id="{4EC75411-6305-BD30-78D8-DF0D4CAC1C74}"/>
                </a:ext>
              </a:extLst>
            </p:cNvPr>
            <p:cNvSpPr/>
            <p:nvPr/>
          </p:nvSpPr>
          <p:spPr>
            <a:xfrm rot="16200000" flipV="1">
              <a:off x="1962499" y="360796"/>
              <a:ext cx="55512" cy="1741135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" name="Jobb oldali kapcsos zárójel 8">
              <a:extLst>
                <a:ext uri="{FF2B5EF4-FFF2-40B4-BE49-F238E27FC236}">
                  <a16:creationId xmlns:a16="http://schemas.microsoft.com/office/drawing/2014/main" id="{C672AED2-B6BF-1FF8-47EC-75B033B54EDD}"/>
                </a:ext>
              </a:extLst>
            </p:cNvPr>
            <p:cNvSpPr/>
            <p:nvPr/>
          </p:nvSpPr>
          <p:spPr>
            <a:xfrm rot="16200000" flipV="1">
              <a:off x="3632215" y="535796"/>
              <a:ext cx="55512" cy="138424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" name="Szövegdoboz 11">
              <a:extLst>
                <a:ext uri="{FF2B5EF4-FFF2-40B4-BE49-F238E27FC236}">
                  <a16:creationId xmlns:a16="http://schemas.microsoft.com/office/drawing/2014/main" id="{02C9B69D-FBF4-AF3E-2B9A-A8658E2E36D6}"/>
                </a:ext>
              </a:extLst>
            </p:cNvPr>
            <p:cNvSpPr txBox="1"/>
            <p:nvPr/>
          </p:nvSpPr>
          <p:spPr>
            <a:xfrm>
              <a:off x="191540" y="842726"/>
              <a:ext cx="1106132" cy="33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 err="1">
                  <a:solidFill>
                    <a:srgbClr val="00B0F0"/>
                  </a:solidFill>
                </a:rPr>
                <a:t>Method</a:t>
              </a:r>
              <a:endParaRPr lang="hu-HU" sz="1200" dirty="0">
                <a:solidFill>
                  <a:srgbClr val="00B0F0"/>
                </a:solidFill>
              </a:endParaRPr>
            </a:p>
          </p:txBody>
        </p:sp>
        <p:sp>
          <p:nvSpPr>
            <p:cNvPr id="11" name="Szövegdoboz 12">
              <a:extLst>
                <a:ext uri="{FF2B5EF4-FFF2-40B4-BE49-F238E27FC236}">
                  <a16:creationId xmlns:a16="http://schemas.microsoft.com/office/drawing/2014/main" id="{3A6F3350-3D90-752F-2F1B-AE78C8AC0427}"/>
                </a:ext>
              </a:extLst>
            </p:cNvPr>
            <p:cNvSpPr txBox="1"/>
            <p:nvPr/>
          </p:nvSpPr>
          <p:spPr>
            <a:xfrm>
              <a:off x="1148302" y="850617"/>
              <a:ext cx="1712520" cy="33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>
                  <a:solidFill>
                    <a:srgbClr val="FF0000"/>
                  </a:solidFill>
                </a:rPr>
                <a:t>URI</a:t>
              </a:r>
            </a:p>
          </p:txBody>
        </p:sp>
        <p:sp>
          <p:nvSpPr>
            <p:cNvPr id="12" name="Szövegdoboz 13">
              <a:extLst>
                <a:ext uri="{FF2B5EF4-FFF2-40B4-BE49-F238E27FC236}">
                  <a16:creationId xmlns:a16="http://schemas.microsoft.com/office/drawing/2014/main" id="{64D0D26F-50A3-427F-FC02-675590628D06}"/>
                </a:ext>
              </a:extLst>
            </p:cNvPr>
            <p:cNvSpPr txBox="1"/>
            <p:nvPr/>
          </p:nvSpPr>
          <p:spPr>
            <a:xfrm>
              <a:off x="2923317" y="829321"/>
              <a:ext cx="1428775" cy="33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1200" dirty="0">
                  <a:solidFill>
                    <a:srgbClr val="00B050"/>
                  </a:solidFill>
                </a:rPr>
                <a:t>Version</a:t>
              </a:r>
            </a:p>
          </p:txBody>
        </p:sp>
        <p:sp>
          <p:nvSpPr>
            <p:cNvPr id="13" name="Jobb oldali kapcsos zárójel 14">
              <a:extLst>
                <a:ext uri="{FF2B5EF4-FFF2-40B4-BE49-F238E27FC236}">
                  <a16:creationId xmlns:a16="http://schemas.microsoft.com/office/drawing/2014/main" id="{E8B0667A-883C-7B9E-30D5-6FE945A54BF7}"/>
                </a:ext>
              </a:extLst>
            </p:cNvPr>
            <p:cNvSpPr/>
            <p:nvPr/>
          </p:nvSpPr>
          <p:spPr>
            <a:xfrm flipV="1">
              <a:off x="3500205" y="1690126"/>
              <a:ext cx="95940" cy="535914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4" name="Jobb oldali kapcsos zárójel 15">
              <a:extLst>
                <a:ext uri="{FF2B5EF4-FFF2-40B4-BE49-F238E27FC236}">
                  <a16:creationId xmlns:a16="http://schemas.microsoft.com/office/drawing/2014/main" id="{47E17D8B-B52D-64C7-84C3-834DD33FBA6B}"/>
                </a:ext>
              </a:extLst>
            </p:cNvPr>
            <p:cNvSpPr/>
            <p:nvPr/>
          </p:nvSpPr>
          <p:spPr>
            <a:xfrm flipV="1">
              <a:off x="3501551" y="2590554"/>
              <a:ext cx="94594" cy="336335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5" name="Szövegdoboz 16">
              <a:extLst>
                <a:ext uri="{FF2B5EF4-FFF2-40B4-BE49-F238E27FC236}">
                  <a16:creationId xmlns:a16="http://schemas.microsoft.com/office/drawing/2014/main" id="{723AA73E-BDDE-5657-A557-68077271CE10}"/>
                </a:ext>
              </a:extLst>
            </p:cNvPr>
            <p:cNvSpPr txBox="1"/>
            <p:nvPr/>
          </p:nvSpPr>
          <p:spPr>
            <a:xfrm>
              <a:off x="3619920" y="1777295"/>
              <a:ext cx="979070" cy="336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200" dirty="0" err="1">
                  <a:solidFill>
                    <a:srgbClr val="7030A0"/>
                  </a:solidFill>
                </a:rPr>
                <a:t>Headers</a:t>
              </a:r>
              <a:endParaRPr lang="hu-HU" sz="1200" dirty="0">
                <a:solidFill>
                  <a:srgbClr val="7030A0"/>
                </a:solidFill>
              </a:endParaRPr>
            </a:p>
          </p:txBody>
        </p:sp>
        <p:sp>
          <p:nvSpPr>
            <p:cNvPr id="16" name="Szövegdoboz 17">
              <a:extLst>
                <a:ext uri="{FF2B5EF4-FFF2-40B4-BE49-F238E27FC236}">
                  <a16:creationId xmlns:a16="http://schemas.microsoft.com/office/drawing/2014/main" id="{A008DEB8-072C-37B5-E7F2-389F25AEB109}"/>
                </a:ext>
              </a:extLst>
            </p:cNvPr>
            <p:cNvSpPr txBox="1"/>
            <p:nvPr/>
          </p:nvSpPr>
          <p:spPr>
            <a:xfrm>
              <a:off x="3743367" y="2598499"/>
              <a:ext cx="732173" cy="33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>
                  <a:solidFill>
                    <a:srgbClr val="002060"/>
                  </a:solidFill>
                </a:rPr>
                <a:t>Body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695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9DAF9-F1EF-A96A-9980-DC79BE8995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69692-B671-E1A8-E7C7-A0EA635B2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375702A5-0CAF-CBC1-C957-46BEF8F95C17}"/>
              </a:ext>
            </a:extLst>
          </p:cNvPr>
          <p:cNvSpPr txBox="1">
            <a:spLocks/>
          </p:cNvSpPr>
          <p:nvPr/>
        </p:nvSpPr>
        <p:spPr>
          <a:xfrm>
            <a:off x="357189" y="894864"/>
            <a:ext cx="5577698" cy="51630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/>
              <a:t>Server to client communication</a:t>
            </a:r>
          </a:p>
          <a:p>
            <a:r>
              <a:rPr lang="hu-HU" sz="1600" dirty="0"/>
              <a:t>Structure:</a:t>
            </a:r>
          </a:p>
          <a:p>
            <a:endParaRPr lang="hu-HU" dirty="0"/>
          </a:p>
          <a:p>
            <a:endParaRPr lang="hu-HU" dirty="0"/>
          </a:p>
          <a:p>
            <a:pPr marL="182880"/>
            <a:r>
              <a:rPr lang="hu-HU" sz="1400" dirty="0">
                <a:solidFill>
                  <a:srgbClr val="0070C0"/>
                </a:solidFill>
              </a:rPr>
              <a:t>HTTP/1.1 </a:t>
            </a:r>
            <a:r>
              <a:rPr lang="hu-HU" sz="1400" dirty="0">
                <a:solidFill>
                  <a:srgbClr val="00B050"/>
                </a:solidFill>
              </a:rPr>
              <a:t>201 Created</a:t>
            </a:r>
          </a:p>
          <a:p>
            <a:pPr marL="182880"/>
            <a:r>
              <a:rPr lang="en-US" sz="1400" dirty="0">
                <a:solidFill>
                  <a:srgbClr val="7030A0"/>
                </a:solidFill>
              </a:rPr>
              <a:t>Date: Mon, 27 Jul 2009 12:28:53 GMT</a:t>
            </a:r>
          </a:p>
          <a:p>
            <a:pPr marL="182880"/>
            <a:r>
              <a:rPr lang="en-US" sz="1400" dirty="0">
                <a:solidFill>
                  <a:srgbClr val="7030A0"/>
                </a:solidFill>
              </a:rPr>
              <a:t>Server: Apache/2.2.14 (Win32)</a:t>
            </a:r>
          </a:p>
          <a:p>
            <a:pPr marL="182880"/>
            <a:r>
              <a:rPr lang="en-US" sz="1400" dirty="0">
                <a:solidFill>
                  <a:srgbClr val="7030A0"/>
                </a:solidFill>
              </a:rPr>
              <a:t>Last-Modified: Wed, 22 Jul 2009 19:15:56 GMT</a:t>
            </a:r>
          </a:p>
          <a:p>
            <a:pPr marL="182880"/>
            <a:r>
              <a:rPr lang="en-US" sz="1400" dirty="0">
                <a:solidFill>
                  <a:srgbClr val="7030A0"/>
                </a:solidFill>
              </a:rPr>
              <a:t>Content-Length: 88</a:t>
            </a:r>
          </a:p>
          <a:p>
            <a:pPr marL="182880"/>
            <a:r>
              <a:rPr lang="en-US" sz="1400" dirty="0">
                <a:solidFill>
                  <a:srgbClr val="7030A0"/>
                </a:solidFill>
              </a:rPr>
              <a:t>Content-Type: text/html</a:t>
            </a:r>
          </a:p>
          <a:p>
            <a:pPr marL="182880"/>
            <a:r>
              <a:rPr lang="en-US" sz="1400" dirty="0">
                <a:solidFill>
                  <a:srgbClr val="7030A0"/>
                </a:solidFill>
              </a:rPr>
              <a:t>Connection: Closed</a:t>
            </a:r>
            <a:endParaRPr lang="hu-HU" sz="1400" dirty="0">
              <a:solidFill>
                <a:srgbClr val="7030A0"/>
              </a:solidFill>
            </a:endParaRPr>
          </a:p>
        </p:txBody>
      </p:sp>
      <p:sp>
        <p:nvSpPr>
          <p:cNvPr id="5" name="Tartalom helye 3">
            <a:extLst>
              <a:ext uri="{FF2B5EF4-FFF2-40B4-BE49-F238E27FC236}">
                <a16:creationId xmlns:a16="http://schemas.microsoft.com/office/drawing/2014/main" id="{D745C436-11D3-801F-3206-1FA4C96428B7}"/>
              </a:ext>
            </a:extLst>
          </p:cNvPr>
          <p:cNvSpPr txBox="1">
            <a:spLocks/>
          </p:cNvSpPr>
          <p:nvPr/>
        </p:nvSpPr>
        <p:spPr>
          <a:xfrm>
            <a:off x="6348741" y="481626"/>
            <a:ext cx="5386059" cy="56817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dirty="0">
                <a:solidFill>
                  <a:schemeClr val="bg1"/>
                </a:solidFill>
              </a:rPr>
              <a:t>Status codes categories:</a:t>
            </a: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1: information responses – hold on</a:t>
            </a: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2: Successful responses – here you go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200: OK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202: Accepted</a:t>
            </a: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3: Redirection messages – go away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301: Moved permanently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302: Found (temporary changed)</a:t>
            </a: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4: Client error responses – you </a:t>
            </a:r>
            <a:r>
              <a:rPr lang="hu-HU" sz="1600" strike="sngStrike" dirty="0">
                <a:solidFill>
                  <a:schemeClr val="bg1"/>
                </a:solidFill>
              </a:rPr>
              <a:t>f***d</a:t>
            </a:r>
            <a:r>
              <a:rPr lang="hu-HU" sz="1600" dirty="0">
                <a:solidFill>
                  <a:schemeClr val="bg1"/>
                </a:solidFill>
              </a:rPr>
              <a:t> messed up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400: Bad request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401: Unauthorized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404: Not Found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418: I’m a teapot</a:t>
            </a:r>
          </a:p>
          <a:p>
            <a:pPr lvl="1"/>
            <a:r>
              <a:rPr lang="hu-HU" sz="1600" dirty="0">
                <a:solidFill>
                  <a:schemeClr val="bg1"/>
                </a:solidFill>
              </a:rPr>
              <a:t>5: Server error responses – I </a:t>
            </a:r>
            <a:r>
              <a:rPr lang="hu-HU" sz="1600" strike="sngStrike" dirty="0">
                <a:solidFill>
                  <a:schemeClr val="bg1"/>
                </a:solidFill>
              </a:rPr>
              <a:t>f***d</a:t>
            </a:r>
            <a:r>
              <a:rPr lang="hu-HU" sz="1600" dirty="0">
                <a:solidFill>
                  <a:schemeClr val="bg1"/>
                </a:solidFill>
              </a:rPr>
              <a:t> messed up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500: Internal server error</a:t>
            </a:r>
          </a:p>
          <a:p>
            <a:pPr lvl="2"/>
            <a:r>
              <a:rPr lang="hu-HU" sz="1600" dirty="0">
                <a:solidFill>
                  <a:schemeClr val="bg1"/>
                </a:solidFill>
              </a:rPr>
              <a:t>503: Service unavailable</a:t>
            </a:r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F5BF908A-EE5F-53E9-A971-F05699F391B3}"/>
              </a:ext>
            </a:extLst>
          </p:cNvPr>
          <p:cNvGrpSpPr/>
          <p:nvPr/>
        </p:nvGrpSpPr>
        <p:grpSpPr>
          <a:xfrm>
            <a:off x="641395" y="1769312"/>
            <a:ext cx="4102630" cy="2547712"/>
            <a:chOff x="261287" y="842725"/>
            <a:chExt cx="5739815" cy="2525710"/>
          </a:xfrm>
        </p:grpSpPr>
        <p:sp>
          <p:nvSpPr>
            <p:cNvPr id="7" name="Jobb oldali kapcsos zárójel 6">
              <a:extLst>
                <a:ext uri="{FF2B5EF4-FFF2-40B4-BE49-F238E27FC236}">
                  <a16:creationId xmlns:a16="http://schemas.microsoft.com/office/drawing/2014/main" id="{A35CA94B-685B-F7BD-DA93-76B090B94DEF}"/>
                </a:ext>
              </a:extLst>
            </p:cNvPr>
            <p:cNvSpPr/>
            <p:nvPr/>
          </p:nvSpPr>
          <p:spPr>
            <a:xfrm rot="16200000" flipV="1">
              <a:off x="665313" y="784689"/>
              <a:ext cx="74817" cy="88287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Jobb oldali kapcsos zárójel 7">
              <a:extLst>
                <a:ext uri="{FF2B5EF4-FFF2-40B4-BE49-F238E27FC236}">
                  <a16:creationId xmlns:a16="http://schemas.microsoft.com/office/drawing/2014/main" id="{3DF7D6A4-2881-063C-6127-8C53F3249C34}"/>
                </a:ext>
              </a:extLst>
            </p:cNvPr>
            <p:cNvSpPr/>
            <p:nvPr/>
          </p:nvSpPr>
          <p:spPr>
            <a:xfrm rot="16200000" flipV="1">
              <a:off x="1838577" y="627555"/>
              <a:ext cx="74817" cy="1197137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" name="Szövegdoboz 11">
              <a:extLst>
                <a:ext uri="{FF2B5EF4-FFF2-40B4-BE49-F238E27FC236}">
                  <a16:creationId xmlns:a16="http://schemas.microsoft.com/office/drawing/2014/main" id="{10B6E0CA-97B4-FD01-CD55-AED8023475D7}"/>
                </a:ext>
              </a:extLst>
            </p:cNvPr>
            <p:cNvSpPr txBox="1"/>
            <p:nvPr/>
          </p:nvSpPr>
          <p:spPr>
            <a:xfrm>
              <a:off x="357188" y="842725"/>
              <a:ext cx="882868" cy="298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000" dirty="0">
                  <a:solidFill>
                    <a:srgbClr val="0070C0"/>
                  </a:solidFill>
                </a:rPr>
                <a:t>Version</a:t>
              </a:r>
            </a:p>
          </p:txBody>
        </p:sp>
        <p:sp>
          <p:nvSpPr>
            <p:cNvPr id="10" name="Szövegdoboz 12">
              <a:extLst>
                <a:ext uri="{FF2B5EF4-FFF2-40B4-BE49-F238E27FC236}">
                  <a16:creationId xmlns:a16="http://schemas.microsoft.com/office/drawing/2014/main" id="{7620769B-491B-FBEC-E79B-C011E5812A3E}"/>
                </a:ext>
              </a:extLst>
            </p:cNvPr>
            <p:cNvSpPr txBox="1"/>
            <p:nvPr/>
          </p:nvSpPr>
          <p:spPr>
            <a:xfrm>
              <a:off x="1368458" y="842725"/>
              <a:ext cx="1106096" cy="298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000" dirty="0">
                  <a:solidFill>
                    <a:srgbClr val="00B050"/>
                  </a:solidFill>
                </a:rPr>
                <a:t>Status code</a:t>
              </a:r>
            </a:p>
          </p:txBody>
        </p:sp>
        <p:sp>
          <p:nvSpPr>
            <p:cNvPr id="11" name="Jobb oldali kapcsos zárójel 14">
              <a:extLst>
                <a:ext uri="{FF2B5EF4-FFF2-40B4-BE49-F238E27FC236}">
                  <a16:creationId xmlns:a16="http://schemas.microsoft.com/office/drawing/2014/main" id="{3CF1D2A1-5BB0-6089-5177-6DBB3A0BA06C}"/>
                </a:ext>
              </a:extLst>
            </p:cNvPr>
            <p:cNvSpPr/>
            <p:nvPr/>
          </p:nvSpPr>
          <p:spPr>
            <a:xfrm flipV="1">
              <a:off x="5005829" y="1691979"/>
              <a:ext cx="99751" cy="167645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2" name="Szövegdoboz 16">
              <a:extLst>
                <a:ext uri="{FF2B5EF4-FFF2-40B4-BE49-F238E27FC236}">
                  <a16:creationId xmlns:a16="http://schemas.microsoft.com/office/drawing/2014/main" id="{CAD25BE0-29F5-6A43-EDF2-B81ECA8783FC}"/>
                </a:ext>
              </a:extLst>
            </p:cNvPr>
            <p:cNvSpPr txBox="1"/>
            <p:nvPr/>
          </p:nvSpPr>
          <p:spPr>
            <a:xfrm>
              <a:off x="5139459" y="2356905"/>
              <a:ext cx="861643" cy="298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000" dirty="0" err="1">
                  <a:solidFill>
                    <a:srgbClr val="7030A0"/>
                  </a:solidFill>
                </a:rPr>
                <a:t>Headers</a:t>
              </a:r>
              <a:endParaRPr lang="hu-HU" sz="1000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119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1E4CE6-F232-A0E3-E5AE-B1806762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Headers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AE2860-ADCF-3EE8-9B5F-3A0F4F8E16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864681-BBBF-B437-025E-EE0C30C7EBA6}"/>
              </a:ext>
            </a:extLst>
          </p:cNvPr>
          <p:cNvSpPr txBox="1">
            <a:spLocks/>
          </p:cNvSpPr>
          <p:nvPr/>
        </p:nvSpPr>
        <p:spPr>
          <a:xfrm>
            <a:off x="357188" y="1079500"/>
            <a:ext cx="11274551" cy="449788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HTTP headers let the client and the server </a:t>
            </a:r>
            <a:r>
              <a:rPr lang="en-US" sz="1800" b="1" dirty="0"/>
              <a:t>pass additional information</a:t>
            </a:r>
            <a:r>
              <a:rPr lang="en-US" sz="1800" dirty="0"/>
              <a:t> within an HTTP request or response.</a:t>
            </a:r>
            <a:endParaRPr lang="hu-HU" sz="1800" dirty="0"/>
          </a:p>
          <a:p>
            <a:r>
              <a:rPr lang="hu-HU" sz="1800" dirty="0"/>
              <a:t>A HTTP header consist of a </a:t>
            </a:r>
            <a:r>
              <a:rPr lang="hu-HU" sz="1800" b="1" dirty="0"/>
              <a:t>name</a:t>
            </a:r>
            <a:r>
              <a:rPr lang="hu-HU" sz="1800" dirty="0"/>
              <a:t> followed by a colon, then by its </a:t>
            </a:r>
            <a:r>
              <a:rPr lang="hu-HU" sz="1800" b="1" dirty="0"/>
              <a:t>value</a:t>
            </a:r>
            <a:r>
              <a:rPr lang="en-US" sz="1800" b="1" dirty="0"/>
              <a:t> </a:t>
            </a:r>
            <a:r>
              <a:rPr lang="en-US" sz="1800" dirty="0"/>
              <a:t>(key-value pairs)</a:t>
            </a:r>
            <a:endParaRPr lang="hu-HU" sz="1800" b="1" dirty="0"/>
          </a:p>
          <a:p>
            <a:r>
              <a:rPr lang="hu-HU" sz="1800" dirty="0"/>
              <a:t>Some common headers are: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sz="1800" b="1" dirty="0"/>
              <a:t>Content-Type</a:t>
            </a:r>
            <a:r>
              <a:rPr lang="hu-HU" sz="1800" dirty="0"/>
              <a:t>: </a:t>
            </a:r>
            <a:r>
              <a:rPr lang="en-US" sz="1800" dirty="0"/>
              <a:t>Indicates the media type of the resource.</a:t>
            </a:r>
            <a:endParaRPr lang="hu-HU" sz="18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hu-HU" sz="1800" b="1" dirty="0"/>
              <a:t>Host</a:t>
            </a:r>
            <a:r>
              <a:rPr lang="hu-HU" sz="1800" dirty="0"/>
              <a:t>: Specifies the domain name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sz="1800" b="1" dirty="0"/>
              <a:t>Cookie: </a:t>
            </a:r>
            <a:r>
              <a:rPr lang="en-US" sz="1800" dirty="0"/>
              <a:t>Contains stored HTTP cookies previously sent by the server with the Set-Cookie header.</a:t>
            </a:r>
            <a:endParaRPr lang="hu-HU" sz="18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b="1" dirty="0"/>
              <a:t>Set-Cookie</a:t>
            </a:r>
            <a:r>
              <a:rPr lang="hu-HU" sz="1800" dirty="0"/>
              <a:t>: </a:t>
            </a:r>
            <a:r>
              <a:rPr lang="en-US" sz="1800" dirty="0"/>
              <a:t>Send cookies from the server to the user-agent.</a:t>
            </a:r>
            <a:endParaRPr lang="hu-HU" sz="1800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hu-HU" sz="1800" dirty="0">
              <a:latin typeface="+mj-lt"/>
            </a:endParaRPr>
          </a:p>
          <a:p>
            <a:r>
              <a:rPr lang="hu-HU" sz="1800" dirty="0"/>
              <a:t>For example: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hu-HU" sz="1800" dirty="0"/>
              <a:t>”Content-Type”: </a:t>
            </a:r>
            <a:r>
              <a:rPr lang="hu-HU" sz="1800" dirty="0">
                <a:solidFill>
                  <a:schemeClr val="accent2"/>
                </a:solidFill>
              </a:rPr>
              <a:t>”text/html”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8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93F98-FF88-731A-6185-759BA156C468}"/>
              </a:ext>
            </a:extLst>
          </p:cNvPr>
          <p:cNvSpPr txBox="1"/>
          <p:nvPr/>
        </p:nvSpPr>
        <p:spPr>
          <a:xfrm>
            <a:off x="246953" y="5577384"/>
            <a:ext cx="6250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https://developer.mozilla.org/en-US/docs/Web/HTTP/Headers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DA5158-6A71-7DE7-13FE-82797D5CB2A2}"/>
              </a:ext>
            </a:extLst>
          </p:cNvPr>
          <p:cNvSpPr txBox="1"/>
          <p:nvPr/>
        </p:nvSpPr>
        <p:spPr>
          <a:xfrm>
            <a:off x="246952" y="5820989"/>
            <a:ext cx="6250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https://developer.mozilla.org/en-US/docs/Web/HTTP/Basics_of_HTTP/MIME_types</a:t>
            </a:r>
            <a:endParaRPr lang="en-US" sz="1200" dirty="0"/>
          </a:p>
        </p:txBody>
      </p:sp>
      <p:sp>
        <p:nvSpPr>
          <p:cNvPr id="7" name="Jobb oldali kapcsos zárójel 7">
            <a:extLst>
              <a:ext uri="{FF2B5EF4-FFF2-40B4-BE49-F238E27FC236}">
                <a16:creationId xmlns:a16="http://schemas.microsoft.com/office/drawing/2014/main" id="{929EFFAF-949A-A7F7-DF9F-0854AB2230B3}"/>
              </a:ext>
            </a:extLst>
          </p:cNvPr>
          <p:cNvSpPr/>
          <p:nvPr/>
        </p:nvSpPr>
        <p:spPr>
          <a:xfrm rot="16200000" flipV="1">
            <a:off x="2917968" y="3952743"/>
            <a:ext cx="45719" cy="97652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6449E-F995-1B7A-F385-B03B1CD0FCE2}"/>
              </a:ext>
            </a:extLst>
          </p:cNvPr>
          <p:cNvSpPr txBox="1"/>
          <p:nvPr/>
        </p:nvSpPr>
        <p:spPr>
          <a:xfrm>
            <a:off x="2452564" y="4164916"/>
            <a:ext cx="976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200" dirty="0">
                <a:solidFill>
                  <a:schemeClr val="accent2"/>
                </a:solidFill>
              </a:rPr>
              <a:t>Mime type</a:t>
            </a:r>
            <a:endParaRPr lang="en-US" sz="1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69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148A8-8752-5684-79A9-C3606C6E9B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48363C-3B9F-9D05-22CE-20BB775A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web works through HTTP</a:t>
            </a:r>
          </a:p>
        </p:txBody>
      </p:sp>
      <p:pic>
        <p:nvPicPr>
          <p:cNvPr id="4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854F49A4-0967-19A3-753D-DB1D975AC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0105"/>
            <a:ext cx="5902937" cy="4250113"/>
          </a:xfrm>
          <a:prstGeom prst="rect">
            <a:avLst/>
          </a:prstGeom>
          <a:noFill/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BC1CF9-4F8E-5C54-0B2E-0BEB5BABB468}"/>
              </a:ext>
            </a:extLst>
          </p:cNvPr>
          <p:cNvSpPr txBox="1">
            <a:spLocks/>
          </p:cNvSpPr>
          <p:nvPr/>
        </p:nvSpPr>
        <p:spPr>
          <a:xfrm>
            <a:off x="6289064" y="1079500"/>
            <a:ext cx="5738813" cy="451240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You enter http://server.com into your browser’s address bar.</a:t>
            </a:r>
            <a:endParaRPr lang="hu-HU" sz="18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Your browser looks up the IP address for server.com.</a:t>
            </a:r>
            <a:endParaRPr lang="hu-HU" sz="18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Your browser issues a request for the home page at server.com.</a:t>
            </a:r>
            <a:endParaRPr lang="hu-HU" sz="18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The request crosses the Internet and arrives at the server.com web server.</a:t>
            </a:r>
            <a:endParaRPr lang="hu-HU" sz="18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The web server, having received the request, looks for the web page on its disk.</a:t>
            </a:r>
            <a:endParaRPr lang="hu-HU" sz="18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The web page is retrieved by the server and returned to the browser.</a:t>
            </a:r>
            <a:endParaRPr lang="hu-HU" sz="180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Your browser displays the web page.</a:t>
            </a:r>
          </a:p>
        </p:txBody>
      </p:sp>
    </p:spTree>
    <p:extLst>
      <p:ext uri="{BB962C8B-B14F-4D97-AF65-F5344CB8AC3E}">
        <p14:creationId xmlns:p14="http://schemas.microsoft.com/office/powerpoint/2010/main" val="3183715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0B7016-2901-8D3B-CCF3-AA03D152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old school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947A1-954D-92D0-62CF-270F706BC4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4DF81E-3692-FB91-CFD1-76E24B4240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6250" y="1600200"/>
            <a:ext cx="4991100" cy="41448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Synchronous 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user must wait while full content 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way of communication in web pages</a:t>
            </a:r>
            <a:br>
              <a:rPr lang="en-US" dirty="0"/>
            </a:br>
            <a:r>
              <a:rPr lang="en-US" dirty="0"/>
              <a:t>(click – wait – refresh)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One request – one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Organize your HTML code</a:t>
            </a:r>
            <a:br>
              <a:rPr lang="en-US" dirty="0"/>
            </a:br>
            <a:r>
              <a:rPr lang="en-US" dirty="0"/>
              <a:t>external resources (scripts images, stylesheets)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Focus on server side – serve the client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Mostly independent from the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page requires full content load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Slow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Terrible user </a:t>
            </a:r>
            <a:r>
              <a:rPr lang="en-US" dirty="0" err="1">
                <a:solidFill>
                  <a:schemeClr val="bg1"/>
                </a:solidFill>
              </a:rPr>
              <a:t>experince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Tartalom helye 17">
            <a:extLst>
              <a:ext uri="{FF2B5EF4-FFF2-40B4-BE49-F238E27FC236}">
                <a16:creationId xmlns:a16="http://schemas.microsoft.com/office/drawing/2014/main" id="{01D998F6-0D87-34C9-0535-F6E49C139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52" y="1600200"/>
            <a:ext cx="5268056" cy="269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3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42E6-8A3A-9C76-BDAF-6E4BFF94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asynchronous way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CF001-F0AD-95FC-CDF9-014CCC99A8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372AF-5A7D-A868-1487-219EB4292F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6250" y="1600200"/>
            <a:ext cx="4991100" cy="191924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Rich (heavy/fat/thick)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Client-server communication in the </a:t>
            </a:r>
            <a:r>
              <a:rPr lang="en-US" dirty="0" err="1"/>
              <a:t>backround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Dynamically update page without reloading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Transparent to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Content of fetched file can be put into the current web page using DOM manipulation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6DE58AE0-843E-E9E5-3533-CEADB93DCE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652" y="1600200"/>
            <a:ext cx="5266944" cy="293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6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767D03-9596-FD98-06D5-AB524EB1B2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FB55860-514A-A2F9-C8AF-59A7CCD21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pros &amp; cons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F749186F-A42D-7856-B12C-1E964A126F65}"/>
              </a:ext>
            </a:extLst>
          </p:cNvPr>
          <p:cNvSpPr txBox="1">
            <a:spLocks/>
          </p:cNvSpPr>
          <p:nvPr/>
        </p:nvSpPr>
        <p:spPr>
          <a:xfrm>
            <a:off x="357188" y="1079499"/>
            <a:ext cx="5524067" cy="46458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/>
              <a:t>Fast – not everything is needed at the first load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/>
              <a:t>User friendly – dynamically added new items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/>
              <a:t>Requires different kind of thinking on both side</a:t>
            </a:r>
            <a:r>
              <a:rPr lang="en-US" sz="1800" dirty="0"/>
              <a:t>:</a:t>
            </a:r>
          </a:p>
          <a:p>
            <a:pPr marL="971550" lvl="1" indent="-285750">
              <a:lnSpc>
                <a:spcPct val="150000"/>
              </a:lnSpc>
            </a:pPr>
            <a:r>
              <a:rPr lang="hu-HU" sz="1400" dirty="0"/>
              <a:t>Service Oriented Architecture</a:t>
            </a:r>
            <a:endParaRPr lang="en-US" sz="1400" dirty="0"/>
          </a:p>
          <a:p>
            <a:pPr marL="971550" lvl="1" indent="-285750">
              <a:lnSpc>
                <a:spcPct val="150000"/>
              </a:lnSpc>
            </a:pPr>
            <a:r>
              <a:rPr lang="en-US" sz="1400" dirty="0"/>
              <a:t>Microservices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400" dirty="0"/>
              <a:t>REST API</a:t>
            </a:r>
            <a:endParaRPr lang="hu-HU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/>
              <a:t>Heavily based on JavaScript – client-dependent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/>
              <a:t>Client error might disable a functionality and/or a complete page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/>
              <a:t>Hell of loading indicators</a:t>
            </a:r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id="{BBB6A50E-9DF5-154B-4841-1499EE1711DF}"/>
              </a:ext>
            </a:extLst>
          </p:cNvPr>
          <p:cNvSpPr txBox="1">
            <a:spLocks/>
          </p:cNvSpPr>
          <p:nvPr/>
        </p:nvSpPr>
        <p:spPr>
          <a:xfrm>
            <a:off x="6388100" y="454306"/>
            <a:ext cx="4797425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Async limitations</a:t>
            </a:r>
          </a:p>
        </p:txBody>
      </p:sp>
      <p:sp>
        <p:nvSpPr>
          <p:cNvPr id="14" name="Tartalom helye 6">
            <a:extLst>
              <a:ext uri="{FF2B5EF4-FFF2-40B4-BE49-F238E27FC236}">
                <a16:creationId xmlns:a16="http://schemas.microsoft.com/office/drawing/2014/main" id="{2DCDA543-5D49-FA79-879E-7591C97548C9}"/>
              </a:ext>
            </a:extLst>
          </p:cNvPr>
          <p:cNvSpPr txBox="1">
            <a:spLocks/>
          </p:cNvSpPr>
          <p:nvPr/>
        </p:nvSpPr>
        <p:spPr>
          <a:xfrm>
            <a:off x="6310747" y="1079499"/>
            <a:ext cx="5649189" cy="33972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bg1"/>
                </a:solidFill>
              </a:rPr>
              <a:t>Same Origin Request Policy - can only load from the same domain via the same protocol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bg1"/>
                </a:solidFill>
              </a:rPr>
              <a:t>Cross Origin Resource Sharing (CORS)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bg1"/>
                </a:solidFill>
              </a:rPr>
              <a:t>Hard to handle manually loaded scripts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bg1"/>
                </a:solidFill>
              </a:rPr>
              <a:t>SEO can cause difficulties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1800" dirty="0">
                <a:solidFill>
                  <a:schemeClr val="bg1"/>
                </a:solidFill>
              </a:rPr>
              <a:t>Disabled JavaScript equals </a:t>
            </a:r>
            <a:r>
              <a:rPr lang="en-US" sz="1800" dirty="0">
                <a:solidFill>
                  <a:schemeClr val="bg1"/>
                </a:solidFill>
              </a:rPr>
              <a:t>unusable webpage</a:t>
            </a:r>
            <a:endParaRPr lang="hu-H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81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AB39A1-0236-3FE7-CD3B-EFF338AA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Swagger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B53D9B-E61D-1307-C271-9A09045405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API Documentation &amp; Design Tools for Teams</a:t>
            </a:r>
          </a:p>
        </p:txBody>
      </p:sp>
    </p:spTree>
    <p:extLst>
      <p:ext uri="{BB962C8B-B14F-4D97-AF65-F5344CB8AC3E}">
        <p14:creationId xmlns:p14="http://schemas.microsoft.com/office/powerpoint/2010/main" val="3379948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C867C1-0DE4-8428-C575-2F795B75CF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Swagger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D588FB-CA5F-E966-3D8D-A47E17FF5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C33CB0D-48C5-67C5-C5C5-CBF63B67B716}"/>
              </a:ext>
            </a:extLst>
          </p:cNvPr>
          <p:cNvSpPr txBox="1">
            <a:spLocks/>
          </p:cNvSpPr>
          <p:nvPr/>
        </p:nvSpPr>
        <p:spPr>
          <a:xfrm>
            <a:off x="357188" y="1079499"/>
            <a:ext cx="5524067" cy="52451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Framework for evaluating the maturity of web 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Main factors: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URI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HTTP Methods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HATEOAS (Hypermedia as The Engine of Application State)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RESTful principles: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Uniform interface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Stateless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Layered system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600" dirty="0" err="1"/>
              <a:t>Cacheability</a:t>
            </a:r>
            <a:endParaRPr lang="en-US" sz="1600" dirty="0"/>
          </a:p>
          <a:p>
            <a:pPr marL="971550" lvl="1" indent="-285750">
              <a:lnSpc>
                <a:spcPct val="150000"/>
              </a:lnSpc>
            </a:pPr>
            <a:r>
              <a:rPr lang="en-US" sz="1600" dirty="0"/>
              <a:t>Code on demand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3E500F0-1841-98E7-ED5A-9D37334FD020}"/>
              </a:ext>
            </a:extLst>
          </p:cNvPr>
          <p:cNvSpPr txBox="1">
            <a:spLocks/>
          </p:cNvSpPr>
          <p:nvPr/>
        </p:nvSpPr>
        <p:spPr>
          <a:xfrm>
            <a:off x="6310747" y="1079498"/>
            <a:ext cx="5524067" cy="52451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client sends a request to the server. The client follows the API documentation to format the request in a way that the server understands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server authenticates the client and confirms that the client has the right to make that request.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server receives the request and processes it internally.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server returns a response to the client. The response contains information that tells the client whether the request was successful. The response also includes any information that the client requested.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hlinkClick r:id="rId3"/>
              </a:rPr>
              <a:t>https://aws.amazon.com/what-is/restful-api/</a:t>
            </a:r>
            <a:endParaRPr lang="en-US" sz="16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hlinkClick r:id="rId4"/>
              </a:rPr>
              <a:t>https://yuminlee2.medium.com/rest-in-a-nutshell-ff7e85a7559b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319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37194-64B6-A769-AED6-7FE38C81E1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Swagger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9435BD-C635-60EB-8043-55E057F8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API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1BED97-5B5F-8642-711E-A9CEE1292BE4}"/>
              </a:ext>
            </a:extLst>
          </p:cNvPr>
          <p:cNvSpPr txBox="1">
            <a:spLocks/>
          </p:cNvSpPr>
          <p:nvPr/>
        </p:nvSpPr>
        <p:spPr>
          <a:xfrm>
            <a:off x="357188" y="1079499"/>
            <a:ext cx="5524067" cy="46458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Representational State Transfer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Software architectural style and resource oriented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Resources identified by URI’s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Client and server are independent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Stateless communication (-&gt; immutability)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Commonly implemented on top of HTTP</a:t>
            </a:r>
          </a:p>
        </p:txBody>
      </p:sp>
      <p:pic>
        <p:nvPicPr>
          <p:cNvPr id="8" name="Picture 7" descr="A diagram of a software application&#10;&#10;Description automatically generated">
            <a:extLst>
              <a:ext uri="{FF2B5EF4-FFF2-40B4-BE49-F238E27FC236}">
                <a16:creationId xmlns:a16="http://schemas.microsoft.com/office/drawing/2014/main" id="{0C6E119A-3F6A-9F00-6923-9CBD3E0E4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807" y="1079499"/>
            <a:ext cx="5374805" cy="381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41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94CAAA-F516-9C35-55BB-9EFD61893F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SWAGGER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BE57AE-B017-5F51-2DED-49913FC6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Resources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82F05D8C-536D-59D3-AA4B-C62FE5F49B7F}"/>
              </a:ext>
            </a:extLst>
          </p:cNvPr>
          <p:cNvSpPr txBox="1">
            <a:spLocks/>
          </p:cNvSpPr>
          <p:nvPr/>
        </p:nvSpPr>
        <p:spPr>
          <a:xfrm>
            <a:off x="357188" y="1079499"/>
            <a:ext cx="5524067" cy="46458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Every content is considered as a resource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Uniform Resource Identifier (URI)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Popular representations (of raw data):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800" dirty="0"/>
              <a:t>XML</a:t>
            </a:r>
          </a:p>
          <a:p>
            <a:pPr marL="971550" lvl="1" indent="-285750">
              <a:lnSpc>
                <a:spcPct val="150000"/>
              </a:lnSpc>
            </a:pPr>
            <a:r>
              <a:rPr lang="en-US" sz="1800" dirty="0"/>
              <a:t>JSON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Clients send requests to retrieve and manipulate resources through representations</a:t>
            </a:r>
          </a:p>
        </p:txBody>
      </p:sp>
      <p:pic>
        <p:nvPicPr>
          <p:cNvPr id="6" name="Picture 5" descr="A diagram of a computer program&#10;&#10;Description automatically generated with medium confidence">
            <a:extLst>
              <a:ext uri="{FF2B5EF4-FFF2-40B4-BE49-F238E27FC236}">
                <a16:creationId xmlns:a16="http://schemas.microsoft.com/office/drawing/2014/main" id="{AD5E3753-6B63-8EBC-B57E-0F461B473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140" y="1079499"/>
            <a:ext cx="5376672" cy="381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28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BC3F6F-84C3-BE9F-B13D-5F7222338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Swagger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46A74F-F5B2-CBFE-36DA-F0DF3108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Swagger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1E16E2AB-2085-EABB-1605-267B16916DD3}"/>
              </a:ext>
            </a:extLst>
          </p:cNvPr>
          <p:cNvSpPr txBox="1">
            <a:spLocks/>
          </p:cNvSpPr>
          <p:nvPr/>
        </p:nvSpPr>
        <p:spPr>
          <a:xfrm>
            <a:off x="357188" y="1079499"/>
            <a:ext cx="5524067" cy="464589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 framework for describing API’s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Comprehensible for developers and non-developers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Human and machine readable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Adjustable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Well organized and easily understandable documentation through UI</a:t>
            </a: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8658C084-4339-F9C0-BD1B-87B282D0E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07" y="225706"/>
            <a:ext cx="5277244" cy="61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20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E1F5D3-742E-CE17-C878-6154A9AF5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Swagger -&gt; Open API Initiative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21A5-BDAD-18D2-4E3D-72440AE11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Swagger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F4CE375-3258-60D3-6A1E-1F93F0CB1F1C}"/>
              </a:ext>
            </a:extLst>
          </p:cNvPr>
          <p:cNvSpPr txBox="1">
            <a:spLocks/>
          </p:cNvSpPr>
          <p:nvPr/>
        </p:nvSpPr>
        <p:spPr>
          <a:xfrm>
            <a:off x="457200" y="1079499"/>
            <a:ext cx="11174540" cy="50904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Originally known as the Swagger Specification – de facto API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OpenAPI</a:t>
            </a:r>
            <a:r>
              <a:rPr lang="en-US" sz="1800" dirty="0"/>
              <a:t> Specification (OAS) is a format to describe RESTful web services:</a:t>
            </a:r>
          </a:p>
          <a:p>
            <a:pPr marL="971550" lvl="1" indent="-285750"/>
            <a:r>
              <a:rPr lang="en-US" sz="1800" dirty="0"/>
              <a:t>Produce</a:t>
            </a:r>
          </a:p>
          <a:p>
            <a:pPr marL="971550" lvl="1" indent="-285750"/>
            <a:r>
              <a:rPr lang="en-US" sz="1800" dirty="0"/>
              <a:t>Consume</a:t>
            </a:r>
          </a:p>
          <a:p>
            <a:pPr marL="971550" lvl="1" indent="-285750"/>
            <a:r>
              <a:rPr lang="en-US" sz="1800" dirty="0"/>
              <a:t>Visualize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Programming language agnostic – identify and understand service capabilities for both computers and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Automatic documentation for a server interface</a:t>
            </a:r>
          </a:p>
          <a:p>
            <a:pPr marL="971550" lvl="1" indent="-285750"/>
            <a:r>
              <a:rPr lang="en-US" sz="1800" dirty="0"/>
              <a:t>Endpoints: availability and allowed operations</a:t>
            </a:r>
          </a:p>
          <a:p>
            <a:pPr marL="971550" lvl="1" indent="-285750"/>
            <a:r>
              <a:rPr lang="en-US" sz="1800" dirty="0"/>
              <a:t>Authentication methods</a:t>
            </a:r>
          </a:p>
          <a:p>
            <a:pPr marL="971550" lvl="1" indent="-285750"/>
            <a:r>
              <a:rPr lang="en-US" sz="1800" dirty="0"/>
              <a:t>Operation input and output parameters (query, path, header, cookies, request and response body)</a:t>
            </a:r>
          </a:p>
          <a:p>
            <a:pPr marL="285750" indent="-285750"/>
            <a:endParaRPr lang="en-US" sz="1800" dirty="0">
              <a:hlinkClick r:id="rId3"/>
            </a:endParaRPr>
          </a:p>
          <a:p>
            <a:pPr marL="285750" indent="-285750"/>
            <a:endParaRPr lang="en-US" sz="1800" dirty="0">
              <a:hlinkClick r:id="rId3"/>
            </a:endParaRPr>
          </a:p>
          <a:p>
            <a:pPr marL="285750" indent="-285750" algn="ctr"/>
            <a:r>
              <a:rPr lang="en-US" sz="1800" dirty="0">
                <a:hlinkClick r:id="rId3"/>
              </a:rPr>
              <a:t>https://www.openapis.org/?ref=blog.readme.com</a:t>
            </a:r>
            <a:endParaRPr lang="en-US" sz="1800" dirty="0"/>
          </a:p>
          <a:p>
            <a:pPr marL="971550" lvl="1" indent="-285750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6049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42B771D-849F-4EC9-8A88-DFB525FB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Utilities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32BB75F-4A08-460B-BEC2-0F44EA900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/>
              <a:t>Commonly used libraries and development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216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AE8F3D-2760-4D82-9332-D66FFB54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ECMAScript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3E74D-89C0-419A-A9C8-809B795E93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Utilities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405EA1E3-0798-418F-BD2A-6280F156555B}"/>
              </a:ext>
            </a:extLst>
          </p:cNvPr>
          <p:cNvSpPr txBox="1">
            <a:spLocks/>
          </p:cNvSpPr>
          <p:nvPr/>
        </p:nvSpPr>
        <p:spPr>
          <a:xfrm>
            <a:off x="457200" y="1079499"/>
            <a:ext cx="11174540" cy="50904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Commonly used for client-side scripting on World Wide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JavaScript standard to ensure the interoperability of web pages across different browsers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Always Up-to-date version: ESNext</a:t>
            </a:r>
          </a:p>
          <a:p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Make your work much easier if you know the standards for the different browsers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Downgrade is possible between different versions using additional tools and polyfills</a:t>
            </a:r>
          </a:p>
          <a:p>
            <a:pPr lvl="1"/>
            <a:r>
              <a:rPr lang="hu-HU" sz="1800" dirty="0"/>
              <a:t>Solves most of the problems with browser differencies</a:t>
            </a:r>
          </a:p>
          <a:p>
            <a:pPr lvl="1"/>
            <a:r>
              <a:rPr lang="hu-HU" sz="1800" dirty="0"/>
              <a:t>Does not replace testing!</a:t>
            </a:r>
          </a:p>
          <a:p>
            <a:pPr lvl="1"/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473929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D64CE5-EC9C-45A9-9C29-F28AFBA6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TypeScript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203612-F630-47BC-AB1B-80C9B1899F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Utilities</a:t>
            </a:r>
            <a:endParaRPr lang="en-US" dirty="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C387076E-EEDE-433E-BD67-6B2A9841AAC0}"/>
              </a:ext>
            </a:extLst>
          </p:cNvPr>
          <p:cNvSpPr txBox="1">
            <a:spLocks/>
          </p:cNvSpPr>
          <p:nvPr/>
        </p:nvSpPr>
        <p:spPr>
          <a:xfrm>
            <a:off x="457199" y="1079500"/>
            <a:ext cx="5260019" cy="375883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Typed JavaScript at any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Superlative for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Add ability for static type definitions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Provide a way to describe your application and lets you validate your code during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Transformed into JavaScript with TypeScript compiler or Babel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@types package usually have support for older/not TS libs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A3173C5-B6F5-4603-838A-0E578829DD9B}"/>
              </a:ext>
            </a:extLst>
          </p:cNvPr>
          <p:cNvSpPr txBox="1">
            <a:spLocks/>
          </p:cNvSpPr>
          <p:nvPr/>
        </p:nvSpPr>
        <p:spPr>
          <a:xfrm>
            <a:off x="6474784" y="457200"/>
            <a:ext cx="5332517" cy="49928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800" b="1" dirty="0"/>
              <a:t>Pros: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Better readibility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Reduce the number of possible typos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Self-documented results, possible replacement of JSDoc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Clean and simple code results</a:t>
            </a:r>
          </a:p>
          <a:p>
            <a:endParaRPr lang="hu-HU" sz="1800" dirty="0"/>
          </a:p>
          <a:p>
            <a:r>
              <a:rPr lang="hu-HU" sz="1800" b="1" dirty="0"/>
              <a:t>Cons: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Does not run in browsers (and it is not supposed 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Hard to configure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5780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502B-7870-42A7-855B-049968DF7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Package managers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B593-C303-44AF-906B-87E124E3B2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Utilities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CB995B-C168-4D37-A08C-DC1B99DC0732}"/>
              </a:ext>
            </a:extLst>
          </p:cNvPr>
          <p:cNvSpPr txBox="1">
            <a:spLocks/>
          </p:cNvSpPr>
          <p:nvPr/>
        </p:nvSpPr>
        <p:spPr>
          <a:xfrm>
            <a:off x="457199" y="1079500"/>
            <a:ext cx="5637276" cy="39896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1800" dirty="0"/>
              <a:t>NPM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Worlds largest software registry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Standard usage of JavaScript libraries</a:t>
            </a:r>
            <a:r>
              <a:rPr lang="hu-HU" sz="1800" dirty="0"/>
              <a:t> and utilities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Supported by most of the IDE’s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Online repository for open-source Node.js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Command-line utility for interaction with the repo </a:t>
            </a: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A</a:t>
            </a:r>
            <a:r>
              <a:rPr lang="en-US" sz="1800" dirty="0"/>
              <a:t>ids package installation, version and dependency management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3456483-A54D-4442-87BA-14A93B5A1D9B}"/>
              </a:ext>
            </a:extLst>
          </p:cNvPr>
          <p:cNvSpPr txBox="1">
            <a:spLocks/>
          </p:cNvSpPr>
          <p:nvPr/>
        </p:nvSpPr>
        <p:spPr>
          <a:xfrm>
            <a:off x="6094476" y="1075924"/>
            <a:ext cx="5637276" cy="409088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1800" dirty="0"/>
              <a:t>YARN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Also uses the NPM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Project management utility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Creates a more lightweight dependency tree than NPM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Usually a bit faster (in large repositories)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CD60EAB-7B16-E5FA-EE11-8B4D450340FB}"/>
              </a:ext>
            </a:extLst>
          </p:cNvPr>
          <p:cNvSpPr txBox="1">
            <a:spLocks/>
          </p:cNvSpPr>
          <p:nvPr/>
        </p:nvSpPr>
        <p:spPr>
          <a:xfrm>
            <a:off x="3275837" y="3980102"/>
            <a:ext cx="5637276" cy="264640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dirty="0"/>
              <a:t>PNPM</a:t>
            </a:r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Fully compatible with </a:t>
            </a:r>
            <a:r>
              <a:rPr lang="en-GB" sz="1800" dirty="0" err="1"/>
              <a:t>npm</a:t>
            </a:r>
            <a:r>
              <a:rPr lang="en-GB" sz="1800" dirty="0"/>
              <a:t> and Yarn repositories, facilitating easy migration for existing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Ideal for scenarios where disk space conservation is critical, making it suitable for large-scale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Files inside </a:t>
            </a:r>
            <a:r>
              <a:rPr lang="en-GB" sz="1800" dirty="0" err="1"/>
              <a:t>node_modules</a:t>
            </a:r>
            <a:r>
              <a:rPr lang="en-GB" sz="1800" dirty="0"/>
              <a:t> are cloned or hard linked from a single content-addressable storage.</a:t>
            </a:r>
          </a:p>
        </p:txBody>
      </p:sp>
    </p:spTree>
    <p:extLst>
      <p:ext uri="{BB962C8B-B14F-4D97-AF65-F5344CB8AC3E}">
        <p14:creationId xmlns:p14="http://schemas.microsoft.com/office/powerpoint/2010/main" val="1125436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F069C-8CC2-45F6-B574-526ACF17EF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Utilities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07B7E-479F-4BDF-9A76-8A594C78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Package.json</a:t>
            </a:r>
            <a:endParaRPr lang="en-US" dirty="0"/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ABE96C5-B4E8-4749-9D12-A5599A1C6BAD}"/>
              </a:ext>
            </a:extLst>
          </p:cNvPr>
          <p:cNvSpPr txBox="1">
            <a:spLocks/>
          </p:cNvSpPr>
          <p:nvPr/>
        </p:nvSpPr>
        <p:spPr>
          <a:xfrm>
            <a:off x="457199" y="1079499"/>
            <a:ext cx="5339919" cy="351025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Entry point for each package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Store version of the software, depencies for development and for the working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Describes what is necessary to run the created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Initialize your project with:</a:t>
            </a:r>
          </a:p>
          <a:p>
            <a:pPr lvl="1"/>
            <a:r>
              <a:rPr lang="hu-HU" sz="1800" b="1" dirty="0"/>
              <a:t>yarn init</a:t>
            </a:r>
            <a:br>
              <a:rPr lang="hu-HU" sz="1800" b="1" dirty="0"/>
            </a:br>
            <a:r>
              <a:rPr lang="hu-HU" sz="1800" dirty="0"/>
              <a:t>or</a:t>
            </a:r>
          </a:p>
          <a:p>
            <a:pPr lvl="1"/>
            <a:r>
              <a:rPr lang="hu-HU" sz="1800" b="1" dirty="0"/>
              <a:t>npm init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A725E-09C7-488B-96E6-BFD2812BA6C5}"/>
              </a:ext>
            </a:extLst>
          </p:cNvPr>
          <p:cNvSpPr txBox="1"/>
          <p:nvPr/>
        </p:nvSpPr>
        <p:spPr>
          <a:xfrm>
            <a:off x="6394882" y="1048427"/>
            <a:ext cx="533991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"test"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"version"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"0.0.1"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"description"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"little bit of description"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"main"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"index.js"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"license"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"MIT"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"dependencies"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"express"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"4.17.3"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devDependencies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"@types/express"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"4.17.13"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970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7FEF-D37C-48A8-8320-DB6CC589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Linting – ESLint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E1BCE-26CD-4DA6-8628-A6A862C4A8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Utilities</a:t>
            </a:r>
            <a:endParaRPr lang="en-US" dirty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B4D603C2-C009-49F1-817E-19A6FF97389A}"/>
              </a:ext>
            </a:extLst>
          </p:cNvPr>
          <p:cNvSpPr txBox="1">
            <a:spLocks/>
          </p:cNvSpPr>
          <p:nvPr/>
        </p:nvSpPr>
        <p:spPr>
          <a:xfrm>
            <a:off x="457199" y="1079499"/>
            <a:ext cx="11274552" cy="41760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Static code analysis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Indentify problematic patterns found in ES/JS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Covers code quality and coding style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Makes code more consistent to avoid bugs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Impose the coding standard using a certain set of standalone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Lets your project use the same writing style, e.g.:</a:t>
            </a:r>
          </a:p>
          <a:p>
            <a:pPr marL="971550" lvl="1" indent="-285750"/>
            <a:r>
              <a:rPr lang="hu-HU" sz="1800" dirty="0"/>
              <a:t>variable naming conventions</a:t>
            </a:r>
          </a:p>
          <a:p>
            <a:pPr marL="971550" lvl="1" indent="-285750"/>
            <a:r>
              <a:rPr lang="hu-HU" sz="1800" dirty="0"/>
              <a:t>tabs or space usage</a:t>
            </a:r>
          </a:p>
          <a:p>
            <a:pPr marL="971550" lvl="1" indent="-285750"/>
            <a:r>
              <a:rPr lang="hu-HU" sz="1800" dirty="0"/>
              <a:t>Single/double quotes for string</a:t>
            </a:r>
          </a:p>
          <a:p>
            <a:pPr marL="971550" lvl="1" indent="-285750"/>
            <a:r>
              <a:rPr lang="hu-HU" sz="1800" dirty="0"/>
              <a:t>Function styles</a:t>
            </a:r>
          </a:p>
          <a:p>
            <a:pPr marL="971550" lvl="1" indent="-285750"/>
            <a:r>
              <a:rPr lang="hu-HU" sz="1800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750499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7B2F-AA22-4C1D-9D87-ECB9E7A58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797425" cy="457200"/>
          </a:xfrm>
        </p:spPr>
        <p:txBody>
          <a:bodyPr/>
          <a:lstStyle/>
          <a:p>
            <a:r>
              <a:rPr lang="hu-HU" dirty="0"/>
              <a:t>Webpack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18983-F781-4334-888D-71088A8A1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Utilities</a:t>
            </a:r>
            <a:endParaRPr lang="en-US" dirty="0"/>
          </a:p>
        </p:txBody>
      </p:sp>
      <p:pic>
        <p:nvPicPr>
          <p:cNvPr id="4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D79A3CC1-CF7A-445D-8C53-FD44EEA87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937" y="1944424"/>
            <a:ext cx="5509776" cy="245093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2C065-F813-447E-B935-24383E6DF4CE}"/>
              </a:ext>
            </a:extLst>
          </p:cNvPr>
          <p:cNvSpPr txBox="1">
            <a:spLocks/>
          </p:cNvSpPr>
          <p:nvPr/>
        </p:nvSpPr>
        <p:spPr>
          <a:xfrm>
            <a:off x="357188" y="1079499"/>
            <a:ext cx="5429875" cy="51526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Webpack is module bundler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Can take care of bundling alongside a separate runner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From an entry point it:</a:t>
            </a:r>
          </a:p>
          <a:p>
            <a:pPr lvl="1"/>
            <a:r>
              <a:rPr lang="hu-HU" sz="1800" dirty="0"/>
              <a:t>Traverses the module imports (import / require)</a:t>
            </a:r>
          </a:p>
          <a:p>
            <a:pPr lvl="1"/>
            <a:r>
              <a:rPr lang="hu-HU" sz="1800" dirty="0"/>
              <a:t>Construct a dependency graph of the project</a:t>
            </a:r>
          </a:p>
          <a:p>
            <a:pPr lvl="1"/>
            <a:r>
              <a:rPr lang="hu-HU" sz="1800" dirty="0"/>
              <a:t>Generates output based on the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Can handle different formats via loaders</a:t>
            </a:r>
          </a:p>
          <a:p>
            <a:pPr lvl="1"/>
            <a:r>
              <a:rPr lang="hu-HU" sz="1800" dirty="0"/>
              <a:t>TypeScript</a:t>
            </a:r>
          </a:p>
          <a:p>
            <a:pPr lvl="1"/>
            <a:r>
              <a:rPr lang="hu-HU" sz="1800" dirty="0"/>
              <a:t>(S)CSS</a:t>
            </a:r>
          </a:p>
          <a:p>
            <a:pPr lvl="1"/>
            <a:r>
              <a:rPr lang="hu-HU" sz="1800" dirty="0"/>
              <a:t>Simple JavaScript</a:t>
            </a:r>
          </a:p>
          <a:p>
            <a:pPr lvl="1"/>
            <a:endParaRPr lang="hu-H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Can be used in other environments as well (e.g Ruby on Rails)</a:t>
            </a:r>
          </a:p>
        </p:txBody>
      </p:sp>
    </p:spTree>
    <p:extLst>
      <p:ext uri="{BB962C8B-B14F-4D97-AF65-F5344CB8AC3E}">
        <p14:creationId xmlns:p14="http://schemas.microsoft.com/office/powerpoint/2010/main" val="69526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932A21-06B3-43EE-8859-19CDD6CEC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292310"/>
            <a:ext cx="7541580" cy="923330"/>
          </a:xfrm>
        </p:spPr>
        <p:txBody>
          <a:bodyPr/>
          <a:lstStyle/>
          <a:p>
            <a:r>
              <a:rPr lang="hu-HU" dirty="0"/>
              <a:t>Node.JS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84C648-D800-446D-ABCB-3162C68F3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u-HU" dirty="0"/>
              <a:t>JavaScript runtime environment for backend</a:t>
            </a:r>
          </a:p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95242A7-DD43-49E7-8620-02BEEB336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8440" y="1686186"/>
            <a:ext cx="4003170" cy="244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12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FDBEAB-5765-4993-A421-8786F2FD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What is Node.JS?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ADE89-D107-4AF8-9E63-B9164F73E3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Node.JS</a:t>
            </a: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F5A27AF-B145-4585-929B-892B46D63E92}"/>
              </a:ext>
            </a:extLst>
          </p:cNvPr>
          <p:cNvSpPr txBox="1">
            <a:spLocks/>
          </p:cNvSpPr>
          <p:nvPr/>
        </p:nvSpPr>
        <p:spPr>
          <a:xfrm>
            <a:off x="457200" y="1079500"/>
            <a:ext cx="8757821" cy="382097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Open source server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Runs on all major platforms (e.g. Windows, Linux, Unix, Mac 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JavaScript on the server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Node is a single threaded, non-blocking asynchronous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What it can do in an efficient way:</a:t>
            </a:r>
          </a:p>
          <a:p>
            <a:pPr lvl="1"/>
            <a:r>
              <a:rPr lang="hu-HU" sz="1800" dirty="0"/>
              <a:t>Display dynamic page content</a:t>
            </a:r>
          </a:p>
          <a:p>
            <a:pPr lvl="1"/>
            <a:r>
              <a:rPr lang="hu-HU" sz="1800" dirty="0"/>
              <a:t>CRUD operations on server side files</a:t>
            </a:r>
          </a:p>
          <a:p>
            <a:pPr lvl="1"/>
            <a:r>
              <a:rPr lang="hu-HU" sz="1800" dirty="0"/>
              <a:t>Database communication</a:t>
            </a:r>
          </a:p>
          <a:p>
            <a:pPr lvl="1"/>
            <a:r>
              <a:rPr lang="hu-HU" sz="1800" dirty="0"/>
              <a:t>Socket handling: direct connection between clients through a server (e.g chats, P2P)</a:t>
            </a:r>
          </a:p>
          <a:p>
            <a:pPr lvl="1"/>
            <a:r>
              <a:rPr lang="hu-HU" sz="1800" dirty="0"/>
              <a:t>Proxy</a:t>
            </a:r>
          </a:p>
          <a:p>
            <a:pPr lvl="1"/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1744942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9CB6-5F16-4761-BB58-F82C71CF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Express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D141B-E0BC-4ABE-AF24-A1B1DC50E6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Node.JS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2ECE7-3185-4EEE-A09D-852F90020884}"/>
              </a:ext>
            </a:extLst>
          </p:cNvPr>
          <p:cNvSpPr txBox="1">
            <a:spLocks/>
          </p:cNvSpPr>
          <p:nvPr/>
        </p:nvSpPr>
        <p:spPr>
          <a:xfrm>
            <a:off x="357188" y="1079499"/>
            <a:ext cx="5637275" cy="422934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Fast and minimalist web framework for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Let’s you create a RESTful JSON Webservice through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Flexible and pluggable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Ability to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Ability to write middlewear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Supports MVC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800" dirty="0"/>
              <a:t>Supports templating engines</a:t>
            </a:r>
            <a:endParaRPr lang="en-US" sz="1800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7C9A09F-383D-4B6E-996B-7C493FCC0174}"/>
              </a:ext>
            </a:extLst>
          </p:cNvPr>
          <p:cNvSpPr txBox="1">
            <a:spLocks/>
          </p:cNvSpPr>
          <p:nvPr/>
        </p:nvSpPr>
        <p:spPr>
          <a:xfrm>
            <a:off x="6094476" y="1079499"/>
            <a:ext cx="5637276" cy="422934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sz="1800" dirty="0"/>
              <a:t>What is a HTTP RESTful API:</a:t>
            </a:r>
          </a:p>
          <a:p>
            <a:r>
              <a:rPr lang="hu-HU" sz="1800" dirty="0"/>
              <a:t>Supports CRUD operations through HTTP requests:</a:t>
            </a:r>
          </a:p>
          <a:p>
            <a:pPr lvl="1"/>
            <a:r>
              <a:rPr lang="hu-HU" sz="1800" dirty="0"/>
              <a:t>(C) POST to push new items</a:t>
            </a:r>
          </a:p>
          <a:p>
            <a:pPr lvl="1"/>
            <a:r>
              <a:rPr lang="hu-HU" sz="1800" dirty="0"/>
              <a:t>(R) GET requests for request data</a:t>
            </a:r>
          </a:p>
          <a:p>
            <a:pPr lvl="1"/>
            <a:r>
              <a:rPr lang="hu-HU" sz="1800" dirty="0"/>
              <a:t>(U) PUT to update existing items</a:t>
            </a:r>
          </a:p>
          <a:p>
            <a:pPr lvl="1"/>
            <a:r>
              <a:rPr lang="hu-HU" sz="1800" dirty="0"/>
              <a:t>(D) DELETE to remove data</a:t>
            </a:r>
          </a:p>
          <a:p>
            <a:r>
              <a:rPr lang="hu-HU" sz="1800" dirty="0"/>
              <a:t>Response tells if it was successful or not:</a:t>
            </a:r>
          </a:p>
          <a:p>
            <a:pPr lvl="1"/>
            <a:r>
              <a:rPr lang="hu-HU" sz="1800" dirty="0"/>
              <a:t>HTTP Status codes (e.g. 200 – OK, 404 – Not found, 500 – error)</a:t>
            </a:r>
          </a:p>
          <a:p>
            <a:pPr lvl="1"/>
            <a:r>
              <a:rPr lang="hu-HU" sz="1800" dirty="0"/>
              <a:t>Response body contains a JSON object with the result of the operation</a:t>
            </a:r>
          </a:p>
          <a:p>
            <a:pPr lvl="1"/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4145028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AF0B35-593D-4633-8EEC-71381430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Thank you!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2CF14C4-16A5-4980-85BA-25A8F0F9A2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07338" y="2286000"/>
            <a:ext cx="3827462" cy="257250"/>
          </a:xfrm>
        </p:spPr>
        <p:txBody>
          <a:bodyPr/>
          <a:lstStyle/>
          <a:p>
            <a:r>
              <a:rPr lang="hu-HU" dirty="0"/>
              <a:t>For more information, contact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677009E-38D1-4C2B-8752-4DEA825C0C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Peter Toth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C7E740-719E-4FAA-969A-E5A161443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Software Engineer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6B65EC7-8E1E-4B63-AA57-DD2D1F353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Peter_toth9</a:t>
            </a:r>
            <a:r>
              <a:rPr lang="hu-HU" dirty="0"/>
              <a:t>@epam.com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E1FFE50-5331-4E43-8B89-B385738B2A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07338" y="4572000"/>
            <a:ext cx="3827462" cy="852990"/>
          </a:xfrm>
        </p:spPr>
        <p:txBody>
          <a:bodyPr/>
          <a:lstStyle/>
          <a:p>
            <a:r>
              <a:rPr lang="hu-HU" dirty="0"/>
              <a:t>EPAM Debrecen</a:t>
            </a:r>
          </a:p>
          <a:p>
            <a:r>
              <a:rPr lang="hu-HU" dirty="0"/>
              <a:t>Tüzér street 4.</a:t>
            </a:r>
          </a:p>
          <a:p>
            <a:r>
              <a:rPr lang="hu-HU" dirty="0"/>
              <a:t>HU-4028 Debrecen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11862"/>
      </p:ext>
    </p:extLst>
  </p:cSld>
  <p:clrMapOvr>
    <a:masterClrMapping/>
  </p:clrMapOvr>
</p:sld>
</file>

<file path=ppt/theme/theme1.xml><?xml version="1.0" encoding="utf-8"?>
<a:theme xmlns:a="http://schemas.openxmlformats.org/drawingml/2006/main" name="EPAM Master 2021.3">
  <a:themeElements>
    <a:clrScheme name="Custom 3">
      <a:dk1>
        <a:srgbClr val="222222"/>
      </a:dk1>
      <a:lt1>
        <a:srgbClr val="FFFFFF"/>
      </a:lt1>
      <a:dk2>
        <a:srgbClr val="A0A0A0"/>
      </a:dk2>
      <a:lt2>
        <a:srgbClr val="F6F6F6"/>
      </a:lt2>
      <a:accent1>
        <a:srgbClr val="222222"/>
      </a:accent1>
      <a:accent2>
        <a:srgbClr val="76CDD8"/>
      </a:accent2>
      <a:accent3>
        <a:srgbClr val="FFC000"/>
      </a:accent3>
      <a:accent4>
        <a:srgbClr val="445464"/>
      </a:accent4>
      <a:accent5>
        <a:srgbClr val="008ACE"/>
      </a:accent5>
      <a:accent6>
        <a:srgbClr val="38C2D7"/>
      </a:accent6>
      <a:hlink>
        <a:srgbClr val="76CDD8"/>
      </a:hlink>
      <a:folHlink>
        <a:srgbClr val="A0A0A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117DE914E1FC49A35D90CD8516D943" ma:contentTypeVersion="12" ma:contentTypeDescription="Create a new document." ma:contentTypeScope="" ma:versionID="e1f7c3316c007ddcbbfc786aee0f30b6">
  <xsd:schema xmlns:xsd="http://www.w3.org/2001/XMLSchema" xmlns:xs="http://www.w3.org/2001/XMLSchema" xmlns:p="http://schemas.microsoft.com/office/2006/metadata/properties" xmlns:ns2="58f349b0-675b-4c01-8ee6-14db8fa12501" xmlns:ns3="df44d29e-ce0d-48fd-88bf-98e6a958fd4b" targetNamespace="http://schemas.microsoft.com/office/2006/metadata/properties" ma:root="true" ma:fieldsID="ebdd3e3611f83f5edb1b485483198b2e" ns2:_="" ns3:_="">
    <xsd:import namespace="58f349b0-675b-4c01-8ee6-14db8fa12501"/>
    <xsd:import namespace="df44d29e-ce0d-48fd-88bf-98e6a958fd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349b0-675b-4c01-8ee6-14db8fa125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44d29e-ce0d-48fd-88bf-98e6a958fd4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5DB04F-7584-4690-B257-DA90A69356DD}">
  <ds:schemaRefs>
    <ds:schemaRef ds:uri="58f349b0-675b-4c01-8ee6-14db8fa12501"/>
    <ds:schemaRef ds:uri="df44d29e-ce0d-48fd-88bf-98e6a958fd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12E3419-B313-4514-AD24-D56E1F80A63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7CA341C-74C1-4577-8C96-EF2605DC52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3267</TotalTime>
  <Words>2056</Words>
  <Application>Microsoft Office PowerPoint</Application>
  <PresentationFormat>Widescreen</PresentationFormat>
  <Paragraphs>367</Paragraphs>
  <Slides>28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__Inter_d65c78</vt:lpstr>
      <vt:lpstr>Arial</vt:lpstr>
      <vt:lpstr>Calibri</vt:lpstr>
      <vt:lpstr>Calibri Bold</vt:lpstr>
      <vt:lpstr>Calibri Light</vt:lpstr>
      <vt:lpstr>Consolas</vt:lpstr>
      <vt:lpstr>Courier New</vt:lpstr>
      <vt:lpstr>EPAM Master 2021.3</vt:lpstr>
      <vt:lpstr>NodeJS and tools to use</vt:lpstr>
      <vt:lpstr>Agenda</vt:lpstr>
      <vt:lpstr>HTTP</vt:lpstr>
      <vt:lpstr>HyperText Transfer Protocol</vt:lpstr>
      <vt:lpstr>HTTP Request</vt:lpstr>
      <vt:lpstr>HTTP Response</vt:lpstr>
      <vt:lpstr>Headers</vt:lpstr>
      <vt:lpstr>How the web works through HTTP</vt:lpstr>
      <vt:lpstr>The old school</vt:lpstr>
      <vt:lpstr>The asynchronous way</vt:lpstr>
      <vt:lpstr>Async pros &amp; cons</vt:lpstr>
      <vt:lpstr>Swagger</vt:lpstr>
      <vt:lpstr>REST</vt:lpstr>
      <vt:lpstr>REST API</vt:lpstr>
      <vt:lpstr>REST Resources</vt:lpstr>
      <vt:lpstr>Swagger</vt:lpstr>
      <vt:lpstr>Swagger -&gt; Open API Initiative</vt:lpstr>
      <vt:lpstr>Utilities</vt:lpstr>
      <vt:lpstr>ECMAScript</vt:lpstr>
      <vt:lpstr>TypeScript</vt:lpstr>
      <vt:lpstr>Package managers</vt:lpstr>
      <vt:lpstr>Package.json</vt:lpstr>
      <vt:lpstr>Linting – ESLint</vt:lpstr>
      <vt:lpstr>Webpack</vt:lpstr>
      <vt:lpstr>Node.JS</vt:lpstr>
      <vt:lpstr>What is Node.JS?</vt:lpstr>
      <vt:lpstr>Express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Palina Vilava</dc:creator>
  <cp:lastModifiedBy>Peter Toth9</cp:lastModifiedBy>
  <cp:revision>455</cp:revision>
  <dcterms:created xsi:type="dcterms:W3CDTF">2020-10-27T12:12:11Z</dcterms:created>
  <dcterms:modified xsi:type="dcterms:W3CDTF">2025-03-04T14:52:50Z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0x010100BA117DE914E1FC49A35D90CD8516D943</vt:lpwstr>
  </property>
</Properties>
</file>