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4"/>
  </p:sldMasterIdLst>
  <p:notesMasterIdLst>
    <p:notesMasterId r:id="rId39"/>
  </p:notesMasterIdLst>
  <p:sldIdLst>
    <p:sldId id="256" r:id="rId5"/>
    <p:sldId id="257" r:id="rId6"/>
    <p:sldId id="258" r:id="rId7"/>
    <p:sldId id="259" r:id="rId8"/>
    <p:sldId id="260" r:id="rId9"/>
    <p:sldId id="300" r:id="rId10"/>
    <p:sldId id="301" r:id="rId11"/>
    <p:sldId id="302" r:id="rId12"/>
    <p:sldId id="308" r:id="rId13"/>
    <p:sldId id="309" r:id="rId14"/>
    <p:sldId id="312" r:id="rId15"/>
    <p:sldId id="313" r:id="rId16"/>
    <p:sldId id="314" r:id="rId17"/>
    <p:sldId id="315" r:id="rId18"/>
    <p:sldId id="303" r:id="rId19"/>
    <p:sldId id="318" r:id="rId20"/>
    <p:sldId id="305" r:id="rId21"/>
    <p:sldId id="306" r:id="rId22"/>
    <p:sldId id="307" r:id="rId23"/>
    <p:sldId id="310" r:id="rId24"/>
    <p:sldId id="311" r:id="rId25"/>
    <p:sldId id="278" r:id="rId26"/>
    <p:sldId id="316" r:id="rId27"/>
    <p:sldId id="280" r:id="rId28"/>
    <p:sldId id="279" r:id="rId29"/>
    <p:sldId id="281" r:id="rId30"/>
    <p:sldId id="282" r:id="rId31"/>
    <p:sldId id="283" r:id="rId32"/>
    <p:sldId id="284" r:id="rId33"/>
    <p:sldId id="285" r:id="rId34"/>
    <p:sldId id="317" r:id="rId35"/>
    <p:sldId id="286" r:id="rId36"/>
    <p:sldId id="289" r:id="rId37"/>
    <p:sldId id="299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E561F3-0CF7-5FFA-8815-A71D8F2003BE}" name="Jozsef Gal (3P)" initials="JG(" userId="S::Jozsef.Gal@logmein.com::a8e9f371-7cae-4f0d-a9b6-21cbce983865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zhalika Levandouskaya" initials="AL" lastIdx="43" clrIdx="0">
    <p:extLst>
      <p:ext uri="{19B8F6BF-5375-455C-9EA6-DF929625EA0E}">
        <p15:presenceInfo xmlns:p15="http://schemas.microsoft.com/office/powerpoint/2012/main" userId="S::Anzhalika_Levandouskaya@epam.com::92adfee3-e19f-494c-b48e-2a057e813db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94" autoAdjust="0"/>
    <p:restoredTop sz="94595" autoAdjust="0"/>
  </p:normalViewPr>
  <p:slideViewPr>
    <p:cSldViewPr snapToGrid="0">
      <p:cViewPr varScale="1">
        <p:scale>
          <a:sx n="108" d="100"/>
          <a:sy n="108" d="100"/>
        </p:scale>
        <p:origin x="144" y="3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commentAuthors" Target="commentAuthors.xml"/><Relationship Id="rId45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6DA449-81D0-4C65-80FA-E84926361CC3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A5C3A5-A464-4897-B884-BB9B35180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570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1232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507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dirty="0"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726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256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svg"/><Relationship Id="rId4" Type="http://schemas.openxmlformats.org/officeDocument/2006/relationships/image" Target="../media/image1.png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epa.ms/stories" TargetMode="Externa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39377C-8642-441F-BDC6-500DB01AD362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64897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215444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spc="300">
                <a:solidFill>
                  <a:schemeClr val="bg2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JANUARY 2022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421FFBE-FD73-4914-B88C-A205297E29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776" y="610099"/>
            <a:ext cx="1070464" cy="37725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1FA7817-3B6C-3F4A-B7B9-1C24248B0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965960"/>
            <a:ext cx="5764213" cy="184665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931154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39377C-8642-441F-BDC6-500DB01AD362}"/>
              </a:ext>
            </a:extLst>
          </p:cNvPr>
          <p:cNvSpPr/>
          <p:nvPr userDrawn="1"/>
        </p:nvSpPr>
        <p:spPr bwMode="auto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55192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3566160" cy="21544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US" sz="1400" spc="300" dirty="0">
                <a:solidFill>
                  <a:schemeClr val="bg2"/>
                </a:solidFill>
                <a:effectLst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JANUARY 2022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1A216CA-E680-42EB-BC45-95A09D6275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8" y="0"/>
            <a:ext cx="6096001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1AA8C38-4FF3-4F33-8B0F-196D0BC791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776" y="610099"/>
            <a:ext cx="1070464" cy="377256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FB842CEE-8A53-0D42-A72B-7D63B1ED3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965960"/>
            <a:ext cx="5486400" cy="184665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120100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188486-1E04-4170-877E-F561315E0F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64897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215444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spc="300"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JANUARY 2022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E8C851A-E2E7-4523-9F42-0BB009E564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776" y="610099"/>
            <a:ext cx="1070464" cy="377256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D6769452-030B-5548-B575-999D639F6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965960"/>
            <a:ext cx="5755248" cy="184665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656130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">
            <a:extLst>
              <a:ext uri="{FF2B5EF4-FFF2-40B4-BE49-F238E27FC236}">
                <a16:creationId xmlns:a16="http://schemas.microsoft.com/office/drawing/2014/main" id="{7D36EB9C-BBDB-7447-884B-AC6C7C7D1D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wrap="square">
            <a:spAutoFit/>
          </a:bodyPr>
          <a:lstStyle>
            <a:lvl1pPr>
              <a:defRPr sz="60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CE784D3-D287-664F-80A6-CBA29DD12F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86639" y="119103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29A1CE94-599A-5146-9EFB-9AEECE4367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86639" y="1884106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0E828E5-70FD-D449-B964-390D8366EA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6639" y="256701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23D1ADF7-7F17-9F4A-A000-26CFD756A3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86639" y="326007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C8974FB4-0DC4-9A48-849B-3445C17323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6639" y="39429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B70AEBB-A750-864B-B6BD-21B4D0EFE2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6639" y="462589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B6A80AC0-F1D6-7541-A91C-C279FD1948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8930" y="119103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8BEB51A-F18F-5749-809D-EC078A513A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18930" y="1884106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C6735154-D863-074C-BEF0-25E8F08360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18930" y="256701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C373B72A-00B1-9E4F-BC7F-202B2AC57F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8930" y="326007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A584DDAC-74C3-8649-AA09-BE37E59266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18930" y="39429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BE98457-B105-874C-9706-66BA69C1AF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8930" y="462589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6C8558E-5624-D848-B1A3-4B79F93D0AC1}"/>
              </a:ext>
            </a:extLst>
          </p:cNvPr>
          <p:cNvCxnSpPr>
            <a:cxnSpLocks/>
          </p:cNvCxnSpPr>
          <p:nvPr userDrawn="1"/>
        </p:nvCxnSpPr>
        <p:spPr>
          <a:xfrm>
            <a:off x="3725348" y="914400"/>
            <a:ext cx="0" cy="525780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9542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51F759-2C51-4E26-B317-26DFEBAE952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wrap="square">
            <a:spAutoFit/>
          </a:bodyPr>
          <a:lstStyle>
            <a:lvl1pPr>
              <a:defRPr sz="6000" b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4A4A7-1D42-43C4-8DAE-D39D601741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86639" y="119103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14B7CA8-C6E3-4D9A-BDD1-5A660A9FF4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86639" y="1884106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9CF7C84-314E-4FB2-901C-E4AD0E7593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6639" y="256701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4E24727-48EE-48AA-9B6F-F26524FCED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86639" y="326007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8BC4A81-2FF3-4AC4-8F40-4F95105F59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6639" y="39429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53DF3A1-A093-468B-B30D-D2DB4C1595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6639" y="462589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3338DC0-8609-4542-8807-E7838F7CE5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8930" y="119103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3948224-37C6-4D02-AFD9-C1D88C1C07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18930" y="1884106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BDE3CEE-0230-44C2-A389-A8747AA6BB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18930" y="256701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6BF9761-22A6-4919-B7B5-2A027DDC6D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8930" y="326007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BA13C9B-9D26-4B3E-8215-17F0475C20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18930" y="39429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4AC5FFC-6616-4F1B-B644-F0560ADC7E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8930" y="462589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F2C7208-C4AB-4962-96F0-F897DFFC37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5DCFC83-97AB-BE40-9059-9CE8B2021737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040CC96-6026-B04A-A42D-A7A8F52BBA69}"/>
              </a:ext>
            </a:extLst>
          </p:cNvPr>
          <p:cNvCxnSpPr>
            <a:cxnSpLocks/>
          </p:cNvCxnSpPr>
          <p:nvPr userDrawn="1"/>
        </p:nvCxnSpPr>
        <p:spPr>
          <a:xfrm>
            <a:off x="3725348" y="914400"/>
            <a:ext cx="0" cy="525780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AE04C751-FBC9-3B46-AAD4-46BD8DFA5D3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438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DE24B927-3EC2-4323-B375-35AD1C731AD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2503D5-C016-4D7F-83A5-0A293996B8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74065B5-82CF-0942-A54C-2DA21F896678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32" name="Title 2">
            <a:extLst>
              <a:ext uri="{FF2B5EF4-FFF2-40B4-BE49-F238E27FC236}">
                <a16:creationId xmlns:a16="http://schemas.microsoft.com/office/drawing/2014/main" id="{481E60FF-59F4-A045-B79D-392594C3A2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wrap="square">
            <a:spAutoFit/>
          </a:bodyPr>
          <a:lstStyle>
            <a:lvl1pPr>
              <a:defRPr sz="6000" b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E107DFBB-2291-EC41-BE16-FC9C5276EA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86639" y="119103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D13EC089-F387-EA41-87D3-D7758396AE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86639" y="1884106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2C0E4EA0-AEC6-2040-9DC8-9823144C8D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6639" y="256701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019E3807-3E52-E344-BE1D-80D26E0087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86639" y="326007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CB1D9E5D-6DB8-F543-AD52-933C5C991D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6639" y="39429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DCAEE080-41A6-D445-8E6D-2AF68332C8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6639" y="462589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D24A6FF9-0ADC-3D4D-B95A-23ED94770AE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8930" y="119103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17202BF7-08E8-0642-B5BB-1D4E28A49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18930" y="1884106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1DF2E15-278E-BB41-AB8F-A0A51FACFD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18930" y="256701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770D617C-6EF1-9847-9E19-F322FAC38A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8930" y="326007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C49568AB-E132-0347-B868-577B88807D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18930" y="39429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BA277EC2-1880-A64A-8CD9-EAFCECD5EA2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8930" y="462589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D8C977B-490A-7A40-83B1-341231F1E4DA}"/>
              </a:ext>
            </a:extLst>
          </p:cNvPr>
          <p:cNvCxnSpPr>
            <a:cxnSpLocks/>
          </p:cNvCxnSpPr>
          <p:nvPr userDrawn="1"/>
        </p:nvCxnSpPr>
        <p:spPr>
          <a:xfrm>
            <a:off x="3725348" y="914400"/>
            <a:ext cx="0" cy="525780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F46579F0-C0D7-394C-ABF4-CA5A1613E04C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36595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F03CD9-50C7-44B7-B928-FC1A6F913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292310"/>
            <a:ext cx="7450138" cy="923330"/>
          </a:xfrm>
        </p:spPr>
        <p:txBody>
          <a:bodyPr wrap="square">
            <a:spAutoFit/>
          </a:bodyPr>
          <a:lstStyle>
            <a:lvl1pPr>
              <a:defRPr sz="6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97BD5-071C-4070-AB48-99AEFB09E7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429000"/>
            <a:ext cx="8632825" cy="20574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71567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D1CE3-09AB-4B8F-B4EA-802DA1F8168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B0330134-8A98-4980-8768-0A6F674089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292310"/>
            <a:ext cx="7450138" cy="923330"/>
          </a:xfrm>
        </p:spPr>
        <p:txBody>
          <a:bodyPr wrap="square">
            <a:spAutoFit/>
          </a:bodyPr>
          <a:lstStyle>
            <a:lvl1pPr>
              <a:defRPr sz="60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5AAE230-03E7-412A-8ABA-3FCF002106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429000"/>
            <a:ext cx="8632825" cy="20574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D39377C-A4AF-4B79-9CA5-600FF7C9A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1E7284-C854-184C-A06D-CACC02F73E92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8A1A574-71CC-6640-9BC0-9339C3ABCCC1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891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C1C81F5-54D7-4540-9257-18BFF40092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2C8D4D26-39BC-439E-9736-9CE3385DD9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292310"/>
            <a:ext cx="7450138" cy="923330"/>
          </a:xfrm>
        </p:spPr>
        <p:txBody>
          <a:bodyPr wrap="square">
            <a:spAutoFit/>
          </a:bodyPr>
          <a:lstStyle>
            <a:lvl1pPr>
              <a:defRPr sz="60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33501BA-291D-41ED-BCBD-8B23A9C86C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429000"/>
            <a:ext cx="8632825" cy="20574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0D9AC8-F415-4F41-81BB-33EEA9AD7083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CAD51B5-4F0B-1246-8F71-7B2D95B954E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1B932DC-E0AB-5041-A632-07A26B0EB2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3828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35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Up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2817990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E4F57360-96E0-124A-8B27-F0C4589ED9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12147"/>
            <a:ext cx="11274552" cy="2769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19162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99213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90717A-8E85-0A40-B27D-E9A4F8826E8E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18CE59C-541D-F946-A8DA-A4B9F8BF47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83E1B4-D017-3E4B-8268-79DFC41DB4DB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67E2E61-17F9-0842-9210-A1111E25B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548B8AD-0CC3-5248-932C-F8A325C1B4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4D782FD-394E-974B-830A-5392AB47CB04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14885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6022081" cy="685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3619500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240792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C0BE653-C375-415A-859B-2A7348B8E4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6250" y="1600200"/>
            <a:ext cx="4991100" cy="188231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6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036E7A-2B84-45D1-985C-C2AD71420C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2835445" y="3152602"/>
            <a:ext cx="6858002" cy="552793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6275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9820274" y="0"/>
            <a:ext cx="237172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557E5-085D-F44F-B30C-91E51AE491D3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E178E08-6B21-2843-9385-4D9886760A91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E8C029E-1B45-494C-B838-1704772FF7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6C1CA1B-2E41-DA49-A688-13BC11756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6546028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231057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557E5-085D-F44F-B30C-91E51AE491D3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E178E08-6B21-2843-9385-4D9886760A91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E8C029E-1B45-494C-B838-1704772FF7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6C1CA1B-2E41-DA49-A688-13BC11756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6546028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02665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4955F73-BCD8-4858-BDA2-D30A6DDD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5689"/>
            <a:ext cx="4797425" cy="338554"/>
          </a:xfrm>
        </p:spPr>
        <p:txBody>
          <a:bodyPr>
            <a:spAutoFit/>
          </a:bodyPr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DB3700-A2AA-CC46-AB06-739575CE1198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8F2DB0F-A762-9841-A4D7-8B6F3D5251E5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964562"/>
            <a:ext cx="3291840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3291840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9EA3FB-C095-0948-83CD-4F812F3CA4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6610829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870588-DEAA-3B45-9A4B-86DCE176308E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4797425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1F9CF-CDF3-4EE6-A083-D93A581134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233F4-4BA6-EC46-8DB3-143A95D5459A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8E027D5-10AF-5247-B60F-C8B2D62BC775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2947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Study-1/2 Pictur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870588-DEAA-3B45-9A4B-86DCE176308E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4797425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1F9CF-CDF3-4EE6-A083-D93A581134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233F4-4BA6-EC46-8DB3-143A95D5459A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8E027D5-10AF-5247-B60F-C8B2D62BC775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39366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 userDrawn="1"/>
        </p:nvSpPr>
        <p:spPr bwMode="auto">
          <a:xfrm>
            <a:off x="4302124" y="0"/>
            <a:ext cx="78898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1" y="469900"/>
            <a:ext cx="3606927" cy="338554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211704-E6A2-554A-83D7-019EF0F003D0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4E06C20-AA8E-8342-A500-79B18C390223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14697" y="0"/>
            <a:ext cx="7877303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03B5AFB-E799-0442-BA28-6AF5A02967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8540959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 userDrawn="1"/>
        </p:nvSpPr>
        <p:spPr bwMode="auto">
          <a:xfrm>
            <a:off x="4302124" y="0"/>
            <a:ext cx="78898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1" y="924339"/>
            <a:ext cx="3606927" cy="338554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211704-E6A2-554A-83D7-019EF0F003D0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4E06C20-AA8E-8342-A500-79B18C390223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14697" y="0"/>
            <a:ext cx="7877303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961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5EB0785-A8B2-B844-97DC-362F6DEDBA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2365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16002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D48285-8885-4D22-8AE4-172AF61141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D02C5AA0-D8CE-634A-97A8-97B2BC7150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750798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5D96D1E-C1BD-6F40-A978-D03F53CD4A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1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3142357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2407920" cy="677108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240792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036E7A-2B84-45D1-985C-C2AD71420C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E8FAB7B-4710-4747-B680-F6B4F0097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08325" y="0"/>
            <a:ext cx="9083675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876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430212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A9547FE-7857-4A70-ACDF-06ACC0CC38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1BCE546-F0EF-2742-9891-475F8219D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99646"/>
            <a:ext cx="3606927" cy="338554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2196D5E-2DE5-E948-A22F-E057A6B999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6075238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927353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1613153"/>
            <a:ext cx="4784852" cy="296574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F61EEF5-D25E-43F9-9DE7-B0D48CE58D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E184C37-FA49-E94C-B478-B1492E6E7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7000874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2407920" cy="677108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240792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B0227B-1090-48E9-B33D-CB9CA73DF05F}"/>
              </a:ext>
            </a:extLst>
          </p:cNvPr>
          <p:cNvSpPr/>
          <p:nvPr userDrawn="1"/>
        </p:nvSpPr>
        <p:spPr bwMode="auto">
          <a:xfrm flipH="1">
            <a:off x="3108325" y="0"/>
            <a:ext cx="908367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CC76E4-4D68-894E-AF17-C8188D17CE71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4E5246D-43F4-5946-BF12-EAA7EF1F6B9B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5467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E70CA8-AE5E-9144-B51A-3DB9B2B912F8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2E37B5-D917-F347-A92A-FFF42F041ED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8B879C7-3885-2143-A73F-46BF26852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797425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C884B43-5420-8A44-BD3B-D88B17EDD055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1494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8C65148-4BCC-48BC-8E7B-05AA01088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7139"/>
            <a:ext cx="4797425" cy="338554"/>
          </a:xfrm>
        </p:spPr>
        <p:txBody>
          <a:bodyPr>
            <a:spAutoFit/>
          </a:bodyPr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55E40-4D84-A94C-A4CB-F465F24AE156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0D87F5D-4F0F-994A-BFA6-46BC2DD6C51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6A52748-F772-0748-94C9-3767AF238C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76920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9820275" y="0"/>
            <a:ext cx="2371722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8C65148-4BCC-48BC-8E7B-05AA01088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7139"/>
            <a:ext cx="4797425" cy="338554"/>
          </a:xfrm>
        </p:spPr>
        <p:txBody>
          <a:bodyPr>
            <a:spAutoFit/>
          </a:bodyPr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55E40-4D84-A94C-A4CB-F465F24AE156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0D87F5D-4F0F-994A-BFA6-46BC2DD6C51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6A52748-F772-0748-94C9-3767AF238C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465376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4D51ED0-4D08-4641-87AC-8F2B5E2A3B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703936-AD1E-BD44-91CB-919F81D7BFEC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D1BED4F-175D-FF44-A003-4A5C8D212304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091CD3F7-14AE-A849-9B73-75D2354D484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090E848-D90D-3040-B1C3-7D33F1A7A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7353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0EAA2BB-1929-1344-BB72-B8696E5C93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1613153"/>
            <a:ext cx="4784852" cy="296574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6C52A15-EBCB-2E4D-B9B0-C28E4B5B7D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2024952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Statem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E44CDB4-CF54-423C-9681-C9AAACA56B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4CC298-22F4-2C44-B143-5C071C1464AE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64434E4-9DFC-C54A-8FA5-A3977779F6DB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74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Pictur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753526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3434928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3760" y="2753526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3760" y="3434928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70320" y="2753526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0320" y="3434928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D35C967-D122-42CE-BDAF-F34B55F00EA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26880" y="2753526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54FDC613-45BE-47C3-82C5-FC027C2DE4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26880" y="3434928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84AF8F5-D562-4FBF-9069-09A640AACD0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63731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4F5537FA-B25A-4A75-AFE8-CB3D2D4EA78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13442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62EC0755-06FE-418F-830B-3953EAC2B2B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363153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5145A383-DF32-4D59-98B6-07591E0CE3E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312864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1609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1" y="4124960"/>
            <a:ext cx="3312160" cy="246221"/>
          </a:xfrm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40767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2F7B19A9-71C0-403D-B507-22838A53F14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76700" y="0"/>
            <a:ext cx="4064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84A1708-3D5F-4AC2-B35F-FB446EFEB7C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40700" y="0"/>
            <a:ext cx="4064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7BF9D5A-73E5-43EB-95F4-FF56369516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4697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AC52B6B-2068-4BD5-8D7B-E2AA5CC142A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06449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6DCAB-CD09-4E29-A907-70E7EBE0E68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02125" y="4124325"/>
            <a:ext cx="3311525" cy="2462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600" b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9A5C7D-52BE-42FF-9382-B63BBD810F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406449" y="4114800"/>
            <a:ext cx="3312160" cy="2462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600" b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83406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615E796-86B4-4C38-A923-10DBDCC4B9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3" y="6469379"/>
            <a:ext cx="1382049" cy="9144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95D56692-426B-4F40-8BC1-45B989D4414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48777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32D43E18-54F7-4125-A364-D733497B4F3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7555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0D751945-7936-4E08-A1DF-7F344072146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146333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C432762-A502-4EDF-9936-2F1B5B291C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3F49D1-094C-794E-ADD9-2E27004213E7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B996F9F-D55F-FD42-A589-2783B304344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mtClean="0">
                <a:solidFill>
                  <a:schemeClr val="tx1"/>
                </a:solidFill>
              </a:rPr>
              <a:pPr lvl="0"/>
              <a:t>‹#›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30376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">
    <p:bg>
      <p:bgPr>
        <a:solidFill>
          <a:srgbClr val="ABD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3971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143000"/>
            <a:ext cx="3312160" cy="594137"/>
          </a:xfr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39920" y="1143000"/>
            <a:ext cx="3312160" cy="594137"/>
          </a:xfr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39920" y="2067560"/>
            <a:ext cx="3312160" cy="3542958"/>
          </a:xfr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22640" y="1143000"/>
            <a:ext cx="3312160" cy="594137"/>
          </a:xfr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22640" y="2067560"/>
            <a:ext cx="3312160" cy="3542958"/>
          </a:xfr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endParaRPr lang="en-US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74046861-98EF-8743-9C12-267EC1D8E7B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57200" y="2730381"/>
            <a:ext cx="3614738" cy="13716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400" baseline="0">
                <a:latin typeface="+mn-lt"/>
              </a:defRPr>
            </a:lvl1pPr>
          </a:lstStyle>
          <a:p>
            <a:r>
              <a:rPr lang="en-US"/>
              <a:t>Click icon to add BLACK &amp; WHITE PHOTO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8A666C02-EA3A-C441-B424-21DB595FE3C2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57200" y="4238918"/>
            <a:ext cx="3614738" cy="13716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400" baseline="0">
                <a:latin typeface="+mn-lt"/>
              </a:defRPr>
            </a:lvl1pPr>
          </a:lstStyle>
          <a:p>
            <a:r>
              <a:rPr lang="en-US"/>
              <a:t>Click icon to add BLACK &amp; WHITE PHOTO</a:t>
            </a:r>
          </a:p>
        </p:txBody>
      </p:sp>
    </p:spTree>
    <p:extLst>
      <p:ext uri="{BB962C8B-B14F-4D97-AF65-F5344CB8AC3E}">
        <p14:creationId xmlns:p14="http://schemas.microsoft.com/office/powerpoint/2010/main" val="11732373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71FB1-EED5-E148-9A93-A29EB92D16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56397" y="1220724"/>
            <a:ext cx="7892478" cy="2712730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5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61F754-B893-AE42-8D75-BA81D1A9A8FF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BD9E730-867D-BF4D-8996-7605F868D97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0D6E288-882B-514C-B335-273A187E20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grpSp>
        <p:nvGrpSpPr>
          <p:cNvPr id="8" name="Graphic 4">
            <a:extLst>
              <a:ext uri="{FF2B5EF4-FFF2-40B4-BE49-F238E27FC236}">
                <a16:creationId xmlns:a16="http://schemas.microsoft.com/office/drawing/2014/main" id="{823A4988-0868-304B-AD24-7AFF2D3D342A}"/>
              </a:ext>
            </a:extLst>
          </p:cNvPr>
          <p:cNvGrpSpPr/>
          <p:nvPr userDrawn="1"/>
        </p:nvGrpSpPr>
        <p:grpSpPr>
          <a:xfrm>
            <a:off x="494098" y="228600"/>
            <a:ext cx="1309173" cy="952500"/>
            <a:chOff x="1851964" y="2058769"/>
            <a:chExt cx="424433" cy="308800"/>
          </a:xfrm>
          <a:solidFill>
            <a:schemeClr val="bg2">
              <a:lumMod val="25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FDBA4B6-758F-E547-A4C5-72E7C40C04B9}"/>
                </a:ext>
              </a:extLst>
            </p:cNvPr>
            <p:cNvSpPr/>
            <p:nvPr/>
          </p:nvSpPr>
          <p:spPr>
            <a:xfrm>
              <a:off x="1851964" y="2058769"/>
              <a:ext cx="196214" cy="308800"/>
            </a:xfrm>
            <a:custGeom>
              <a:avLst/>
              <a:gdLst>
                <a:gd name="connsiteX0" fmla="*/ 96202 w 196214"/>
                <a:gd name="connsiteY0" fmla="*/ 0 h 308800"/>
                <a:gd name="connsiteX1" fmla="*/ 166211 w 196214"/>
                <a:gd name="connsiteY1" fmla="*/ 31909 h 308800"/>
                <a:gd name="connsiteX2" fmla="*/ 188119 w 196214"/>
                <a:gd name="connsiteY2" fmla="*/ 67913 h 308800"/>
                <a:gd name="connsiteX3" fmla="*/ 196215 w 196214"/>
                <a:gd name="connsiteY3" fmla="*/ 110585 h 308800"/>
                <a:gd name="connsiteX4" fmla="*/ 166688 w 196214"/>
                <a:gd name="connsiteY4" fmla="*/ 202311 h 308800"/>
                <a:gd name="connsiteX5" fmla="*/ 87630 w 196214"/>
                <a:gd name="connsiteY5" fmla="*/ 281178 h 308800"/>
                <a:gd name="connsiteX6" fmla="*/ 21907 w 196214"/>
                <a:gd name="connsiteY6" fmla="*/ 308801 h 308800"/>
                <a:gd name="connsiteX7" fmla="*/ 6191 w 196214"/>
                <a:gd name="connsiteY7" fmla="*/ 303085 h 308800"/>
                <a:gd name="connsiteX8" fmla="*/ 0 w 196214"/>
                <a:gd name="connsiteY8" fmla="*/ 287846 h 308800"/>
                <a:gd name="connsiteX9" fmla="*/ 18098 w 196214"/>
                <a:gd name="connsiteY9" fmla="*/ 264033 h 308800"/>
                <a:gd name="connsiteX10" fmla="*/ 81439 w 196214"/>
                <a:gd name="connsiteY10" fmla="*/ 219742 h 308800"/>
                <a:gd name="connsiteX11" fmla="*/ 100489 w 196214"/>
                <a:gd name="connsiteY11" fmla="*/ 189738 h 308800"/>
                <a:gd name="connsiteX12" fmla="*/ 86201 w 196214"/>
                <a:gd name="connsiteY12" fmla="*/ 178784 h 308800"/>
                <a:gd name="connsiteX13" fmla="*/ 80010 w 196214"/>
                <a:gd name="connsiteY13" fmla="*/ 177832 h 308800"/>
                <a:gd name="connsiteX14" fmla="*/ 72866 w 196214"/>
                <a:gd name="connsiteY14" fmla="*/ 177355 h 308800"/>
                <a:gd name="connsiteX15" fmla="*/ 22574 w 196214"/>
                <a:gd name="connsiteY15" fmla="*/ 148495 h 308800"/>
                <a:gd name="connsiteX16" fmla="*/ 3238 w 196214"/>
                <a:gd name="connsiteY16" fmla="*/ 90106 h 308800"/>
                <a:gd name="connsiteX17" fmla="*/ 27051 w 196214"/>
                <a:gd name="connsiteY17" fmla="*/ 29146 h 308800"/>
                <a:gd name="connsiteX18" fmla="*/ 96202 w 196214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4" h="308800">
                  <a:moveTo>
                    <a:pt x="96202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722" y="299561"/>
                    <a:pt x="37719" y="308801"/>
                    <a:pt x="21907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8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8" y="112966"/>
                    <a:pt x="3238" y="90106"/>
                  </a:cubicBezTo>
                  <a:cubicBezTo>
                    <a:pt x="3238" y="66580"/>
                    <a:pt x="11144" y="46291"/>
                    <a:pt x="27051" y="29146"/>
                  </a:cubicBezTo>
                  <a:cubicBezTo>
                    <a:pt x="45149" y="9715"/>
                    <a:pt x="68199" y="0"/>
                    <a:pt x="9620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67A9479-37D0-E448-A740-1DFA8790CA90}"/>
                </a:ext>
              </a:extLst>
            </p:cNvPr>
            <p:cNvSpPr/>
            <p:nvPr/>
          </p:nvSpPr>
          <p:spPr>
            <a:xfrm>
              <a:off x="2080183" y="2058769"/>
              <a:ext cx="196215" cy="308800"/>
            </a:xfrm>
            <a:custGeom>
              <a:avLst/>
              <a:gdLst>
                <a:gd name="connsiteX0" fmla="*/ 96203 w 196215"/>
                <a:gd name="connsiteY0" fmla="*/ 0 h 308800"/>
                <a:gd name="connsiteX1" fmla="*/ 166211 w 196215"/>
                <a:gd name="connsiteY1" fmla="*/ 31909 h 308800"/>
                <a:gd name="connsiteX2" fmla="*/ 188119 w 196215"/>
                <a:gd name="connsiteY2" fmla="*/ 67913 h 308800"/>
                <a:gd name="connsiteX3" fmla="*/ 196215 w 196215"/>
                <a:gd name="connsiteY3" fmla="*/ 110585 h 308800"/>
                <a:gd name="connsiteX4" fmla="*/ 166688 w 196215"/>
                <a:gd name="connsiteY4" fmla="*/ 202311 h 308800"/>
                <a:gd name="connsiteX5" fmla="*/ 87630 w 196215"/>
                <a:gd name="connsiteY5" fmla="*/ 281178 h 308800"/>
                <a:gd name="connsiteX6" fmla="*/ 21908 w 196215"/>
                <a:gd name="connsiteY6" fmla="*/ 308801 h 308800"/>
                <a:gd name="connsiteX7" fmla="*/ 6191 w 196215"/>
                <a:gd name="connsiteY7" fmla="*/ 303085 h 308800"/>
                <a:gd name="connsiteX8" fmla="*/ 0 w 196215"/>
                <a:gd name="connsiteY8" fmla="*/ 287846 h 308800"/>
                <a:gd name="connsiteX9" fmla="*/ 18097 w 196215"/>
                <a:gd name="connsiteY9" fmla="*/ 264033 h 308800"/>
                <a:gd name="connsiteX10" fmla="*/ 81439 w 196215"/>
                <a:gd name="connsiteY10" fmla="*/ 219742 h 308800"/>
                <a:gd name="connsiteX11" fmla="*/ 100489 w 196215"/>
                <a:gd name="connsiteY11" fmla="*/ 189738 h 308800"/>
                <a:gd name="connsiteX12" fmla="*/ 86201 w 196215"/>
                <a:gd name="connsiteY12" fmla="*/ 178784 h 308800"/>
                <a:gd name="connsiteX13" fmla="*/ 80010 w 196215"/>
                <a:gd name="connsiteY13" fmla="*/ 177832 h 308800"/>
                <a:gd name="connsiteX14" fmla="*/ 72866 w 196215"/>
                <a:gd name="connsiteY14" fmla="*/ 177355 h 308800"/>
                <a:gd name="connsiteX15" fmla="*/ 22574 w 196215"/>
                <a:gd name="connsiteY15" fmla="*/ 148495 h 308800"/>
                <a:gd name="connsiteX16" fmla="*/ 3239 w 196215"/>
                <a:gd name="connsiteY16" fmla="*/ 90106 h 308800"/>
                <a:gd name="connsiteX17" fmla="*/ 27051 w 196215"/>
                <a:gd name="connsiteY17" fmla="*/ 29146 h 308800"/>
                <a:gd name="connsiteX18" fmla="*/ 96203 w 196215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5" h="308800">
                  <a:moveTo>
                    <a:pt x="96203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627" y="299561"/>
                    <a:pt x="37719" y="308801"/>
                    <a:pt x="21908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7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9" y="112966"/>
                    <a:pt x="3239" y="90106"/>
                  </a:cubicBezTo>
                  <a:cubicBezTo>
                    <a:pt x="3239" y="66580"/>
                    <a:pt x="11144" y="46291"/>
                    <a:pt x="27051" y="29146"/>
                  </a:cubicBezTo>
                  <a:cubicBezTo>
                    <a:pt x="45244" y="9715"/>
                    <a:pt x="68199" y="0"/>
                    <a:pt x="9620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" name="Graphic 4">
            <a:extLst>
              <a:ext uri="{FF2B5EF4-FFF2-40B4-BE49-F238E27FC236}">
                <a16:creationId xmlns:a16="http://schemas.microsoft.com/office/drawing/2014/main" id="{981FF5D2-40D7-B048-B33B-B448FA5F16F4}"/>
              </a:ext>
            </a:extLst>
          </p:cNvPr>
          <p:cNvGrpSpPr/>
          <p:nvPr userDrawn="1"/>
        </p:nvGrpSpPr>
        <p:grpSpPr>
          <a:xfrm rot="10800000">
            <a:off x="10425627" y="5219700"/>
            <a:ext cx="1309173" cy="952500"/>
            <a:chOff x="1851964" y="2058769"/>
            <a:chExt cx="424433" cy="308800"/>
          </a:xfrm>
          <a:solidFill>
            <a:schemeClr val="bg2">
              <a:lumMod val="25000"/>
            </a:schemeClr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5EF95A2-728D-A049-91DE-CDD3C11B4CB1}"/>
                </a:ext>
              </a:extLst>
            </p:cNvPr>
            <p:cNvSpPr/>
            <p:nvPr/>
          </p:nvSpPr>
          <p:spPr>
            <a:xfrm>
              <a:off x="1851964" y="2058769"/>
              <a:ext cx="196214" cy="308800"/>
            </a:xfrm>
            <a:custGeom>
              <a:avLst/>
              <a:gdLst>
                <a:gd name="connsiteX0" fmla="*/ 96202 w 196214"/>
                <a:gd name="connsiteY0" fmla="*/ 0 h 308800"/>
                <a:gd name="connsiteX1" fmla="*/ 166211 w 196214"/>
                <a:gd name="connsiteY1" fmla="*/ 31909 h 308800"/>
                <a:gd name="connsiteX2" fmla="*/ 188119 w 196214"/>
                <a:gd name="connsiteY2" fmla="*/ 67913 h 308800"/>
                <a:gd name="connsiteX3" fmla="*/ 196215 w 196214"/>
                <a:gd name="connsiteY3" fmla="*/ 110585 h 308800"/>
                <a:gd name="connsiteX4" fmla="*/ 166688 w 196214"/>
                <a:gd name="connsiteY4" fmla="*/ 202311 h 308800"/>
                <a:gd name="connsiteX5" fmla="*/ 87630 w 196214"/>
                <a:gd name="connsiteY5" fmla="*/ 281178 h 308800"/>
                <a:gd name="connsiteX6" fmla="*/ 21907 w 196214"/>
                <a:gd name="connsiteY6" fmla="*/ 308801 h 308800"/>
                <a:gd name="connsiteX7" fmla="*/ 6191 w 196214"/>
                <a:gd name="connsiteY7" fmla="*/ 303085 h 308800"/>
                <a:gd name="connsiteX8" fmla="*/ 0 w 196214"/>
                <a:gd name="connsiteY8" fmla="*/ 287846 h 308800"/>
                <a:gd name="connsiteX9" fmla="*/ 18098 w 196214"/>
                <a:gd name="connsiteY9" fmla="*/ 264033 h 308800"/>
                <a:gd name="connsiteX10" fmla="*/ 81439 w 196214"/>
                <a:gd name="connsiteY10" fmla="*/ 219742 h 308800"/>
                <a:gd name="connsiteX11" fmla="*/ 100489 w 196214"/>
                <a:gd name="connsiteY11" fmla="*/ 189738 h 308800"/>
                <a:gd name="connsiteX12" fmla="*/ 86201 w 196214"/>
                <a:gd name="connsiteY12" fmla="*/ 178784 h 308800"/>
                <a:gd name="connsiteX13" fmla="*/ 80010 w 196214"/>
                <a:gd name="connsiteY13" fmla="*/ 177832 h 308800"/>
                <a:gd name="connsiteX14" fmla="*/ 72866 w 196214"/>
                <a:gd name="connsiteY14" fmla="*/ 177355 h 308800"/>
                <a:gd name="connsiteX15" fmla="*/ 22574 w 196214"/>
                <a:gd name="connsiteY15" fmla="*/ 148495 h 308800"/>
                <a:gd name="connsiteX16" fmla="*/ 3238 w 196214"/>
                <a:gd name="connsiteY16" fmla="*/ 90106 h 308800"/>
                <a:gd name="connsiteX17" fmla="*/ 27051 w 196214"/>
                <a:gd name="connsiteY17" fmla="*/ 29146 h 308800"/>
                <a:gd name="connsiteX18" fmla="*/ 96202 w 196214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4" h="308800">
                  <a:moveTo>
                    <a:pt x="96202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722" y="299561"/>
                    <a:pt x="37719" y="308801"/>
                    <a:pt x="21907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8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8" y="112966"/>
                    <a:pt x="3238" y="90106"/>
                  </a:cubicBezTo>
                  <a:cubicBezTo>
                    <a:pt x="3238" y="66580"/>
                    <a:pt x="11144" y="46291"/>
                    <a:pt x="27051" y="29146"/>
                  </a:cubicBezTo>
                  <a:cubicBezTo>
                    <a:pt x="45149" y="9715"/>
                    <a:pt x="68199" y="0"/>
                    <a:pt x="9620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241BF97-F3E8-2C41-8D83-077454953A50}"/>
                </a:ext>
              </a:extLst>
            </p:cNvPr>
            <p:cNvSpPr/>
            <p:nvPr/>
          </p:nvSpPr>
          <p:spPr>
            <a:xfrm>
              <a:off x="2080183" y="2058769"/>
              <a:ext cx="196215" cy="308800"/>
            </a:xfrm>
            <a:custGeom>
              <a:avLst/>
              <a:gdLst>
                <a:gd name="connsiteX0" fmla="*/ 96203 w 196215"/>
                <a:gd name="connsiteY0" fmla="*/ 0 h 308800"/>
                <a:gd name="connsiteX1" fmla="*/ 166211 w 196215"/>
                <a:gd name="connsiteY1" fmla="*/ 31909 h 308800"/>
                <a:gd name="connsiteX2" fmla="*/ 188119 w 196215"/>
                <a:gd name="connsiteY2" fmla="*/ 67913 h 308800"/>
                <a:gd name="connsiteX3" fmla="*/ 196215 w 196215"/>
                <a:gd name="connsiteY3" fmla="*/ 110585 h 308800"/>
                <a:gd name="connsiteX4" fmla="*/ 166688 w 196215"/>
                <a:gd name="connsiteY4" fmla="*/ 202311 h 308800"/>
                <a:gd name="connsiteX5" fmla="*/ 87630 w 196215"/>
                <a:gd name="connsiteY5" fmla="*/ 281178 h 308800"/>
                <a:gd name="connsiteX6" fmla="*/ 21908 w 196215"/>
                <a:gd name="connsiteY6" fmla="*/ 308801 h 308800"/>
                <a:gd name="connsiteX7" fmla="*/ 6191 w 196215"/>
                <a:gd name="connsiteY7" fmla="*/ 303085 h 308800"/>
                <a:gd name="connsiteX8" fmla="*/ 0 w 196215"/>
                <a:gd name="connsiteY8" fmla="*/ 287846 h 308800"/>
                <a:gd name="connsiteX9" fmla="*/ 18097 w 196215"/>
                <a:gd name="connsiteY9" fmla="*/ 264033 h 308800"/>
                <a:gd name="connsiteX10" fmla="*/ 81439 w 196215"/>
                <a:gd name="connsiteY10" fmla="*/ 219742 h 308800"/>
                <a:gd name="connsiteX11" fmla="*/ 100489 w 196215"/>
                <a:gd name="connsiteY11" fmla="*/ 189738 h 308800"/>
                <a:gd name="connsiteX12" fmla="*/ 86201 w 196215"/>
                <a:gd name="connsiteY12" fmla="*/ 178784 h 308800"/>
                <a:gd name="connsiteX13" fmla="*/ 80010 w 196215"/>
                <a:gd name="connsiteY13" fmla="*/ 177832 h 308800"/>
                <a:gd name="connsiteX14" fmla="*/ 72866 w 196215"/>
                <a:gd name="connsiteY14" fmla="*/ 177355 h 308800"/>
                <a:gd name="connsiteX15" fmla="*/ 22574 w 196215"/>
                <a:gd name="connsiteY15" fmla="*/ 148495 h 308800"/>
                <a:gd name="connsiteX16" fmla="*/ 3239 w 196215"/>
                <a:gd name="connsiteY16" fmla="*/ 90106 h 308800"/>
                <a:gd name="connsiteX17" fmla="*/ 27051 w 196215"/>
                <a:gd name="connsiteY17" fmla="*/ 29146 h 308800"/>
                <a:gd name="connsiteX18" fmla="*/ 96203 w 196215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5" h="308800">
                  <a:moveTo>
                    <a:pt x="96203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627" y="299561"/>
                    <a:pt x="37719" y="308801"/>
                    <a:pt x="21908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7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9" y="112966"/>
                    <a:pt x="3239" y="90106"/>
                  </a:cubicBezTo>
                  <a:cubicBezTo>
                    <a:pt x="3239" y="66580"/>
                    <a:pt x="11144" y="46291"/>
                    <a:pt x="27051" y="29146"/>
                  </a:cubicBezTo>
                  <a:cubicBezTo>
                    <a:pt x="45244" y="9715"/>
                    <a:pt x="68199" y="0"/>
                    <a:pt x="9620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B4BAB6-FAAD-BA41-8450-398BD1279B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26808" y="4620894"/>
            <a:ext cx="2822067" cy="257250"/>
          </a:xfrm>
        </p:spPr>
        <p:txBody>
          <a:bodyPr>
            <a:spAutoFit/>
          </a:bodyPr>
          <a:lstStyle>
            <a:lvl1pPr algn="r">
              <a:defRPr sz="1600" b="1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948834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E84340-BD33-8E44-99AA-6996388612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28953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FF8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31137FB-F149-DD41-B765-24A58A85DE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291" y="1024301"/>
            <a:ext cx="609419" cy="545269"/>
          </a:xfrm>
          <a:prstGeom prst="rect">
            <a:avLst/>
          </a:prstGeom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952A47A2-EF74-7B4A-948B-354D8CBA8096}"/>
              </a:ext>
            </a:extLst>
          </p:cNvPr>
          <p:cNvSpPr txBox="1">
            <a:spLocks/>
          </p:cNvSpPr>
          <p:nvPr userDrawn="1"/>
        </p:nvSpPr>
        <p:spPr>
          <a:xfrm>
            <a:off x="3894218" y="1786378"/>
            <a:ext cx="4403565" cy="73866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sz="4800">
                <a:solidFill>
                  <a:schemeClr val="lt1"/>
                </a:solidFill>
              </a:rPr>
              <a:t>Disclaimer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14BDE5-32F5-E643-A4FF-D09A52DA71E1}"/>
              </a:ext>
            </a:extLst>
          </p:cNvPr>
          <p:cNvSpPr/>
          <p:nvPr userDrawn="1"/>
        </p:nvSpPr>
        <p:spPr>
          <a:xfrm>
            <a:off x="2573605" y="5025323"/>
            <a:ext cx="7044791" cy="1146877"/>
          </a:xfrm>
          <a:prstGeom prst="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spcAft>
                <a:spcPts val="600"/>
              </a:spcAft>
              <a:defRPr/>
            </a:pPr>
            <a:r>
              <a:rPr lang="en-US" sz="1600" b="1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</a:rPr>
              <a:t>This presentation was downloaded from Presales Stories. </a:t>
            </a:r>
          </a:p>
          <a:p>
            <a:pPr algn="ctr" defTabSz="914354">
              <a:defRPr/>
            </a:pPr>
            <a:r>
              <a:rPr lang="en-US" sz="1600" b="1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</a:rPr>
              <a:t>Discover more content about EPAM’s Capabilities at </a:t>
            </a:r>
            <a:br>
              <a:rPr lang="en-US" sz="1600" b="1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</a:rPr>
            </a:br>
            <a:r>
              <a:rPr lang="en-US" sz="1600" b="1" u="sng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https://epa.ms/stories</a:t>
            </a:r>
            <a:endParaRPr lang="en-US" sz="1600" b="1">
              <a:solidFill>
                <a:schemeClr val="accent3">
                  <a:lumMod val="40000"/>
                  <a:lumOff val="60000"/>
                </a:schemeClr>
              </a:solidFill>
              <a:latin typeface="Calibri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B01F7317-9450-7F4E-8CF4-A6FAE6DBDD15}"/>
              </a:ext>
            </a:extLst>
          </p:cNvPr>
          <p:cNvSpPr txBox="1">
            <a:spLocks/>
          </p:cNvSpPr>
          <p:nvPr userDrawn="1"/>
        </p:nvSpPr>
        <p:spPr>
          <a:xfrm>
            <a:off x="2901517" y="2834448"/>
            <a:ext cx="6388966" cy="1604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  <a:t>All provided material can only be used under NDA</a:t>
            </a:r>
            <a:b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</a:br>
            <a: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  <a:t>Slides can Contain Confidential Notes</a:t>
            </a:r>
            <a:b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</a:br>
            <a: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  <a:t>Don’t Share As PPT</a:t>
            </a:r>
          </a:p>
        </p:txBody>
      </p:sp>
    </p:spTree>
    <p:extLst>
      <p:ext uri="{BB962C8B-B14F-4D97-AF65-F5344CB8AC3E}">
        <p14:creationId xmlns:p14="http://schemas.microsoft.com/office/powerpoint/2010/main" val="155021079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D1CE3-09AB-4B8F-B4EA-802DA1F8168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F03CD9-50C7-44B7-B928-FC1A6F913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875002"/>
            <a:ext cx="5530850" cy="1107996"/>
          </a:xfrm>
        </p:spPr>
        <p:txBody>
          <a:bodyPr wrap="square">
            <a:spAutoFit/>
          </a:bodyPr>
          <a:lstStyle>
            <a:lvl1pPr>
              <a:defRPr sz="720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33460F-F216-4161-81D4-61770D4448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07338" y="2286000"/>
            <a:ext cx="3827462" cy="25725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For more information, contact</a:t>
            </a:r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83A137D-51C1-42BD-8E6A-5A17CA8E69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07338" y="2746674"/>
            <a:ext cx="3827462" cy="28943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8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Victoria Morrison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88F9D7D-61B7-4023-A90A-331ABB6016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07338" y="3039391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Head of Marketing EMEA</a:t>
            </a:r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5F31C29-0270-444C-AB5B-F5F8275A4E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07338" y="3661074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victoria_morrison@epam.com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B6A5DF8-022B-46A9-9257-DAA098142E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07338" y="3948004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+1 000 000 000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CF17201-04E3-48ED-9077-B42ECD88DB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07338" y="4572000"/>
            <a:ext cx="3827462" cy="117307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Address line 1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2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3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Zip code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Country</a:t>
            </a:r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54B6A1A-ED6A-490A-AA56-15684042F07D}"/>
              </a:ext>
            </a:extLst>
          </p:cNvPr>
          <p:cNvCxnSpPr/>
          <p:nvPr userDrawn="1"/>
        </p:nvCxnSpPr>
        <p:spPr>
          <a:xfrm>
            <a:off x="6946900" y="2286000"/>
            <a:ext cx="0" cy="3534697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0681FC57-5C71-4F5A-AB2F-52FF92CEB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069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D1CE3-09AB-4B8F-B4EA-802DA1F8168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F03CD9-50C7-44B7-B928-FC1A6F913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1181100"/>
            <a:ext cx="4426771" cy="1107996"/>
          </a:xfrm>
        </p:spPr>
        <p:txBody>
          <a:bodyPr wrap="square">
            <a:spAutoFit/>
          </a:bodyPr>
          <a:lstStyle>
            <a:lvl1pPr>
              <a:defRPr sz="720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33460F-F216-4161-81D4-61770D4448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4663" y="2717434"/>
            <a:ext cx="3827462" cy="25725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For more information, contact</a:t>
            </a:r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83A137D-51C1-42BD-8E6A-5A17CA8E69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4663" y="3178108"/>
            <a:ext cx="3827462" cy="28943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8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Victoria Morrison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88F9D7D-61B7-4023-A90A-331ABB6016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4663" y="3470825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Head of Marketing EMEA</a:t>
            </a:r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5F31C29-0270-444C-AB5B-F5F8275A4E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4663" y="4092508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victoria_morrison@epam.com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B6A5DF8-022B-46A9-9257-DAA098142E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4663" y="4379438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+1 000 000 000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CF17201-04E3-48ED-9077-B42ECD88DB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4663" y="5003434"/>
            <a:ext cx="3827462" cy="117307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Address line 1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2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3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Zip code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Country</a:t>
            </a:r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681FC57-5C71-4F5A-AB2F-52FF92CEB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D26DCF78-A14C-7743-94BB-7E13C2AD862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5998" y="0"/>
            <a:ext cx="6096001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127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2.sv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1.pn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B532318-7ECA-4FB6-ADB1-48895B543C86}"/>
              </a:ext>
            </a:extLst>
          </p:cNvPr>
          <p:cNvPicPr>
            <a:picLocks noChangeAspect="1"/>
          </p:cNvPicPr>
          <p:nvPr userDrawn="1"/>
        </p:nvPicPr>
        <p:blipFill>
          <a:blip r:embed="rId4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8369E08-22C8-4CA0-8BC3-06B27EF31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3505" y="1181101"/>
            <a:ext cx="11274551" cy="49910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Edit Master text styles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6CDD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Second level</a:t>
            </a:r>
          </a:p>
          <a:p>
            <a:pPr marL="365760" marR="0" lvl="2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0A0A0"/>
              </a:buClr>
              <a:buSzTx/>
              <a:buFont typeface="Calibri" panose="020F0502020204030204" pitchFamily="34" charset="0"/>
              <a:buChar char="→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Third level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641FF6-5DCC-D34B-9DD7-29931472CBC7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CONFIDENTIAL. Copyright ©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1DA6592-6579-C548-911C-85A5195E10BA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6025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57" r:id="rId10"/>
    <p:sldLayoutId id="2147483760" r:id="rId11"/>
    <p:sldLayoutId id="2147483727" r:id="rId12"/>
    <p:sldLayoutId id="2147483729" r:id="rId13"/>
    <p:sldLayoutId id="2147483751" r:id="rId14"/>
    <p:sldLayoutId id="2147483758" r:id="rId15"/>
    <p:sldLayoutId id="2147483740" r:id="rId16"/>
    <p:sldLayoutId id="2147483766" r:id="rId17"/>
    <p:sldLayoutId id="2147483738" r:id="rId18"/>
    <p:sldLayoutId id="2147483736" r:id="rId19"/>
    <p:sldLayoutId id="2147483765" r:id="rId20"/>
    <p:sldLayoutId id="2147483744" r:id="rId21"/>
    <p:sldLayoutId id="2147483762" r:id="rId22"/>
    <p:sldLayoutId id="2147483755" r:id="rId23"/>
    <p:sldLayoutId id="2147483743" r:id="rId24"/>
    <p:sldLayoutId id="2147483756" r:id="rId25"/>
    <p:sldLayoutId id="2147483734" r:id="rId26"/>
    <p:sldLayoutId id="2147483745" r:id="rId27"/>
    <p:sldLayoutId id="2147483741" r:id="rId28"/>
    <p:sldLayoutId id="2147483735" r:id="rId29"/>
    <p:sldLayoutId id="2147483737" r:id="rId30"/>
    <p:sldLayoutId id="2147483739" r:id="rId31"/>
    <p:sldLayoutId id="2147483767" r:id="rId32"/>
    <p:sldLayoutId id="2147483742" r:id="rId33"/>
    <p:sldLayoutId id="2147483746" r:id="rId34"/>
    <p:sldLayoutId id="2147483732" r:id="rId35"/>
    <p:sldLayoutId id="2147483747" r:id="rId36"/>
    <p:sldLayoutId id="2147483748" r:id="rId37"/>
    <p:sldLayoutId id="2147483749" r:id="rId38"/>
    <p:sldLayoutId id="2147483754" r:id="rId39"/>
    <p:sldLayoutId id="2147483759" r:id="rId40"/>
    <p:sldLayoutId id="2147483761" r:id="rId41"/>
    <p:sldLayoutId id="2147483764" r:id="rId42"/>
    <p:sldLayoutId id="2147483750" r:id="rId43"/>
    <p:sldLayoutId id="2147483763" r:id="rId4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200" b="1" i="0" kern="1200">
          <a:solidFill>
            <a:schemeClr val="tx1"/>
          </a:solidFill>
          <a:latin typeface="+mj-lt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56" userDrawn="1">
          <p15:clr>
            <a:srgbClr val="F26B43"/>
          </p15:clr>
        </p15:guide>
        <p15:guide id="16" orient="horz" pos="144">
          <p15:clr>
            <a:srgbClr val="F26B43"/>
          </p15:clr>
        </p15:guide>
        <p15:guide id="17" orient="horz" pos="312" userDrawn="1">
          <p15:clr>
            <a:srgbClr val="F26B43"/>
          </p15:clr>
        </p15:guide>
        <p15:guide id="19" orient="horz" pos="576">
          <p15:clr>
            <a:srgbClr val="F26B43"/>
          </p15:clr>
        </p15:guide>
        <p15:guide id="20" orient="horz" pos="744" userDrawn="1">
          <p15:clr>
            <a:srgbClr val="F26B43"/>
          </p15:clr>
        </p15:guide>
        <p15:guide id="41" orient="horz" pos="3888">
          <p15:clr>
            <a:srgbClr val="F26B43"/>
          </p15:clr>
        </p15:guide>
        <p15:guide id="43" orient="horz" pos="4176">
          <p15:clr>
            <a:srgbClr val="F26B43"/>
          </p15:clr>
        </p15:guide>
        <p15:guide id="56" orient="horz">
          <p15:clr>
            <a:srgbClr val="F26B43"/>
          </p15:clr>
        </p15:guide>
        <p15:guide id="57" orient="horz" pos="4320">
          <p15:clr>
            <a:srgbClr val="F26B43"/>
          </p15:clr>
        </p15:guide>
        <p15:guide id="58" orient="horz" pos="4032">
          <p15:clr>
            <a:srgbClr val="F26B43"/>
          </p15:clr>
        </p15:guide>
        <p15:guide id="59" pos="288">
          <p15:clr>
            <a:srgbClr val="F26B43"/>
          </p15:clr>
        </p15:guide>
        <p15:guide id="61" pos="7392">
          <p15:clr>
            <a:srgbClr val="F26B43"/>
          </p15:clr>
        </p15:guide>
        <p15:guide id="64" pos="1354">
          <p15:clr>
            <a:srgbClr val="F26B43"/>
          </p15:clr>
        </p15:guide>
        <p15:guide id="65" pos="1498">
          <p15:clr>
            <a:srgbClr val="F26B43"/>
          </p15:clr>
        </p15:guide>
        <p15:guide id="68" pos="2710">
          <p15:clr>
            <a:srgbClr val="F26B43"/>
          </p15:clr>
        </p15:guide>
        <p15:guide id="69" pos="2568">
          <p15:clr>
            <a:srgbClr val="F26B43"/>
          </p15:clr>
        </p15:guide>
        <p15:guide id="72" pos="3772">
          <p15:clr>
            <a:srgbClr val="F26B43"/>
          </p15:clr>
        </p15:guide>
        <p15:guide id="73" pos="3919">
          <p15:clr>
            <a:srgbClr val="F26B43"/>
          </p15:clr>
        </p15:guide>
        <p15:guide id="76" pos="5128">
          <p15:clr>
            <a:srgbClr val="F26B43"/>
          </p15:clr>
        </p15:guide>
        <p15:guide id="77" pos="4981">
          <p15:clr>
            <a:srgbClr val="F26B43"/>
          </p15:clr>
        </p15:guide>
        <p15:guide id="80" pos="6186">
          <p15:clr>
            <a:srgbClr val="F26B43"/>
          </p15:clr>
        </p15:guide>
        <p15:guide id="81" pos="633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Web/JavaScript/Reference/Functions" TargetMode="External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Web/JavaScript/Reference/Functions" TargetMode="External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JavaScript/Reference/Global_Objects/Array" TargetMode="External"/><Relationship Id="rId2" Type="http://schemas.openxmlformats.org/officeDocument/2006/relationships/hyperlink" Target="https://developer.mozilla.org/en-US/docs/Web/API/Window/structuredClone" TargetMode="External"/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mozilla.org/en-US/docs/Web/JavaScript/Reference/Global_Objects/Array/find" TargetMode="External"/><Relationship Id="rId3" Type="http://schemas.openxmlformats.org/officeDocument/2006/relationships/hyperlink" Target="https://developer.mozilla.org/en-US/docs/Web/JavaScript/Reference/Global_Objects/Array/map" TargetMode="External"/><Relationship Id="rId7" Type="http://schemas.openxmlformats.org/officeDocument/2006/relationships/hyperlink" Target="https://developer.mozilla.org/en-US/docs/Web/JavaScript/Reference/Global_Objects/Array/every" TargetMode="External"/><Relationship Id="rId2" Type="http://schemas.openxmlformats.org/officeDocument/2006/relationships/hyperlink" Target="https://developer.mozilla.org/en-US/docs/Web/JavaScript/Reference/Global_Objects/Array/forEach" TargetMode="External"/><Relationship Id="rId1" Type="http://schemas.openxmlformats.org/officeDocument/2006/relationships/slideLayout" Target="../slideLayouts/slideLayout30.xml"/><Relationship Id="rId6" Type="http://schemas.openxmlformats.org/officeDocument/2006/relationships/hyperlink" Target="https://developer.mozilla.org/en-US/docs/Web/JavaScript/Reference/Global_Objects/Array/some" TargetMode="External"/><Relationship Id="rId5" Type="http://schemas.openxmlformats.org/officeDocument/2006/relationships/hyperlink" Target="https://developer.mozilla.org/en-US/docs/Web/JavaScript/Reference/Global_Objects/Array/reduce" TargetMode="External"/><Relationship Id="rId4" Type="http://schemas.openxmlformats.org/officeDocument/2006/relationships/hyperlink" Target="https://developer.mozilla.org/en-US/docs/Web/JavaScript/Reference/Global_Objects/Array/filter" TargetMode="External"/><Relationship Id="rId9" Type="http://schemas.openxmlformats.org/officeDocument/2006/relationships/hyperlink" Target="https://developer.mozilla.org/en-US/docs/Web/JavaScript/Reference/Global_Objects/Array/includes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codecamp.org/news/asynchronous-programming-in-javascript/" TargetMode="External"/><Relationship Id="rId2" Type="http://schemas.openxmlformats.org/officeDocument/2006/relationships/hyperlink" Target="https://semaphoreci.com/blog/asynchronous-javascript" TargetMode="Externa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um.com/sessionstack-blog/how-javascript-works-event-loop-and-the-rise-of-async-programming-5-ways-to-better-coding-with-2f077c4438b5" TargetMode="Externa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Web/JavaScript/Reference/Global_Objects/Promise" TargetMode="Externa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API/Fetch_API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7DE665-95EF-7C44-9386-81441B656B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8775" y="4672232"/>
            <a:ext cx="6489700" cy="369332"/>
          </a:xfrm>
        </p:spPr>
        <p:txBody>
          <a:bodyPr/>
          <a:lstStyle/>
          <a:p>
            <a:r>
              <a:rPr lang="en-US" dirty="0"/>
              <a:t>Janos Stefan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2A8A66-7877-3B41-B6B6-945CAC5423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hu-HU" dirty="0"/>
              <a:t>Nyíregyháza – 2025/02/25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3BB777-E3A7-3349-B820-C2E473EC5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965960"/>
            <a:ext cx="6964445" cy="2215991"/>
          </a:xfrm>
        </p:spPr>
        <p:txBody>
          <a:bodyPr/>
          <a:lstStyle/>
          <a:p>
            <a:r>
              <a:rPr lang="hu-HU" sz="7200" dirty="0"/>
              <a:t>JavaScript </a:t>
            </a:r>
            <a:r>
              <a:rPr lang="hu-HU" sz="7200" dirty="0" err="1"/>
              <a:t>Functions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59197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715755D-D021-476A-95C1-A286DB551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Agenda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6A581BD-FF1F-4D32-B2C7-E3DBADCA60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u-HU" dirty="0"/>
              <a:t>01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FED852-C55D-4081-AB77-FB33317F31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hu-HU" dirty="0"/>
              <a:t>02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27971E9-5AA6-4C6A-8F52-8F75C10760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hu-HU" dirty="0"/>
              <a:t>03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8BED454-5C10-44F9-9E60-AFA7C01873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hu-HU" dirty="0" err="1"/>
              <a:t>Function</a:t>
            </a:r>
            <a:r>
              <a:rPr lang="hu-HU" dirty="0"/>
              <a:t> </a:t>
            </a:r>
            <a:r>
              <a:rPr lang="hu-HU" dirty="0" err="1"/>
              <a:t>definitions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C73C3E4-FB67-4256-BAE9-593D9B05F2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hu-HU" dirty="0" err="1"/>
              <a:t>Function</a:t>
            </a:r>
            <a:r>
              <a:rPr lang="hu-HU" dirty="0"/>
              <a:t> </a:t>
            </a:r>
            <a:r>
              <a:rPr lang="hu-HU" dirty="0" err="1"/>
              <a:t>programming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B7F434F-D7B8-40F5-9A42-E3E2804252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hu-HU" dirty="0" err="1"/>
              <a:t>Arrays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F6B4777-8FAC-6E1C-3C4A-F4308EE0A3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 dirty="0"/>
              <a:t>04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BEE3B42-129A-A0DB-4A58-7102175F565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hu-HU" dirty="0"/>
              <a:t>Callbacks &amp; Promises</a:t>
            </a:r>
            <a:endParaRPr lang="en-US" dirty="0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922F4EFB-DD44-F632-42E8-5A26DB9E02BE}"/>
              </a:ext>
            </a:extLst>
          </p:cNvPr>
          <p:cNvSpPr txBox="1">
            <a:spLocks/>
          </p:cNvSpPr>
          <p:nvPr/>
        </p:nvSpPr>
        <p:spPr>
          <a:xfrm>
            <a:off x="4086639" y="3953146"/>
            <a:ext cx="498928" cy="32162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r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1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05</a:t>
            </a:r>
            <a:endParaRPr lang="en-US" dirty="0"/>
          </a:p>
        </p:txBody>
      </p:sp>
      <p:sp>
        <p:nvSpPr>
          <p:cNvPr id="3" name="Text Placeholder 21">
            <a:extLst>
              <a:ext uri="{FF2B5EF4-FFF2-40B4-BE49-F238E27FC236}">
                <a16:creationId xmlns:a16="http://schemas.microsoft.com/office/drawing/2014/main" id="{ECDA033A-7EBA-717F-6413-1AB0F226B6A1}"/>
              </a:ext>
            </a:extLst>
          </p:cNvPr>
          <p:cNvSpPr txBox="1">
            <a:spLocks/>
          </p:cNvSpPr>
          <p:nvPr/>
        </p:nvSpPr>
        <p:spPr>
          <a:xfrm>
            <a:off x="4818930" y="3953146"/>
            <a:ext cx="4554537" cy="32162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Fetch API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320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DBE4750E-96F5-4529-90EA-F40786AB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Function</a:t>
            </a:r>
            <a:r>
              <a:rPr lang="hu-HU" dirty="0"/>
              <a:t> </a:t>
            </a:r>
            <a:r>
              <a:rPr lang="hu-HU" dirty="0" err="1"/>
              <a:t>definitions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EA9D1FE-86B6-4380-8829-A678104207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u-HU" dirty="0" err="1"/>
              <a:t>Different</a:t>
            </a:r>
            <a:r>
              <a:rPr lang="hu-HU" dirty="0"/>
              <a:t> </a:t>
            </a:r>
            <a:r>
              <a:rPr lang="hu-HU" dirty="0" err="1"/>
              <a:t>types</a:t>
            </a:r>
            <a:r>
              <a:rPr lang="hu-HU" dirty="0"/>
              <a:t> and </a:t>
            </a:r>
            <a:r>
              <a:rPr lang="hu-HU" dirty="0" err="1"/>
              <a:t>ways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define</a:t>
            </a:r>
            <a:r>
              <a:rPr lang="hu-HU" dirty="0"/>
              <a:t> a </a:t>
            </a:r>
            <a:r>
              <a:rPr lang="hu-HU" dirty="0" err="1"/>
              <a:t>function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159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 helye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/>
              <a:t>Function</a:t>
            </a:r>
            <a:r>
              <a:rPr lang="hu-HU" dirty="0"/>
              <a:t> </a:t>
            </a:r>
            <a:r>
              <a:rPr lang="hu-HU" dirty="0" err="1"/>
              <a:t>definitions</a:t>
            </a:r>
            <a:endParaRPr lang="hu-HU" dirty="0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What</a:t>
            </a:r>
            <a:r>
              <a:rPr lang="hu-HU" dirty="0"/>
              <a:t> is a </a:t>
            </a:r>
            <a:r>
              <a:rPr lang="hu-HU" dirty="0" err="1"/>
              <a:t>function</a:t>
            </a:r>
            <a:r>
              <a:rPr lang="hu-HU" dirty="0"/>
              <a:t>?</a:t>
            </a: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F9F2156E-C200-46A3-BD89-D6273C19AA5A}"/>
              </a:ext>
            </a:extLst>
          </p:cNvPr>
          <p:cNvSpPr txBox="1"/>
          <p:nvPr/>
        </p:nvSpPr>
        <p:spPr>
          <a:xfrm>
            <a:off x="457201" y="1059873"/>
            <a:ext cx="5143500" cy="517064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hu-HU" dirty="0"/>
              <a:t>Functions are first-class citizens of JavaScript – can be: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/>
              <a:t>passed as an argument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/>
              <a:t>returned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/>
              <a:t>assigned to a </a:t>
            </a:r>
            <a:r>
              <a:rPr lang="hu-HU" dirty="0" err="1"/>
              <a:t>variable</a:t>
            </a:r>
            <a:r>
              <a:rPr lang="hu-HU" dirty="0"/>
              <a:t> / </a:t>
            </a:r>
            <a:r>
              <a:rPr lang="hu-HU" dirty="0" err="1"/>
              <a:t>property</a:t>
            </a:r>
            <a:endParaRPr lang="hu-HU" dirty="0"/>
          </a:p>
          <a:p>
            <a:endParaRPr lang="hu-HU" dirty="0"/>
          </a:p>
          <a:p>
            <a:r>
              <a:rPr lang="hu-HU" dirty="0"/>
              <a:t>The number of arguments passed to a function depends on the caller (not the declaration)</a:t>
            </a:r>
          </a:p>
          <a:p>
            <a:endParaRPr lang="hu-HU" dirty="0"/>
          </a:p>
          <a:p>
            <a:r>
              <a:rPr lang="hu-HU" dirty="0"/>
              <a:t>Highly depends on context from where it’s called: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„this” does not mean the same thing as in Java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(Re-)Define scope with: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/>
              <a:t>Call</a:t>
            </a:r>
            <a:r>
              <a:rPr lang="en-US" dirty="0"/>
              <a:t> – pass params as list</a:t>
            </a:r>
            <a:endParaRPr lang="hu-H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/>
              <a:t>Apply</a:t>
            </a:r>
            <a:r>
              <a:rPr lang="en-US" dirty="0"/>
              <a:t> – pass params as array</a:t>
            </a:r>
            <a:endParaRPr lang="hu-H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/>
              <a:t>Bind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u-H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u-HU" dirty="0"/>
          </a:p>
          <a:p>
            <a:endParaRPr lang="hu-HU" dirty="0"/>
          </a:p>
          <a:p>
            <a:endParaRPr lang="hu-HU" dirty="0"/>
          </a:p>
          <a:p>
            <a:r>
              <a:rPr lang="hu-HU" sz="1200" dirty="0">
                <a:hlinkClick r:id="rId2"/>
              </a:rPr>
              <a:t>https://developer.mozilla.org/en-US/docs/Web/JavaScript/Reference/Functions</a:t>
            </a:r>
            <a:endParaRPr lang="hu-HU" sz="1200" dirty="0"/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CD741D7E-9ED5-412D-BB1C-B54DDB61D042}"/>
              </a:ext>
            </a:extLst>
          </p:cNvPr>
          <p:cNvSpPr txBox="1"/>
          <p:nvPr/>
        </p:nvSpPr>
        <p:spPr>
          <a:xfrm>
            <a:off x="6154615" y="914400"/>
            <a:ext cx="5943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rgbClr val="D4D4D4"/>
                </a:solidFill>
              </a:rPr>
              <a:t>Typically</a:t>
            </a:r>
            <a:r>
              <a:rPr lang="hu-HU" dirty="0">
                <a:solidFill>
                  <a:srgbClr val="D4D4D4"/>
                </a:solidFill>
              </a:rPr>
              <a:t> </a:t>
            </a:r>
            <a:r>
              <a:rPr lang="hu-HU" dirty="0" err="1">
                <a:solidFill>
                  <a:srgbClr val="D4D4D4"/>
                </a:solidFill>
              </a:rPr>
              <a:t>instances</a:t>
            </a:r>
            <a:r>
              <a:rPr lang="hu-HU" dirty="0">
                <a:solidFill>
                  <a:srgbClr val="D4D4D4"/>
                </a:solidFill>
              </a:rPr>
              <a:t> of </a:t>
            </a:r>
            <a:r>
              <a:rPr lang="hu-HU" dirty="0" err="1">
                <a:solidFill>
                  <a:srgbClr val="D4D4D4"/>
                </a:solidFill>
              </a:rPr>
              <a:t>Function</a:t>
            </a:r>
            <a:r>
              <a:rPr lang="hu-HU" dirty="0">
                <a:solidFill>
                  <a:srgbClr val="D4D4D4"/>
                </a:solidFill>
              </a:rPr>
              <a:t> </a:t>
            </a:r>
            <a:r>
              <a:rPr lang="hu-HU" dirty="0" err="1">
                <a:solidFill>
                  <a:srgbClr val="D4D4D4"/>
                </a:solidFill>
              </a:rPr>
              <a:t>objects</a:t>
            </a:r>
            <a:endParaRPr lang="hu-HU" dirty="0">
              <a:solidFill>
                <a:srgbClr val="D4D4D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0" dirty="0" err="1">
                <a:solidFill>
                  <a:srgbClr val="D4D4D4"/>
                </a:solidFill>
                <a:effectLst/>
              </a:rPr>
              <a:t>Callable</a:t>
            </a:r>
            <a:r>
              <a:rPr lang="hu-HU" b="0" dirty="0">
                <a:solidFill>
                  <a:srgbClr val="D4D4D4"/>
                </a:solidFill>
                <a:effectLst/>
              </a:rPr>
              <a:t> </a:t>
            </a:r>
            <a:r>
              <a:rPr lang="hu-HU" b="0" dirty="0" err="1">
                <a:solidFill>
                  <a:srgbClr val="D4D4D4"/>
                </a:solidFill>
                <a:effectLst/>
              </a:rPr>
              <a:t>values</a:t>
            </a:r>
            <a:r>
              <a:rPr lang="hu-HU" b="0" dirty="0">
                <a:solidFill>
                  <a:srgbClr val="D4D4D4"/>
                </a:solidFill>
                <a:effectLst/>
              </a:rPr>
              <a:t> </a:t>
            </a:r>
            <a:r>
              <a:rPr lang="hu-HU" b="0" dirty="0" err="1">
                <a:solidFill>
                  <a:srgbClr val="D4D4D4"/>
                </a:solidFill>
                <a:effectLst/>
              </a:rPr>
              <a:t>cause</a:t>
            </a:r>
            <a:r>
              <a:rPr lang="hu-HU" b="0" dirty="0">
                <a:solidFill>
                  <a:srgbClr val="D4D4D4"/>
                </a:solidFill>
                <a:effectLst/>
              </a:rPr>
              <a:t> </a:t>
            </a:r>
            <a:r>
              <a:rPr lang="hu-HU" b="0" dirty="0" err="1">
                <a:solidFill>
                  <a:srgbClr val="D4D4D4"/>
                </a:solidFill>
                <a:effectLst/>
              </a:rPr>
              <a:t>typeof</a:t>
            </a:r>
            <a:r>
              <a:rPr lang="hu-HU" b="0" dirty="0">
                <a:solidFill>
                  <a:srgbClr val="D4D4D4"/>
                </a:solidFill>
                <a:effectLst/>
              </a:rPr>
              <a:t> </a:t>
            </a:r>
            <a:r>
              <a:rPr lang="hu-HU" b="0" dirty="0" err="1">
                <a:solidFill>
                  <a:srgbClr val="D4D4D4"/>
                </a:solidFill>
                <a:effectLst/>
              </a:rPr>
              <a:t>to</a:t>
            </a:r>
            <a:r>
              <a:rPr lang="hu-HU" b="0" dirty="0">
                <a:solidFill>
                  <a:srgbClr val="D4D4D4"/>
                </a:solidFill>
                <a:effectLst/>
              </a:rPr>
              <a:t> </a:t>
            </a:r>
            <a:r>
              <a:rPr lang="hu-HU" b="0" dirty="0" err="1">
                <a:solidFill>
                  <a:srgbClr val="D4D4D4"/>
                </a:solidFill>
                <a:effectLst/>
              </a:rPr>
              <a:t>return</a:t>
            </a:r>
            <a:r>
              <a:rPr lang="hu-HU" b="0" dirty="0">
                <a:solidFill>
                  <a:srgbClr val="D4D4D4"/>
                </a:solidFill>
                <a:effectLst/>
              </a:rPr>
              <a:t> </a:t>
            </a:r>
            <a:r>
              <a:rPr lang="hu-HU" dirty="0">
                <a:solidFill>
                  <a:srgbClr val="D4D4D4"/>
                </a:solidFill>
              </a:rPr>
              <a:t>„</a:t>
            </a:r>
            <a:r>
              <a:rPr lang="hu-HU" b="0" dirty="0" err="1">
                <a:solidFill>
                  <a:srgbClr val="D4D4D4"/>
                </a:solidFill>
                <a:effectLst/>
              </a:rPr>
              <a:t>function</a:t>
            </a:r>
            <a:r>
              <a:rPr lang="hu-HU" b="0" dirty="0">
                <a:solidFill>
                  <a:srgbClr val="D4D4D4"/>
                </a:solidFill>
                <a:effectLst/>
              </a:rPr>
              <a:t>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0" dirty="0" err="1">
                <a:solidFill>
                  <a:srgbClr val="D4D4D4"/>
                </a:solidFill>
                <a:effectLst/>
              </a:rPr>
              <a:t>Can</a:t>
            </a:r>
            <a:r>
              <a:rPr lang="hu-HU" b="0" dirty="0">
                <a:solidFill>
                  <a:srgbClr val="D4D4D4"/>
                </a:solidFill>
                <a:effectLst/>
              </a:rPr>
              <a:t> </a:t>
            </a:r>
            <a:r>
              <a:rPr lang="hu-HU" b="0" dirty="0" err="1">
                <a:solidFill>
                  <a:srgbClr val="D4D4D4"/>
                </a:solidFill>
                <a:effectLst/>
              </a:rPr>
              <a:t>get</a:t>
            </a:r>
            <a:r>
              <a:rPr lang="hu-HU" b="0" dirty="0">
                <a:solidFill>
                  <a:srgbClr val="D4D4D4"/>
                </a:solidFill>
                <a:effectLst/>
              </a:rPr>
              <a:t> </a:t>
            </a:r>
            <a:r>
              <a:rPr lang="hu-HU" b="0" dirty="0" err="1">
                <a:solidFill>
                  <a:srgbClr val="D4D4D4"/>
                </a:solidFill>
                <a:effectLst/>
              </a:rPr>
              <a:t>multiple</a:t>
            </a:r>
            <a:r>
              <a:rPr lang="hu-HU" b="0" dirty="0">
                <a:solidFill>
                  <a:srgbClr val="D4D4D4"/>
                </a:solidFill>
                <a:effectLst/>
              </a:rPr>
              <a:t> input </a:t>
            </a:r>
            <a:r>
              <a:rPr lang="hu-HU" b="0" dirty="0" err="1">
                <a:solidFill>
                  <a:srgbClr val="D4D4D4"/>
                </a:solidFill>
                <a:effectLst/>
              </a:rPr>
              <a:t>parameters</a:t>
            </a:r>
            <a:endParaRPr lang="hu-HU" b="0" dirty="0">
              <a:solidFill>
                <a:srgbClr val="D4D4D4"/>
              </a:solidFill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rgbClr val="D4D4D4"/>
                </a:solidFill>
              </a:rPr>
              <a:t>Due</a:t>
            </a:r>
            <a:r>
              <a:rPr lang="hu-HU" dirty="0">
                <a:solidFill>
                  <a:srgbClr val="D4D4D4"/>
                </a:solidFill>
              </a:rPr>
              <a:t> </a:t>
            </a:r>
            <a:r>
              <a:rPr lang="hu-HU" dirty="0" err="1">
                <a:solidFill>
                  <a:srgbClr val="D4D4D4"/>
                </a:solidFill>
              </a:rPr>
              <a:t>to</a:t>
            </a:r>
            <a:r>
              <a:rPr lang="hu-HU" dirty="0">
                <a:solidFill>
                  <a:srgbClr val="D4D4D4"/>
                </a:solidFill>
              </a:rPr>
              <a:t> </a:t>
            </a:r>
            <a:r>
              <a:rPr lang="hu-HU" dirty="0" err="1">
                <a:solidFill>
                  <a:srgbClr val="D4D4D4"/>
                </a:solidFill>
              </a:rPr>
              <a:t>readability</a:t>
            </a:r>
            <a:r>
              <a:rPr lang="hu-HU" dirty="0">
                <a:solidFill>
                  <a:srgbClr val="D4D4D4"/>
                </a:solidFill>
              </a:rPr>
              <a:t> </a:t>
            </a:r>
            <a:r>
              <a:rPr lang="hu-HU" dirty="0" err="1">
                <a:solidFill>
                  <a:srgbClr val="D4D4D4"/>
                </a:solidFill>
              </a:rPr>
              <a:t>try</a:t>
            </a:r>
            <a:r>
              <a:rPr lang="hu-HU" dirty="0">
                <a:solidFill>
                  <a:srgbClr val="D4D4D4"/>
                </a:solidFill>
              </a:rPr>
              <a:t> </a:t>
            </a:r>
            <a:r>
              <a:rPr lang="hu-HU" dirty="0" err="1">
                <a:solidFill>
                  <a:srgbClr val="D4D4D4"/>
                </a:solidFill>
              </a:rPr>
              <a:t>to</a:t>
            </a:r>
            <a:r>
              <a:rPr lang="hu-HU" dirty="0">
                <a:solidFill>
                  <a:srgbClr val="D4D4D4"/>
                </a:solidFill>
              </a:rPr>
              <a:t> limit </a:t>
            </a:r>
            <a:r>
              <a:rPr lang="hu-HU" dirty="0" err="1">
                <a:solidFill>
                  <a:srgbClr val="D4D4D4"/>
                </a:solidFill>
              </a:rPr>
              <a:t>these</a:t>
            </a:r>
            <a:endParaRPr lang="hu-HU" dirty="0">
              <a:solidFill>
                <a:srgbClr val="D4D4D4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b="0" dirty="0">
                <a:solidFill>
                  <a:srgbClr val="D4D4D4"/>
                </a:solidFill>
                <a:effectLst/>
              </a:rPr>
              <a:t>More than 3 parameters is better to be converted</a:t>
            </a:r>
            <a:r>
              <a:rPr lang="en-US" b="0" dirty="0">
                <a:solidFill>
                  <a:srgbClr val="D4D4D4"/>
                </a:solidFill>
                <a:effectLst/>
              </a:rPr>
              <a:t> to</a:t>
            </a:r>
            <a:r>
              <a:rPr lang="hu-HU" b="0" dirty="0">
                <a:solidFill>
                  <a:srgbClr val="D4D4D4"/>
                </a:solidFill>
                <a:effectLst/>
              </a:rPr>
              <a:t> object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rgbClr val="D4D4D4"/>
                </a:solidFill>
              </a:rPr>
              <a:t>Can</a:t>
            </a:r>
            <a:r>
              <a:rPr lang="hu-HU" dirty="0">
                <a:solidFill>
                  <a:srgbClr val="D4D4D4"/>
                </a:solidFill>
              </a:rPr>
              <a:t> be </a:t>
            </a:r>
            <a:r>
              <a:rPr lang="hu-HU" dirty="0" err="1">
                <a:solidFill>
                  <a:srgbClr val="D4D4D4"/>
                </a:solidFill>
              </a:rPr>
              <a:t>reached</a:t>
            </a:r>
            <a:r>
              <a:rPr lang="hu-HU" dirty="0">
                <a:solidFill>
                  <a:srgbClr val="D4D4D4"/>
                </a:solidFill>
              </a:rPr>
              <a:t> </a:t>
            </a:r>
            <a:r>
              <a:rPr lang="hu-HU" dirty="0" err="1">
                <a:solidFill>
                  <a:srgbClr val="D4D4D4"/>
                </a:solidFill>
              </a:rPr>
              <a:t>via</a:t>
            </a:r>
            <a:r>
              <a:rPr lang="hu-HU" dirty="0">
                <a:solidFill>
                  <a:srgbClr val="D4D4D4"/>
                </a:solidFill>
              </a:rPr>
              <a:t> </a:t>
            </a:r>
            <a:r>
              <a:rPr lang="hu-HU" dirty="0" err="1">
                <a:solidFill>
                  <a:srgbClr val="D4D4D4"/>
                </a:solidFill>
              </a:rPr>
              <a:t>arguments</a:t>
            </a:r>
            <a:r>
              <a:rPr lang="hu-HU" dirty="0">
                <a:solidFill>
                  <a:srgbClr val="D4D4D4"/>
                </a:solidFill>
              </a:rPr>
              <a:t> </a:t>
            </a:r>
            <a:r>
              <a:rPr lang="hu-HU" dirty="0" err="1">
                <a:solidFill>
                  <a:srgbClr val="D4D4D4"/>
                </a:solidFill>
              </a:rPr>
              <a:t>keyword</a:t>
            </a:r>
            <a:r>
              <a:rPr lang="hu-HU" dirty="0">
                <a:solidFill>
                  <a:srgbClr val="D4D4D4"/>
                </a:solidFill>
              </a:rPr>
              <a:t> </a:t>
            </a:r>
            <a:r>
              <a:rPr lang="hu-HU" dirty="0" err="1">
                <a:solidFill>
                  <a:srgbClr val="D4D4D4"/>
                </a:solidFill>
              </a:rPr>
              <a:t>as</a:t>
            </a:r>
            <a:r>
              <a:rPr lang="hu-HU" dirty="0">
                <a:solidFill>
                  <a:srgbClr val="D4D4D4"/>
                </a:solidFill>
              </a:rPr>
              <a:t> </a:t>
            </a:r>
            <a:r>
              <a:rPr lang="hu-HU" dirty="0" err="1">
                <a:solidFill>
                  <a:srgbClr val="D4D4D4"/>
                </a:solidFill>
              </a:rPr>
              <a:t>well</a:t>
            </a:r>
            <a:r>
              <a:rPr lang="hu-HU" dirty="0">
                <a:solidFill>
                  <a:srgbClr val="D4D4D4"/>
                </a:solidFill>
              </a:rPr>
              <a:t> (</a:t>
            </a:r>
            <a:r>
              <a:rPr lang="hu-HU" dirty="0" err="1">
                <a:solidFill>
                  <a:srgbClr val="D4D4D4"/>
                </a:solidFill>
              </a:rPr>
              <a:t>except</a:t>
            </a:r>
            <a:r>
              <a:rPr lang="hu-HU" dirty="0">
                <a:solidFill>
                  <a:srgbClr val="D4D4D4"/>
                </a:solidFill>
              </a:rPr>
              <a:t> in </a:t>
            </a:r>
            <a:r>
              <a:rPr lang="hu-HU" dirty="0" err="1">
                <a:solidFill>
                  <a:srgbClr val="D4D4D4"/>
                </a:solidFill>
              </a:rPr>
              <a:t>case</a:t>
            </a:r>
            <a:r>
              <a:rPr lang="hu-HU" dirty="0">
                <a:solidFill>
                  <a:srgbClr val="D4D4D4"/>
                </a:solidFill>
              </a:rPr>
              <a:t> of </a:t>
            </a:r>
            <a:r>
              <a:rPr lang="hu-HU" dirty="0" err="1">
                <a:solidFill>
                  <a:srgbClr val="D4D4D4"/>
                </a:solidFill>
              </a:rPr>
              <a:t>arrow</a:t>
            </a:r>
            <a:r>
              <a:rPr lang="hu-HU" dirty="0">
                <a:solidFill>
                  <a:srgbClr val="D4D4D4"/>
                </a:solidFill>
              </a:rPr>
              <a:t> </a:t>
            </a:r>
            <a:r>
              <a:rPr lang="hu-HU" dirty="0" err="1">
                <a:solidFill>
                  <a:srgbClr val="D4D4D4"/>
                </a:solidFill>
              </a:rPr>
              <a:t>functions</a:t>
            </a:r>
            <a:r>
              <a:rPr lang="hu-HU" dirty="0">
                <a:solidFill>
                  <a:srgbClr val="D4D4D4"/>
                </a:solidFill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rgbClr val="D4D4D4"/>
                </a:solidFill>
              </a:rPr>
              <a:t>Arguments</a:t>
            </a:r>
            <a:r>
              <a:rPr lang="hu-HU" dirty="0">
                <a:solidFill>
                  <a:srgbClr val="D4D4D4"/>
                </a:solidFill>
              </a:rPr>
              <a:t> </a:t>
            </a:r>
            <a:r>
              <a:rPr lang="hu-HU" dirty="0" err="1">
                <a:solidFill>
                  <a:srgbClr val="D4D4D4"/>
                </a:solidFill>
              </a:rPr>
              <a:t>passed</a:t>
            </a:r>
            <a:r>
              <a:rPr lang="hu-HU" dirty="0">
                <a:solidFill>
                  <a:srgbClr val="D4D4D4"/>
                </a:solidFill>
              </a:rPr>
              <a:t> </a:t>
            </a:r>
            <a:r>
              <a:rPr lang="hu-HU" dirty="0" err="1">
                <a:solidFill>
                  <a:srgbClr val="D4D4D4"/>
                </a:solidFill>
              </a:rPr>
              <a:t>by</a:t>
            </a:r>
            <a:r>
              <a:rPr lang="hu-HU" dirty="0">
                <a:solidFill>
                  <a:srgbClr val="D4D4D4"/>
                </a:solidFill>
              </a:rPr>
              <a:t> </a:t>
            </a:r>
            <a:r>
              <a:rPr lang="hu-HU" dirty="0" err="1">
                <a:solidFill>
                  <a:srgbClr val="D4D4D4"/>
                </a:solidFill>
              </a:rPr>
              <a:t>value</a:t>
            </a:r>
            <a:r>
              <a:rPr lang="hu-HU" dirty="0">
                <a:solidFill>
                  <a:srgbClr val="D4D4D4"/>
                </a:solidFill>
              </a:rPr>
              <a:t> (</a:t>
            </a:r>
            <a:r>
              <a:rPr lang="hu-HU" dirty="0" err="1">
                <a:solidFill>
                  <a:srgbClr val="D4D4D4"/>
                </a:solidFill>
              </a:rPr>
              <a:t>never</a:t>
            </a:r>
            <a:r>
              <a:rPr lang="hu-HU" dirty="0">
                <a:solidFill>
                  <a:srgbClr val="D4D4D4"/>
                </a:solidFill>
              </a:rPr>
              <a:t> </a:t>
            </a:r>
            <a:r>
              <a:rPr lang="hu-HU" dirty="0" err="1">
                <a:solidFill>
                  <a:srgbClr val="D4D4D4"/>
                </a:solidFill>
              </a:rPr>
              <a:t>by</a:t>
            </a:r>
            <a:r>
              <a:rPr lang="hu-HU" dirty="0">
                <a:solidFill>
                  <a:srgbClr val="D4D4D4"/>
                </a:solidFill>
              </a:rPr>
              <a:t> </a:t>
            </a:r>
            <a:r>
              <a:rPr lang="hu-HU" dirty="0" err="1">
                <a:solidFill>
                  <a:srgbClr val="D4D4D4"/>
                </a:solidFill>
              </a:rPr>
              <a:t>reference</a:t>
            </a:r>
            <a:r>
              <a:rPr lang="hu-HU" dirty="0">
                <a:solidFill>
                  <a:srgbClr val="D4D4D4"/>
                </a:solidFill>
              </a:rPr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hu-HU" b="0" dirty="0" err="1">
                <a:solidFill>
                  <a:srgbClr val="D4D4D4"/>
                </a:solidFill>
                <a:effectLst/>
              </a:rPr>
              <a:t>Object</a:t>
            </a:r>
            <a:r>
              <a:rPr lang="hu-HU" dirty="0" err="1">
                <a:solidFill>
                  <a:srgbClr val="D4D4D4"/>
                </a:solidFill>
              </a:rPr>
              <a:t>s</a:t>
            </a:r>
            <a:r>
              <a:rPr lang="hu-HU" dirty="0">
                <a:solidFill>
                  <a:srgbClr val="D4D4D4"/>
                </a:solidFill>
              </a:rPr>
              <a:t> </a:t>
            </a:r>
            <a:r>
              <a:rPr lang="hu-HU" dirty="0" err="1">
                <a:solidFill>
                  <a:srgbClr val="D4D4D4"/>
                </a:solidFill>
              </a:rPr>
              <a:t>passed</a:t>
            </a:r>
            <a:r>
              <a:rPr lang="hu-HU" dirty="0">
                <a:solidFill>
                  <a:srgbClr val="D4D4D4"/>
                </a:solidFill>
              </a:rPr>
              <a:t> </a:t>
            </a:r>
            <a:r>
              <a:rPr lang="hu-HU" dirty="0" err="1">
                <a:solidFill>
                  <a:srgbClr val="D4D4D4"/>
                </a:solidFill>
              </a:rPr>
              <a:t>by</a:t>
            </a:r>
            <a:r>
              <a:rPr lang="hu-HU" dirty="0">
                <a:solidFill>
                  <a:srgbClr val="D4D4D4"/>
                </a:solidFill>
              </a:rPr>
              <a:t> </a:t>
            </a:r>
            <a:r>
              <a:rPr lang="hu-HU" dirty="0" err="1">
                <a:solidFill>
                  <a:srgbClr val="D4D4D4"/>
                </a:solidFill>
              </a:rPr>
              <a:t>sharing</a:t>
            </a:r>
            <a:endParaRPr lang="hu-HU" dirty="0">
              <a:solidFill>
                <a:srgbClr val="D4D4D4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hu-HU" b="0" dirty="0" err="1">
                <a:solidFill>
                  <a:srgbClr val="D4D4D4"/>
                </a:solidFill>
                <a:effectLst/>
              </a:rPr>
              <a:t>Passed</a:t>
            </a:r>
            <a:r>
              <a:rPr lang="hu-HU" b="0" dirty="0">
                <a:solidFill>
                  <a:srgbClr val="D4D4D4"/>
                </a:solidFill>
                <a:effectLst/>
              </a:rPr>
              <a:t> </a:t>
            </a:r>
            <a:r>
              <a:rPr lang="hu-HU" b="0" dirty="0" err="1">
                <a:solidFill>
                  <a:srgbClr val="D4D4D4"/>
                </a:solidFill>
                <a:effectLst/>
              </a:rPr>
              <a:t>objects</a:t>
            </a:r>
            <a:r>
              <a:rPr lang="hu-HU" b="0" dirty="0">
                <a:solidFill>
                  <a:srgbClr val="D4D4D4"/>
                </a:solidFill>
                <a:effectLst/>
              </a:rPr>
              <a:t> </a:t>
            </a:r>
            <a:r>
              <a:rPr lang="hu-HU" b="0" dirty="0" err="1">
                <a:solidFill>
                  <a:srgbClr val="D4D4D4"/>
                </a:solidFill>
                <a:effectLst/>
              </a:rPr>
              <a:t>can</a:t>
            </a:r>
            <a:r>
              <a:rPr lang="hu-HU" b="0" dirty="0">
                <a:solidFill>
                  <a:srgbClr val="D4D4D4"/>
                </a:solidFill>
                <a:effectLst/>
              </a:rPr>
              <a:t> be </a:t>
            </a:r>
            <a:r>
              <a:rPr lang="hu-HU" b="0" dirty="0" err="1">
                <a:solidFill>
                  <a:srgbClr val="D4D4D4"/>
                </a:solidFill>
                <a:effectLst/>
              </a:rPr>
              <a:t>changed</a:t>
            </a:r>
            <a:r>
              <a:rPr lang="hu-HU" b="0" dirty="0">
                <a:solidFill>
                  <a:srgbClr val="D4D4D4"/>
                </a:solidFill>
                <a:effectLst/>
              </a:rPr>
              <a:t> -&gt; </a:t>
            </a:r>
            <a:r>
              <a:rPr lang="hu-HU" b="0" dirty="0" err="1">
                <a:solidFill>
                  <a:srgbClr val="D4D4D4"/>
                </a:solidFill>
                <a:effectLst/>
              </a:rPr>
              <a:t>side</a:t>
            </a:r>
            <a:r>
              <a:rPr lang="hu-HU" b="0" dirty="0">
                <a:solidFill>
                  <a:srgbClr val="D4D4D4"/>
                </a:solidFill>
                <a:effectLst/>
              </a:rPr>
              <a:t> </a:t>
            </a:r>
            <a:r>
              <a:rPr lang="hu-HU" b="0" dirty="0" err="1">
                <a:solidFill>
                  <a:srgbClr val="D4D4D4"/>
                </a:solidFill>
                <a:effectLst/>
              </a:rPr>
              <a:t>effects</a:t>
            </a:r>
            <a:r>
              <a:rPr lang="hu-HU" b="0" dirty="0">
                <a:solidFill>
                  <a:srgbClr val="D4D4D4"/>
                </a:solidFill>
                <a:effectLst/>
              </a:rPr>
              <a:t>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rgbClr val="D4D4D4"/>
                </a:solidFill>
              </a:rPr>
              <a:t>Always</a:t>
            </a:r>
            <a:r>
              <a:rPr lang="hu-HU" dirty="0">
                <a:solidFill>
                  <a:srgbClr val="D4D4D4"/>
                </a:solidFill>
              </a:rPr>
              <a:t> has a </a:t>
            </a:r>
            <a:r>
              <a:rPr lang="hu-HU" dirty="0" err="1">
                <a:solidFill>
                  <a:srgbClr val="D4D4D4"/>
                </a:solidFill>
              </a:rPr>
              <a:t>return</a:t>
            </a:r>
            <a:r>
              <a:rPr lang="hu-HU" dirty="0">
                <a:solidFill>
                  <a:srgbClr val="D4D4D4"/>
                </a:solidFill>
              </a:rPr>
              <a:t> </a:t>
            </a:r>
            <a:r>
              <a:rPr lang="hu-HU" dirty="0" err="1">
                <a:solidFill>
                  <a:srgbClr val="D4D4D4"/>
                </a:solidFill>
              </a:rPr>
              <a:t>value</a:t>
            </a:r>
            <a:endParaRPr lang="hu-HU" dirty="0">
              <a:solidFill>
                <a:srgbClr val="D4D4D4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rgbClr val="D4D4D4"/>
                </a:solidFill>
              </a:rPr>
              <a:t>Void</a:t>
            </a:r>
            <a:r>
              <a:rPr lang="hu-HU" dirty="0">
                <a:solidFill>
                  <a:srgbClr val="D4D4D4"/>
                </a:solidFill>
              </a:rPr>
              <a:t> </a:t>
            </a:r>
            <a:r>
              <a:rPr lang="hu-HU" dirty="0" err="1">
                <a:solidFill>
                  <a:srgbClr val="D4D4D4"/>
                </a:solidFill>
              </a:rPr>
              <a:t>functions</a:t>
            </a:r>
            <a:r>
              <a:rPr lang="hu-HU" dirty="0">
                <a:solidFill>
                  <a:srgbClr val="D4D4D4"/>
                </a:solidFill>
              </a:rPr>
              <a:t> – </a:t>
            </a:r>
            <a:r>
              <a:rPr lang="hu-HU" dirty="0" err="1">
                <a:solidFill>
                  <a:srgbClr val="D4D4D4"/>
                </a:solidFill>
              </a:rPr>
              <a:t>return</a:t>
            </a:r>
            <a:r>
              <a:rPr lang="hu-HU" dirty="0">
                <a:solidFill>
                  <a:srgbClr val="D4D4D4"/>
                </a:solidFill>
              </a:rPr>
              <a:t> </a:t>
            </a:r>
            <a:r>
              <a:rPr lang="hu-HU" dirty="0" err="1">
                <a:solidFill>
                  <a:srgbClr val="D4D4D4"/>
                </a:solidFill>
              </a:rPr>
              <a:t>value</a:t>
            </a:r>
            <a:r>
              <a:rPr lang="hu-HU" dirty="0">
                <a:solidFill>
                  <a:srgbClr val="D4D4D4"/>
                </a:solidFill>
              </a:rPr>
              <a:t> is </a:t>
            </a:r>
            <a:r>
              <a:rPr lang="hu-HU" dirty="0" err="1">
                <a:solidFill>
                  <a:srgbClr val="D4D4D4"/>
                </a:solidFill>
              </a:rPr>
              <a:t>undefined</a:t>
            </a:r>
            <a:endParaRPr lang="hu-HU" dirty="0">
              <a:solidFill>
                <a:srgbClr val="D4D4D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dirty="0">
              <a:solidFill>
                <a:srgbClr val="D4D4D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38165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C528E-2B74-46D3-9CDD-7A74CF18C7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/>
              <a:t>Function</a:t>
            </a:r>
            <a:r>
              <a:rPr lang="hu-HU" dirty="0"/>
              <a:t> </a:t>
            </a:r>
            <a:r>
              <a:rPr lang="hu-HU" dirty="0" err="1"/>
              <a:t>definitions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693488-677C-48DB-BE1B-05F626B49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Type</a:t>
            </a:r>
            <a:r>
              <a:rPr lang="hu-HU" dirty="0"/>
              <a:t> of </a:t>
            </a:r>
            <a:r>
              <a:rPr lang="hu-HU" dirty="0" err="1"/>
              <a:t>functions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B535111-F247-48ED-BCD2-95D01ABC12A2}"/>
              </a:ext>
            </a:extLst>
          </p:cNvPr>
          <p:cNvSpPr txBox="1">
            <a:spLocks/>
          </p:cNvSpPr>
          <p:nvPr/>
        </p:nvSpPr>
        <p:spPr>
          <a:xfrm>
            <a:off x="357188" y="955209"/>
            <a:ext cx="5419358" cy="536646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 err="1"/>
              <a:t>Regular</a:t>
            </a:r>
            <a:r>
              <a:rPr lang="hu-HU" sz="1800" dirty="0"/>
              <a:t> </a:t>
            </a:r>
            <a:r>
              <a:rPr lang="hu-HU" sz="1800" dirty="0" err="1"/>
              <a:t>function</a:t>
            </a:r>
            <a:endParaRPr lang="hu-HU" sz="1800" dirty="0"/>
          </a:p>
          <a:p>
            <a:pPr marL="971550" lvl="1" indent="-285750"/>
            <a:r>
              <a:rPr lang="hu-HU" sz="1600" dirty="0" err="1"/>
              <a:t>Can</a:t>
            </a:r>
            <a:r>
              <a:rPr lang="hu-HU" sz="1600" dirty="0"/>
              <a:t> </a:t>
            </a:r>
            <a:r>
              <a:rPr lang="hu-HU" sz="1600" dirty="0" err="1"/>
              <a:t>return</a:t>
            </a:r>
            <a:r>
              <a:rPr lang="hu-HU" sz="1600" dirty="0"/>
              <a:t> </a:t>
            </a:r>
            <a:r>
              <a:rPr lang="hu-HU" sz="1600" dirty="0" err="1"/>
              <a:t>anything</a:t>
            </a:r>
            <a:endParaRPr lang="hu-HU" sz="1600" dirty="0"/>
          </a:p>
          <a:p>
            <a:pPr marL="971550" lvl="1" indent="-285750"/>
            <a:r>
              <a:rPr lang="hu-HU" sz="1600" dirty="0" err="1"/>
              <a:t>Always</a:t>
            </a:r>
            <a:r>
              <a:rPr lang="hu-HU" sz="1600" dirty="0"/>
              <a:t> </a:t>
            </a:r>
            <a:r>
              <a:rPr lang="hu-HU" sz="1600" dirty="0" err="1"/>
              <a:t>runs</a:t>
            </a:r>
            <a:r>
              <a:rPr lang="hu-HU" sz="1600" dirty="0"/>
              <a:t> </a:t>
            </a:r>
            <a:r>
              <a:rPr lang="hu-HU" sz="1600" dirty="0" err="1"/>
              <a:t>to</a:t>
            </a:r>
            <a:r>
              <a:rPr lang="hu-HU" sz="1600" dirty="0"/>
              <a:t> </a:t>
            </a:r>
            <a:r>
              <a:rPr lang="hu-HU" sz="1600" dirty="0" err="1"/>
              <a:t>completion</a:t>
            </a:r>
            <a:r>
              <a:rPr lang="hu-HU" sz="1600" dirty="0"/>
              <a:t> </a:t>
            </a:r>
            <a:r>
              <a:rPr lang="hu-HU" sz="1600" dirty="0" err="1"/>
              <a:t>after</a:t>
            </a:r>
            <a:r>
              <a:rPr lang="hu-HU" sz="1600" dirty="0"/>
              <a:t> </a:t>
            </a:r>
            <a:r>
              <a:rPr lang="hu-HU" sz="1600" dirty="0" err="1"/>
              <a:t>invocation</a:t>
            </a:r>
            <a:endParaRPr lang="hu-H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 err="1"/>
              <a:t>Async</a:t>
            </a:r>
            <a:r>
              <a:rPr lang="hu-HU" sz="1800" dirty="0"/>
              <a:t> </a:t>
            </a:r>
            <a:r>
              <a:rPr lang="hu-HU" sz="1800" dirty="0" err="1"/>
              <a:t>functions</a:t>
            </a:r>
            <a:endParaRPr lang="hu-HU" sz="1800" dirty="0"/>
          </a:p>
          <a:p>
            <a:pPr marL="971550" lvl="1" indent="-285750"/>
            <a:r>
              <a:rPr lang="hu-HU" sz="1600" dirty="0" err="1"/>
              <a:t>Always</a:t>
            </a:r>
            <a:r>
              <a:rPr lang="hu-HU" sz="1600" dirty="0"/>
              <a:t> </a:t>
            </a:r>
            <a:r>
              <a:rPr lang="hu-HU" sz="1600" dirty="0" err="1"/>
              <a:t>returns</a:t>
            </a:r>
            <a:r>
              <a:rPr lang="hu-HU" sz="1600" dirty="0"/>
              <a:t> a </a:t>
            </a:r>
            <a:r>
              <a:rPr lang="hu-HU" sz="1600" dirty="0" err="1"/>
              <a:t>Promise</a:t>
            </a:r>
            <a:endParaRPr lang="hu-HU" sz="1600" dirty="0"/>
          </a:p>
          <a:p>
            <a:pPr marL="971550" lvl="1" indent="-285750"/>
            <a:r>
              <a:rPr lang="hu-HU" sz="1600" dirty="0" err="1"/>
              <a:t>Let</a:t>
            </a:r>
            <a:r>
              <a:rPr lang="hu-HU" sz="1600" dirty="0"/>
              <a:t> </a:t>
            </a:r>
            <a:r>
              <a:rPr lang="hu-HU" sz="1600" dirty="0" err="1"/>
              <a:t>us</a:t>
            </a:r>
            <a:r>
              <a:rPr lang="hu-HU" sz="1600" dirty="0"/>
              <a:t> </a:t>
            </a:r>
            <a:r>
              <a:rPr lang="hu-HU" sz="1600" dirty="0" err="1"/>
              <a:t>use</a:t>
            </a:r>
            <a:r>
              <a:rPr lang="hu-HU" sz="1600" dirty="0"/>
              <a:t> </a:t>
            </a:r>
            <a:r>
              <a:rPr lang="hu-HU" sz="1600" dirty="0" err="1"/>
              <a:t>the</a:t>
            </a:r>
            <a:r>
              <a:rPr lang="hu-HU" sz="1600" dirty="0"/>
              <a:t> </a:t>
            </a:r>
            <a:r>
              <a:rPr lang="hu-HU" sz="1600" dirty="0" err="1"/>
              <a:t>await</a:t>
            </a:r>
            <a:r>
              <a:rPr lang="hu-HU" sz="1600" dirty="0"/>
              <a:t> operator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 err="1"/>
              <a:t>Generator</a:t>
            </a:r>
            <a:r>
              <a:rPr lang="hu-HU" sz="1800" dirty="0"/>
              <a:t> </a:t>
            </a:r>
            <a:r>
              <a:rPr lang="hu-HU" sz="1800" dirty="0" err="1"/>
              <a:t>functions</a:t>
            </a:r>
            <a:r>
              <a:rPr lang="hu-HU" sz="1800" dirty="0"/>
              <a:t> *</a:t>
            </a:r>
          </a:p>
          <a:p>
            <a:pPr marL="971550" lvl="1" indent="-285750"/>
            <a:r>
              <a:rPr lang="hu-HU" sz="1600" dirty="0" err="1"/>
              <a:t>Returns</a:t>
            </a:r>
            <a:r>
              <a:rPr lang="hu-HU" sz="1600" dirty="0"/>
              <a:t> a </a:t>
            </a:r>
            <a:r>
              <a:rPr lang="hu-HU" sz="1600" dirty="0" err="1"/>
              <a:t>Generator</a:t>
            </a:r>
            <a:r>
              <a:rPr lang="hu-HU" sz="1600" dirty="0"/>
              <a:t> </a:t>
            </a:r>
            <a:r>
              <a:rPr lang="hu-HU" sz="1600" dirty="0" err="1"/>
              <a:t>object</a:t>
            </a:r>
            <a:endParaRPr lang="hu-HU" sz="1600" dirty="0"/>
          </a:p>
          <a:p>
            <a:pPr marL="971550" lvl="1" indent="-285750"/>
            <a:r>
              <a:rPr lang="hu-HU" sz="1600" dirty="0" err="1"/>
              <a:t>Let</a:t>
            </a:r>
            <a:r>
              <a:rPr lang="hu-HU" sz="1600" dirty="0"/>
              <a:t> </a:t>
            </a:r>
            <a:r>
              <a:rPr lang="hu-HU" sz="1600" dirty="0" err="1"/>
              <a:t>us</a:t>
            </a:r>
            <a:r>
              <a:rPr lang="hu-HU" sz="1600" dirty="0"/>
              <a:t> </a:t>
            </a:r>
            <a:r>
              <a:rPr lang="hu-HU" sz="1600" dirty="0" err="1"/>
              <a:t>use</a:t>
            </a:r>
            <a:r>
              <a:rPr lang="hu-HU" sz="1600" dirty="0"/>
              <a:t> </a:t>
            </a:r>
            <a:r>
              <a:rPr lang="hu-HU" sz="1600" dirty="0" err="1"/>
              <a:t>the</a:t>
            </a:r>
            <a:r>
              <a:rPr lang="hu-HU" sz="1600" dirty="0"/>
              <a:t> </a:t>
            </a:r>
            <a:r>
              <a:rPr lang="hu-HU" sz="1600" dirty="0" err="1"/>
              <a:t>yield</a:t>
            </a:r>
            <a:r>
              <a:rPr lang="hu-HU" sz="1600" dirty="0"/>
              <a:t> operator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 err="1"/>
              <a:t>Async</a:t>
            </a:r>
            <a:r>
              <a:rPr lang="hu-HU" sz="1800" dirty="0"/>
              <a:t> </a:t>
            </a:r>
            <a:r>
              <a:rPr lang="hu-HU" sz="1800" dirty="0" err="1"/>
              <a:t>generator</a:t>
            </a:r>
            <a:r>
              <a:rPr lang="hu-HU" sz="1800" dirty="0"/>
              <a:t> </a:t>
            </a:r>
            <a:r>
              <a:rPr lang="hu-HU" sz="1800" dirty="0" err="1"/>
              <a:t>functions</a:t>
            </a:r>
            <a:r>
              <a:rPr lang="hu-HU" sz="1800" dirty="0"/>
              <a:t> *</a:t>
            </a:r>
          </a:p>
          <a:p>
            <a:pPr marL="971550" lvl="1" indent="-285750"/>
            <a:r>
              <a:rPr lang="hu-HU" sz="1600" dirty="0" err="1"/>
              <a:t>Returns</a:t>
            </a:r>
            <a:r>
              <a:rPr lang="hu-HU" sz="1600" dirty="0"/>
              <a:t> an </a:t>
            </a:r>
            <a:r>
              <a:rPr lang="hu-HU" sz="1600" dirty="0" err="1"/>
              <a:t>AsyncGenerator</a:t>
            </a:r>
            <a:r>
              <a:rPr lang="hu-HU" sz="1600" dirty="0"/>
              <a:t> </a:t>
            </a:r>
            <a:r>
              <a:rPr lang="hu-HU" sz="1600" dirty="0" err="1"/>
              <a:t>object</a:t>
            </a:r>
            <a:endParaRPr lang="hu-HU" sz="1600" dirty="0"/>
          </a:p>
          <a:p>
            <a:pPr marL="971550" lvl="1" indent="-285750"/>
            <a:r>
              <a:rPr lang="hu-HU" sz="1600" dirty="0"/>
              <a:t>Both </a:t>
            </a:r>
            <a:r>
              <a:rPr lang="hu-HU" sz="1600" dirty="0" err="1"/>
              <a:t>await</a:t>
            </a:r>
            <a:r>
              <a:rPr lang="hu-HU" sz="1600" dirty="0"/>
              <a:t> and </a:t>
            </a:r>
            <a:r>
              <a:rPr lang="hu-HU" sz="1600" dirty="0" err="1"/>
              <a:t>yield</a:t>
            </a:r>
            <a:r>
              <a:rPr lang="hu-HU" sz="1600" dirty="0"/>
              <a:t> </a:t>
            </a:r>
            <a:r>
              <a:rPr lang="hu-HU" sz="1600" dirty="0" err="1"/>
              <a:t>can</a:t>
            </a:r>
            <a:r>
              <a:rPr lang="hu-HU" sz="1600" dirty="0"/>
              <a:t> be </a:t>
            </a:r>
            <a:r>
              <a:rPr lang="hu-HU" sz="1600" dirty="0" err="1"/>
              <a:t>used</a:t>
            </a:r>
            <a:endParaRPr lang="hu-H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1800" dirty="0"/>
          </a:p>
          <a:p>
            <a:r>
              <a:rPr lang="hu-HU" dirty="0">
                <a:hlinkClick r:id="rId2"/>
              </a:rPr>
              <a:t>https://developer.mozilla.org/en-US/docs/Web/JavaScript/Reference/Functions</a:t>
            </a:r>
            <a:endParaRPr lang="hu-HU" dirty="0"/>
          </a:p>
          <a:p>
            <a:pPr algn="r">
              <a:spcBef>
                <a:spcPts val="1000"/>
              </a:spcBef>
            </a:pPr>
            <a:r>
              <a:rPr lang="hu-HU" sz="1000" dirty="0"/>
              <a:t>* </a:t>
            </a:r>
            <a:r>
              <a:rPr lang="en-US" sz="1000" dirty="0"/>
              <a:t>Just mentioned, n</a:t>
            </a:r>
            <a:r>
              <a:rPr lang="hu-HU" sz="1000" dirty="0"/>
              <a:t>ot part of the training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5AF38BD-8A2B-4AFC-89E2-432B78BA2547}"/>
              </a:ext>
            </a:extLst>
          </p:cNvPr>
          <p:cNvSpPr txBox="1">
            <a:spLocks/>
          </p:cNvSpPr>
          <p:nvPr/>
        </p:nvSpPr>
        <p:spPr>
          <a:xfrm>
            <a:off x="6198577" y="457200"/>
            <a:ext cx="5934808" cy="555297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400"/>
              </a:spcAft>
            </a:pPr>
            <a:r>
              <a:rPr lang="hu-HU" sz="2200" b="1" dirty="0" err="1">
                <a:solidFill>
                  <a:schemeClr val="bg1"/>
                </a:solidFill>
              </a:rPr>
              <a:t>Definition</a:t>
            </a:r>
            <a:r>
              <a:rPr lang="hu-HU" sz="2200" b="1" dirty="0">
                <a:solidFill>
                  <a:schemeClr val="bg1"/>
                </a:solidFill>
              </a:rPr>
              <a:t> </a:t>
            </a:r>
            <a:r>
              <a:rPr lang="hu-HU" sz="2200" b="1" dirty="0" err="1">
                <a:solidFill>
                  <a:schemeClr val="bg1"/>
                </a:solidFill>
              </a:rPr>
              <a:t>types</a:t>
            </a:r>
            <a:endParaRPr lang="hu-HU" sz="22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600" dirty="0" err="1">
                <a:solidFill>
                  <a:schemeClr val="bg1"/>
                </a:solidFill>
              </a:rPr>
              <a:t>Declaration</a:t>
            </a:r>
            <a:endParaRPr lang="hu-HU" sz="1600" dirty="0">
              <a:solidFill>
                <a:schemeClr val="bg1"/>
              </a:solidFill>
            </a:endParaRPr>
          </a:p>
          <a:p>
            <a:pPr marL="857250" lvl="1" indent="-171450"/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param1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param2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 {...}</a:t>
            </a:r>
            <a:endParaRPr lang="hu-HU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600" dirty="0">
                <a:solidFill>
                  <a:schemeClr val="bg1"/>
                </a:solidFill>
              </a:rPr>
              <a:t>Expression</a:t>
            </a:r>
          </a:p>
          <a:p>
            <a:pPr marL="857250" lvl="1" indent="-171450"/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param1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param2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  <a:r>
              <a:rPr lang="hu-HU" dirty="0">
                <a:solidFill>
                  <a:srgbClr val="D4D4D4"/>
                </a:solidFill>
                <a:latin typeface="Consolas" panose="020B0609020204030204" pitchFamily="49" charset="0"/>
              </a:rPr>
              <a:t>...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};</a:t>
            </a:r>
            <a:endParaRPr lang="hu-HU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857250" lvl="1" indent="-171450"/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()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  <a:r>
              <a:rPr lang="hu-HU" dirty="0">
                <a:solidFill>
                  <a:srgbClr val="D4D4D4"/>
                </a:solidFill>
                <a:latin typeface="Consolas" panose="020B0609020204030204" pitchFamily="49" charset="0"/>
              </a:rPr>
              <a:t>...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};</a:t>
            </a:r>
            <a:r>
              <a:rPr lang="hu-HU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rgbClr val="BAD49C"/>
                </a:solidFill>
                <a:latin typeface="Consolas" panose="020B0609020204030204" pitchFamily="49" charset="0"/>
              </a:rPr>
              <a:t>// </a:t>
            </a:r>
            <a:r>
              <a:rPr lang="hu-HU" dirty="0" err="1">
                <a:solidFill>
                  <a:srgbClr val="BAD49C"/>
                </a:solidFill>
                <a:latin typeface="Consolas" panose="020B0609020204030204" pitchFamily="49" charset="0"/>
              </a:rPr>
              <a:t>arrow</a:t>
            </a:r>
            <a:endParaRPr lang="hu-HU" dirty="0">
              <a:solidFill>
                <a:srgbClr val="BAD49C"/>
              </a:solidFill>
              <a:latin typeface="Consolas" panose="020B0609020204030204" pitchFamily="49" charset="0"/>
            </a:endParaRPr>
          </a:p>
          <a:p>
            <a:pPr marL="857250" lvl="1" indent="-171450"/>
            <a:r>
              <a:rPr lang="hu-HU" dirty="0" err="1">
                <a:solidFill>
                  <a:srgbClr val="D4D4D4"/>
                </a:solidFill>
                <a:latin typeface="Consolas" panose="020B0609020204030204" pitchFamily="49" charset="0"/>
              </a:rPr>
              <a:t>setTimeout</a:t>
            </a:r>
            <a:r>
              <a:rPr lang="hu-HU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()</a:t>
            </a:r>
            <a:r>
              <a:rPr lang="hu-HU" dirty="0">
                <a:solidFill>
                  <a:srgbClr val="D4D4D4"/>
                </a:solidFill>
                <a:latin typeface="Consolas" panose="020B0609020204030204" pitchFamily="49" charset="0"/>
              </a:rPr>
              <a:t> {...}); </a:t>
            </a:r>
            <a:r>
              <a:rPr lang="hu-HU" dirty="0">
                <a:solidFill>
                  <a:srgbClr val="BAD49C"/>
                </a:solidFill>
                <a:latin typeface="Consolas" panose="020B0609020204030204" pitchFamily="49" charset="0"/>
              </a:rPr>
              <a:t>// </a:t>
            </a:r>
            <a:r>
              <a:rPr lang="en-US" dirty="0">
                <a:solidFill>
                  <a:srgbClr val="BAD49C"/>
                </a:solidFill>
                <a:latin typeface="Consolas" panose="020B0609020204030204" pitchFamily="49" charset="0"/>
              </a:rPr>
              <a:t>callback</a:t>
            </a:r>
            <a:endParaRPr lang="hu-HU" dirty="0">
              <a:solidFill>
                <a:srgbClr val="BAD49C"/>
              </a:solidFill>
              <a:latin typeface="Consolas" panose="020B0609020204030204" pitchFamily="49" charset="0"/>
            </a:endParaRPr>
          </a:p>
          <a:p>
            <a:pPr marL="857250" lvl="1" indent="-171450"/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(()</a:t>
            </a:r>
            <a:r>
              <a:rPr lang="hu-HU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  <a:r>
              <a:rPr lang="hu-HU" dirty="0">
                <a:solidFill>
                  <a:srgbClr val="D4D4D4"/>
                </a:solidFill>
                <a:latin typeface="Consolas" panose="020B0609020204030204" pitchFamily="49" charset="0"/>
              </a:rPr>
              <a:t>...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})()</a:t>
            </a:r>
            <a:r>
              <a:rPr lang="hu-HU" dirty="0">
                <a:solidFill>
                  <a:srgbClr val="D4D4D4"/>
                </a:solidFill>
                <a:latin typeface="Consolas" panose="020B0609020204030204" pitchFamily="49" charset="0"/>
              </a:rPr>
              <a:t>; </a:t>
            </a:r>
            <a:r>
              <a:rPr lang="hu-HU" dirty="0">
                <a:solidFill>
                  <a:srgbClr val="BAD49C"/>
                </a:solidFill>
                <a:latin typeface="Consolas" panose="020B0609020204030204" pitchFamily="49" charset="0"/>
              </a:rPr>
              <a:t>// </a:t>
            </a:r>
            <a:r>
              <a:rPr lang="en-US" dirty="0">
                <a:solidFill>
                  <a:srgbClr val="BAD49C"/>
                </a:solidFill>
                <a:latin typeface="Consolas" panose="020B0609020204030204" pitchFamily="49" charset="0"/>
              </a:rPr>
              <a:t>IIFE</a:t>
            </a:r>
            <a:endParaRPr lang="hu-HU" dirty="0">
              <a:solidFill>
                <a:srgbClr val="BAD49C"/>
              </a:solidFill>
              <a:latin typeface="Consolas" panose="020B0609020204030204" pitchFamily="49" charset="0"/>
            </a:endParaRPr>
          </a:p>
          <a:p>
            <a:pPr marL="857250" lvl="1" indent="-171450"/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hu-HU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D4D4D4"/>
                </a:solidFill>
                <a:latin typeface="Consolas" panose="020B0609020204030204" pitchFamily="49" charset="0"/>
              </a:rPr>
              <a:t>obj</a:t>
            </a:r>
            <a:r>
              <a:rPr lang="hu-HU" dirty="0">
                <a:solidFill>
                  <a:srgbClr val="D4D4D4"/>
                </a:solidFill>
                <a:latin typeface="Consolas" panose="020B0609020204030204" pitchFamily="49" charset="0"/>
              </a:rPr>
              <a:t> = { </a:t>
            </a:r>
            <a:r>
              <a:rPr lang="hu-HU" dirty="0" err="1">
                <a:solidFill>
                  <a:srgbClr val="D4D4D4"/>
                </a:solidFill>
                <a:latin typeface="Consolas" panose="020B0609020204030204" pitchFamily="49" charset="0"/>
              </a:rPr>
              <a:t>myFunction</a:t>
            </a:r>
            <a:r>
              <a:rPr lang="hu-HU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()</a:t>
            </a:r>
            <a:r>
              <a:rPr lang="hu-HU" dirty="0">
                <a:solidFill>
                  <a:srgbClr val="D4D4D4"/>
                </a:solidFill>
                <a:latin typeface="Consolas" panose="020B0609020204030204" pitchFamily="49" charset="0"/>
              </a:rPr>
              <a:t> {...} }; </a:t>
            </a:r>
            <a:r>
              <a:rPr lang="hu-HU" dirty="0">
                <a:solidFill>
                  <a:srgbClr val="BAD49C"/>
                </a:solidFill>
                <a:latin typeface="Consolas" panose="020B0609020204030204" pitchFamily="49" charset="0"/>
              </a:rPr>
              <a:t>//</a:t>
            </a:r>
            <a:r>
              <a:rPr lang="hu-HU" dirty="0" err="1">
                <a:solidFill>
                  <a:srgbClr val="BAD49C"/>
                </a:solidFill>
                <a:latin typeface="Consolas" panose="020B0609020204030204" pitchFamily="49" charset="0"/>
              </a:rPr>
              <a:t>method</a:t>
            </a:r>
            <a:endParaRPr lang="hu-HU" dirty="0">
              <a:solidFill>
                <a:srgbClr val="BAD49C"/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600" dirty="0" err="1">
                <a:solidFill>
                  <a:schemeClr val="bg1"/>
                </a:solidFill>
              </a:rPr>
              <a:t>Constructor</a:t>
            </a:r>
            <a:endParaRPr lang="hu-HU" sz="1600" dirty="0">
              <a:solidFill>
                <a:schemeClr val="bg1"/>
              </a:solidFill>
            </a:endParaRPr>
          </a:p>
          <a:p>
            <a:pPr lvl="1" indent="0">
              <a:spcBef>
                <a:spcPts val="0"/>
              </a:spcBef>
              <a:buNone/>
            </a:pP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hu-HU" dirty="0" err="1">
                <a:solidFill>
                  <a:srgbClr val="569CD6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endParaRPr lang="hu-HU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1" indent="0">
              <a:spcBef>
                <a:spcPts val="0"/>
              </a:spcBef>
              <a:buNone/>
            </a:pPr>
            <a:r>
              <a:rPr lang="hu-HU" dirty="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hu-HU" dirty="0">
                <a:solidFill>
                  <a:srgbClr val="CE9178"/>
                </a:solidFill>
                <a:latin typeface="Consolas" panose="020B0609020204030204" pitchFamily="49" charset="0"/>
              </a:rPr>
              <a:t>'a'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  <a:endParaRPr lang="hu-HU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1" indent="0">
              <a:spcBef>
                <a:spcPts val="0"/>
              </a:spcBef>
              <a:buNone/>
            </a:pPr>
            <a:r>
              <a:rPr lang="hu-HU" dirty="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hu-HU" dirty="0">
                <a:solidFill>
                  <a:srgbClr val="CE9178"/>
                </a:solidFill>
                <a:latin typeface="Consolas" panose="020B0609020204030204" pitchFamily="49" charset="0"/>
              </a:rPr>
              <a:t>'b'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  <a:endParaRPr lang="hu-HU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pPr lvl="1" indent="0">
              <a:spcBef>
                <a:spcPts val="0"/>
              </a:spcBef>
              <a:buNone/>
            </a:pPr>
            <a:r>
              <a:rPr lang="hu-HU" dirty="0">
                <a:solidFill>
                  <a:srgbClr val="CE9178"/>
                </a:solidFill>
                <a:latin typeface="Consolas" panose="020B0609020204030204" pitchFamily="49" charset="0"/>
              </a:rPr>
              <a:t>  '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return </a:t>
            </a:r>
            <a:r>
              <a:rPr lang="hu-HU" dirty="0">
                <a:solidFill>
                  <a:srgbClr val="CE9178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 + </a:t>
            </a:r>
            <a:r>
              <a:rPr lang="hu-HU" dirty="0">
                <a:solidFill>
                  <a:srgbClr val="CE9178"/>
                </a:solidFill>
                <a:latin typeface="Consolas" panose="020B0609020204030204" pitchFamily="49" charset="0"/>
              </a:rPr>
              <a:t>b'</a:t>
            </a:r>
          </a:p>
          <a:p>
            <a:pPr lvl="1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  <a:endParaRPr lang="hu-HU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136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Functional</a:t>
            </a:r>
            <a:r>
              <a:rPr lang="hu-HU" dirty="0"/>
              <a:t> </a:t>
            </a:r>
            <a:r>
              <a:rPr lang="hu-HU" dirty="0" err="1"/>
              <a:t>programming</a:t>
            </a:r>
            <a:endParaRPr lang="hu-HU" dirty="0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u-HU" dirty="0" err="1"/>
              <a:t>Lisp</a:t>
            </a:r>
            <a:r>
              <a:rPr lang="hu-HU" dirty="0"/>
              <a:t>: </a:t>
            </a:r>
            <a:r>
              <a:rPr lang="hu-HU" dirty="0" err="1"/>
              <a:t>Everything</a:t>
            </a:r>
            <a:r>
              <a:rPr lang="hu-HU" dirty="0"/>
              <a:t> is a </a:t>
            </a:r>
            <a:r>
              <a:rPr lang="hu-HU" dirty="0" err="1"/>
              <a:t>function</a:t>
            </a:r>
            <a:endParaRPr lang="hu-HU" dirty="0"/>
          </a:p>
          <a:p>
            <a:r>
              <a:rPr lang="hu-HU" dirty="0"/>
              <a:t>JavaScript: </a:t>
            </a:r>
            <a:r>
              <a:rPr lang="en-US" dirty="0"/>
              <a:t>hold my beer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177901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Main </a:t>
            </a:r>
            <a:r>
              <a:rPr lang="hu-HU" dirty="0" err="1"/>
              <a:t>concepts</a:t>
            </a:r>
            <a:endParaRPr lang="hu-HU" dirty="0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/>
              <a:t>Functional</a:t>
            </a:r>
            <a:r>
              <a:rPr lang="hu-HU" dirty="0"/>
              <a:t> </a:t>
            </a:r>
            <a:r>
              <a:rPr lang="hu-HU" dirty="0" err="1"/>
              <a:t>programming</a:t>
            </a:r>
            <a:endParaRPr lang="hu-HU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DE264D5C-F9BE-4D26-AFF0-CA8AF029B00C}"/>
              </a:ext>
            </a:extLst>
          </p:cNvPr>
          <p:cNvSpPr txBox="1"/>
          <p:nvPr/>
        </p:nvSpPr>
        <p:spPr>
          <a:xfrm>
            <a:off x="457200" y="1003177"/>
            <a:ext cx="5539154" cy="360098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/>
              <a:t>Pure</a:t>
            </a:r>
            <a:r>
              <a:rPr lang="hu-HU" dirty="0"/>
              <a:t> </a:t>
            </a:r>
            <a:r>
              <a:rPr lang="hu-HU" dirty="0" err="1"/>
              <a:t>functions</a:t>
            </a:r>
            <a:endParaRPr lang="hu-H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/>
              <a:t>Always</a:t>
            </a:r>
            <a:r>
              <a:rPr lang="hu-HU" dirty="0"/>
              <a:t> </a:t>
            </a:r>
            <a:r>
              <a:rPr lang="hu-HU" dirty="0" err="1"/>
              <a:t>product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same</a:t>
            </a:r>
            <a:r>
              <a:rPr lang="hu-HU" dirty="0"/>
              <a:t> output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same</a:t>
            </a:r>
            <a:r>
              <a:rPr lang="hu-HU" dirty="0"/>
              <a:t> </a:t>
            </a:r>
            <a:r>
              <a:rPr lang="hu-HU" dirty="0" err="1"/>
              <a:t>arguments</a:t>
            </a:r>
            <a:r>
              <a:rPr lang="hu-HU" dirty="0"/>
              <a:t> </a:t>
            </a:r>
            <a:r>
              <a:rPr lang="hu-HU" dirty="0" err="1"/>
              <a:t>irrespective</a:t>
            </a:r>
            <a:r>
              <a:rPr lang="hu-HU" dirty="0"/>
              <a:t> of </a:t>
            </a:r>
            <a:r>
              <a:rPr lang="hu-HU" dirty="0" err="1"/>
              <a:t>anything</a:t>
            </a:r>
            <a:r>
              <a:rPr lang="hu-HU" dirty="0"/>
              <a:t> </a:t>
            </a:r>
            <a:r>
              <a:rPr lang="hu-HU" dirty="0" err="1"/>
              <a:t>else</a:t>
            </a:r>
            <a:endParaRPr lang="hu-H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/>
              <a:t>No </a:t>
            </a:r>
            <a:r>
              <a:rPr lang="hu-HU" dirty="0" err="1"/>
              <a:t>side</a:t>
            </a:r>
            <a:r>
              <a:rPr lang="hu-HU" dirty="0"/>
              <a:t> </a:t>
            </a:r>
            <a:r>
              <a:rPr lang="hu-HU" dirty="0" err="1"/>
              <a:t>effects</a:t>
            </a:r>
            <a:r>
              <a:rPr lang="hu-HU" dirty="0"/>
              <a:t> (</a:t>
            </a:r>
            <a:r>
              <a:rPr lang="hu-HU" dirty="0" err="1"/>
              <a:t>e.g</a:t>
            </a:r>
            <a:r>
              <a:rPr lang="hu-HU" dirty="0"/>
              <a:t>. </a:t>
            </a:r>
            <a:r>
              <a:rPr lang="hu-HU" dirty="0" err="1"/>
              <a:t>do</a:t>
            </a:r>
            <a:r>
              <a:rPr lang="hu-HU" dirty="0"/>
              <a:t> </a:t>
            </a:r>
            <a:r>
              <a:rPr lang="hu-HU" dirty="0" err="1"/>
              <a:t>not</a:t>
            </a:r>
            <a:r>
              <a:rPr lang="hu-HU" dirty="0"/>
              <a:t> </a:t>
            </a:r>
            <a:r>
              <a:rPr lang="hu-HU" dirty="0" err="1"/>
              <a:t>modify</a:t>
            </a:r>
            <a:r>
              <a:rPr lang="hu-HU" dirty="0"/>
              <a:t> </a:t>
            </a:r>
            <a:r>
              <a:rPr lang="hu-HU" dirty="0" err="1"/>
              <a:t>arguments</a:t>
            </a:r>
            <a:r>
              <a:rPr lang="hu-HU" dirty="0"/>
              <a:t>, local/</a:t>
            </a:r>
            <a:r>
              <a:rPr lang="hu-HU" dirty="0" err="1"/>
              <a:t>global</a:t>
            </a:r>
            <a:r>
              <a:rPr lang="hu-HU" dirty="0"/>
              <a:t> </a:t>
            </a:r>
            <a:r>
              <a:rPr lang="hu-HU" dirty="0" err="1"/>
              <a:t>variables</a:t>
            </a:r>
            <a:r>
              <a:rPr lang="hu-HU" dirty="0"/>
              <a:t> </a:t>
            </a:r>
            <a:r>
              <a:rPr lang="hu-HU" dirty="0" err="1"/>
              <a:t>or</a:t>
            </a:r>
            <a:r>
              <a:rPr lang="hu-HU" dirty="0"/>
              <a:t> input/output </a:t>
            </a:r>
            <a:r>
              <a:rPr lang="hu-HU" dirty="0" err="1"/>
              <a:t>streams</a:t>
            </a:r>
            <a:r>
              <a:rPr lang="hu-HU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/>
              <a:t>Gain</a:t>
            </a:r>
            <a:r>
              <a:rPr lang="hu-HU" dirty="0"/>
              <a:t>: </a:t>
            </a:r>
            <a:r>
              <a:rPr lang="hu-HU" dirty="0" err="1"/>
              <a:t>deterministic</a:t>
            </a:r>
            <a:r>
              <a:rPr lang="hu-HU" dirty="0"/>
              <a:t> and </a:t>
            </a:r>
            <a:r>
              <a:rPr lang="hu-HU" dirty="0" err="1"/>
              <a:t>easy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debug</a:t>
            </a: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/>
              <a:t>Recursion</a:t>
            </a:r>
            <a:endParaRPr lang="hu-H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/>
              <a:t>No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or</a:t>
            </a:r>
            <a:r>
              <a:rPr lang="hu-HU" dirty="0"/>
              <a:t> </a:t>
            </a:r>
            <a:r>
              <a:rPr lang="hu-HU" dirty="0" err="1"/>
              <a:t>while</a:t>
            </a:r>
            <a:r>
              <a:rPr lang="hu-HU" dirty="0"/>
              <a:t> </a:t>
            </a:r>
            <a:r>
              <a:rPr lang="hu-HU" dirty="0" err="1"/>
              <a:t>loops</a:t>
            </a:r>
            <a:endParaRPr lang="hu-H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/>
              <a:t>Iterations</a:t>
            </a:r>
            <a:r>
              <a:rPr lang="hu-HU" dirty="0"/>
              <a:t> </a:t>
            </a:r>
            <a:r>
              <a:rPr lang="hu-HU" dirty="0" err="1"/>
              <a:t>are</a:t>
            </a:r>
            <a:r>
              <a:rPr lang="hu-HU" dirty="0"/>
              <a:t> </a:t>
            </a:r>
            <a:r>
              <a:rPr lang="hu-HU" dirty="0" err="1"/>
              <a:t>implemented</a:t>
            </a:r>
            <a:r>
              <a:rPr lang="hu-HU" dirty="0"/>
              <a:t> </a:t>
            </a:r>
            <a:r>
              <a:rPr lang="hu-HU" dirty="0" err="1"/>
              <a:t>through</a:t>
            </a:r>
            <a:r>
              <a:rPr lang="hu-HU" dirty="0"/>
              <a:t> </a:t>
            </a:r>
            <a:r>
              <a:rPr lang="hu-HU" dirty="0" err="1"/>
              <a:t>recursion</a:t>
            </a: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/>
              <a:t>Referential</a:t>
            </a:r>
            <a:r>
              <a:rPr lang="hu-HU" dirty="0"/>
              <a:t> </a:t>
            </a:r>
            <a:r>
              <a:rPr lang="hu-HU" dirty="0" err="1"/>
              <a:t>transparency</a:t>
            </a:r>
            <a:endParaRPr lang="hu-H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/>
              <a:t>Using</a:t>
            </a:r>
            <a:r>
              <a:rPr lang="hu-HU" dirty="0"/>
              <a:t> </a:t>
            </a:r>
            <a:r>
              <a:rPr lang="hu-HU" dirty="0" err="1"/>
              <a:t>constants</a:t>
            </a:r>
            <a:r>
              <a:rPr lang="hu-HU" dirty="0"/>
              <a:t> – no </a:t>
            </a:r>
            <a:r>
              <a:rPr lang="hu-HU" dirty="0" err="1"/>
              <a:t>changes</a:t>
            </a:r>
            <a:r>
              <a:rPr lang="hu-HU" dirty="0"/>
              <a:t> </a:t>
            </a:r>
            <a:r>
              <a:rPr lang="hu-HU" dirty="0" err="1"/>
              <a:t>after</a:t>
            </a:r>
            <a:r>
              <a:rPr lang="hu-HU" dirty="0"/>
              <a:t> </a:t>
            </a:r>
            <a:r>
              <a:rPr lang="hu-HU" dirty="0" err="1"/>
              <a:t>defined</a:t>
            </a:r>
            <a:endParaRPr lang="hu-H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/>
              <a:t>New </a:t>
            </a:r>
            <a:r>
              <a:rPr lang="hu-HU" dirty="0" err="1"/>
              <a:t>value</a:t>
            </a:r>
            <a:r>
              <a:rPr lang="hu-HU" dirty="0"/>
              <a:t> </a:t>
            </a:r>
            <a:r>
              <a:rPr lang="hu-HU" dirty="0" err="1"/>
              <a:t>means</a:t>
            </a:r>
            <a:r>
              <a:rPr lang="hu-HU" dirty="0"/>
              <a:t> </a:t>
            </a:r>
            <a:r>
              <a:rPr lang="hu-HU" dirty="0" err="1"/>
              <a:t>new</a:t>
            </a:r>
            <a:r>
              <a:rPr lang="hu-HU" dirty="0"/>
              <a:t> </a:t>
            </a:r>
            <a:r>
              <a:rPr lang="hu-HU" dirty="0" err="1"/>
              <a:t>variable</a:t>
            </a:r>
            <a:endParaRPr lang="hu-H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/>
              <a:t>Eliminates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chances</a:t>
            </a:r>
            <a:r>
              <a:rPr lang="hu-HU" dirty="0"/>
              <a:t> of </a:t>
            </a:r>
            <a:r>
              <a:rPr lang="hu-HU" dirty="0" err="1"/>
              <a:t>side-effects</a:t>
            </a:r>
            <a:endParaRPr lang="hu-HU" dirty="0"/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DE264D5C-F9BE-4D26-AFF0-CA8AF029B00C}"/>
              </a:ext>
            </a:extLst>
          </p:cNvPr>
          <p:cNvSpPr txBox="1"/>
          <p:nvPr/>
        </p:nvSpPr>
        <p:spPr>
          <a:xfrm>
            <a:off x="6312877" y="1003177"/>
            <a:ext cx="5418875" cy="3877985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/>
              <a:t>First-Class</a:t>
            </a:r>
            <a:r>
              <a:rPr lang="hu-HU" dirty="0"/>
              <a:t> </a:t>
            </a:r>
            <a:r>
              <a:rPr lang="hu-HU" dirty="0" err="1"/>
              <a:t>Functions</a:t>
            </a:r>
            <a:r>
              <a:rPr lang="hu-HU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/>
              <a:t>Functions</a:t>
            </a:r>
            <a:r>
              <a:rPr lang="hu-HU" dirty="0"/>
              <a:t> </a:t>
            </a:r>
            <a:r>
              <a:rPr lang="hu-HU" dirty="0" err="1"/>
              <a:t>are</a:t>
            </a:r>
            <a:r>
              <a:rPr lang="hu-HU" dirty="0"/>
              <a:t> </a:t>
            </a:r>
            <a:r>
              <a:rPr lang="hu-HU" dirty="0" err="1"/>
              <a:t>first-class</a:t>
            </a:r>
            <a:r>
              <a:rPr lang="hu-HU" dirty="0"/>
              <a:t> </a:t>
            </a:r>
            <a:r>
              <a:rPr lang="hu-HU" dirty="0" err="1"/>
              <a:t>variable</a:t>
            </a:r>
            <a:endParaRPr lang="hu-H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/>
              <a:t>Can</a:t>
            </a:r>
            <a:r>
              <a:rPr lang="hu-HU" dirty="0"/>
              <a:t> be </a:t>
            </a:r>
            <a:r>
              <a:rPr lang="hu-HU" dirty="0" err="1"/>
              <a:t>passed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other</a:t>
            </a:r>
            <a:r>
              <a:rPr lang="hu-HU" dirty="0"/>
              <a:t> </a:t>
            </a:r>
            <a:r>
              <a:rPr lang="hu-HU" dirty="0" err="1"/>
              <a:t>functions</a:t>
            </a:r>
            <a:r>
              <a:rPr lang="hu-HU" dirty="0"/>
              <a:t> </a:t>
            </a:r>
            <a:r>
              <a:rPr lang="hu-HU" dirty="0" err="1"/>
              <a:t>as</a:t>
            </a:r>
            <a:r>
              <a:rPr lang="hu-HU" dirty="0"/>
              <a:t> </a:t>
            </a:r>
            <a:r>
              <a:rPr lang="hu-HU" dirty="0" err="1"/>
              <a:t>parameters</a:t>
            </a:r>
            <a:endParaRPr lang="hu-H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/>
              <a:t>Can</a:t>
            </a:r>
            <a:r>
              <a:rPr lang="hu-HU" dirty="0"/>
              <a:t> be </a:t>
            </a:r>
            <a:r>
              <a:rPr lang="hu-HU" dirty="0" err="1"/>
              <a:t>returned</a:t>
            </a:r>
            <a:r>
              <a:rPr lang="hu-HU" dirty="0"/>
              <a:t> </a:t>
            </a:r>
            <a:r>
              <a:rPr lang="hu-HU" dirty="0" err="1"/>
              <a:t>from</a:t>
            </a:r>
            <a:r>
              <a:rPr lang="hu-HU" dirty="0"/>
              <a:t> </a:t>
            </a:r>
            <a:r>
              <a:rPr lang="hu-HU" dirty="0" err="1"/>
              <a:t>functions</a:t>
            </a:r>
            <a:r>
              <a:rPr lang="hu-HU" dirty="0"/>
              <a:t> </a:t>
            </a:r>
            <a:r>
              <a:rPr lang="hu-HU" dirty="0" err="1"/>
              <a:t>or</a:t>
            </a:r>
            <a:r>
              <a:rPr lang="hu-HU" dirty="0"/>
              <a:t> </a:t>
            </a:r>
            <a:r>
              <a:rPr lang="hu-HU" dirty="0" err="1"/>
              <a:t>stored</a:t>
            </a:r>
            <a:r>
              <a:rPr lang="hu-HU" dirty="0"/>
              <a:t> in </a:t>
            </a:r>
            <a:r>
              <a:rPr lang="hu-HU" dirty="0" err="1"/>
              <a:t>data</a:t>
            </a:r>
            <a:r>
              <a:rPr lang="hu-HU" dirty="0"/>
              <a:t> </a:t>
            </a:r>
            <a:r>
              <a:rPr lang="hu-HU" dirty="0" err="1"/>
              <a:t>structures</a:t>
            </a: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/>
              <a:t>Higher</a:t>
            </a:r>
            <a:r>
              <a:rPr lang="hu-HU" dirty="0"/>
              <a:t> </a:t>
            </a:r>
            <a:r>
              <a:rPr lang="hu-HU" dirty="0" err="1"/>
              <a:t>order</a:t>
            </a:r>
            <a:r>
              <a:rPr lang="hu-HU" dirty="0"/>
              <a:t> </a:t>
            </a:r>
            <a:r>
              <a:rPr lang="hu-HU" dirty="0" err="1"/>
              <a:t>Functions</a:t>
            </a:r>
            <a:endParaRPr lang="hu-H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/>
              <a:t>Functions</a:t>
            </a:r>
            <a:r>
              <a:rPr lang="hu-HU" dirty="0"/>
              <a:t> </a:t>
            </a:r>
            <a:r>
              <a:rPr lang="hu-HU" dirty="0" err="1"/>
              <a:t>that</a:t>
            </a:r>
            <a:r>
              <a:rPr lang="hu-HU" dirty="0"/>
              <a:t> </a:t>
            </a:r>
            <a:r>
              <a:rPr lang="hu-HU" dirty="0" err="1"/>
              <a:t>take</a:t>
            </a:r>
            <a:r>
              <a:rPr lang="hu-HU" dirty="0"/>
              <a:t> </a:t>
            </a:r>
            <a:r>
              <a:rPr lang="hu-HU" dirty="0" err="1"/>
              <a:t>other</a:t>
            </a:r>
            <a:r>
              <a:rPr lang="hu-HU" dirty="0"/>
              <a:t> </a:t>
            </a:r>
            <a:r>
              <a:rPr lang="hu-HU" dirty="0" err="1"/>
              <a:t>functions</a:t>
            </a:r>
            <a:r>
              <a:rPr lang="hu-HU" dirty="0"/>
              <a:t> </a:t>
            </a:r>
            <a:r>
              <a:rPr lang="hu-HU" dirty="0" err="1"/>
              <a:t>as</a:t>
            </a:r>
            <a:r>
              <a:rPr lang="hu-HU" dirty="0"/>
              <a:t> </a:t>
            </a:r>
            <a:r>
              <a:rPr lang="hu-HU" dirty="0" err="1"/>
              <a:t>arguments</a:t>
            </a:r>
            <a:endParaRPr lang="hu-H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/>
              <a:t>Can</a:t>
            </a:r>
            <a:r>
              <a:rPr lang="hu-HU" dirty="0"/>
              <a:t> </a:t>
            </a:r>
            <a:r>
              <a:rPr lang="hu-HU" dirty="0" err="1"/>
              <a:t>return</a:t>
            </a:r>
            <a:r>
              <a:rPr lang="hu-HU" dirty="0"/>
              <a:t> </a:t>
            </a:r>
            <a:r>
              <a:rPr lang="hu-HU" dirty="0" err="1"/>
              <a:t>functions</a:t>
            </a: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/>
              <a:t>Immutability</a:t>
            </a:r>
            <a:endParaRPr lang="hu-H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/>
              <a:t>A </a:t>
            </a:r>
            <a:r>
              <a:rPr lang="hu-HU" dirty="0" err="1"/>
              <a:t>variable</a:t>
            </a:r>
            <a:r>
              <a:rPr lang="hu-HU" dirty="0"/>
              <a:t> is </a:t>
            </a:r>
            <a:r>
              <a:rPr lang="hu-HU" dirty="0" err="1"/>
              <a:t>always</a:t>
            </a:r>
            <a:r>
              <a:rPr lang="hu-HU" dirty="0"/>
              <a:t> constant – </a:t>
            </a:r>
            <a:r>
              <a:rPr lang="hu-HU" dirty="0" err="1"/>
              <a:t>cannot</a:t>
            </a:r>
            <a:r>
              <a:rPr lang="hu-HU" dirty="0"/>
              <a:t> be </a:t>
            </a:r>
            <a:r>
              <a:rPr lang="hu-HU" dirty="0" err="1"/>
              <a:t>modified</a:t>
            </a:r>
            <a:r>
              <a:rPr lang="hu-HU" dirty="0"/>
              <a:t> </a:t>
            </a:r>
            <a:r>
              <a:rPr lang="hu-HU" dirty="0" err="1"/>
              <a:t>after</a:t>
            </a:r>
            <a:r>
              <a:rPr lang="hu-HU" dirty="0"/>
              <a:t> </a:t>
            </a:r>
            <a:r>
              <a:rPr lang="hu-HU" dirty="0" err="1"/>
              <a:t>initialized</a:t>
            </a:r>
            <a:endParaRPr lang="hu-H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/>
              <a:t>Helps</a:t>
            </a:r>
            <a:r>
              <a:rPr lang="hu-HU" dirty="0"/>
              <a:t> </a:t>
            </a:r>
            <a:r>
              <a:rPr lang="hu-HU" dirty="0" err="1"/>
              <a:t>maintinging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state</a:t>
            </a:r>
            <a:r>
              <a:rPr lang="hu-HU" dirty="0"/>
              <a:t> </a:t>
            </a:r>
            <a:r>
              <a:rPr lang="hu-HU" dirty="0" err="1"/>
              <a:t>throughout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runtime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27001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Pros</a:t>
            </a:r>
            <a:r>
              <a:rPr lang="hu-HU" dirty="0"/>
              <a:t> and cons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/>
              <a:t>Functional</a:t>
            </a:r>
            <a:r>
              <a:rPr lang="hu-HU" dirty="0"/>
              <a:t> </a:t>
            </a:r>
            <a:r>
              <a:rPr lang="hu-HU" dirty="0" err="1"/>
              <a:t>programming</a:t>
            </a:r>
            <a:endParaRPr lang="hu-HU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DE264D5C-F9BE-4D26-AFF0-CA8AF029B00C}"/>
              </a:ext>
            </a:extLst>
          </p:cNvPr>
          <p:cNvSpPr txBox="1"/>
          <p:nvPr/>
        </p:nvSpPr>
        <p:spPr>
          <a:xfrm>
            <a:off x="457200" y="1003177"/>
            <a:ext cx="5539154" cy="443198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hu-HU" b="1" u="sng" dirty="0" err="1"/>
              <a:t>Advantages</a:t>
            </a:r>
            <a:endParaRPr lang="hu-HU" b="1" u="sng" dirty="0"/>
          </a:p>
          <a:p>
            <a:pPr marL="342900" indent="-342900">
              <a:buFont typeface="+mj-lt"/>
              <a:buAutoNum type="arabicPeriod"/>
            </a:pPr>
            <a:r>
              <a:rPr lang="hu-HU" dirty="0"/>
              <a:t>Pure functions are easier to understand</a:t>
            </a:r>
          </a:p>
          <a:p>
            <a:pPr marL="800100" lvl="1" indent="-342900">
              <a:buFont typeface="+mj-lt"/>
              <a:buAutoNum type="alphaLcParenR"/>
            </a:pPr>
            <a:r>
              <a:rPr lang="hu-HU" dirty="0"/>
              <a:t>No </a:t>
            </a:r>
            <a:r>
              <a:rPr lang="hu-HU" dirty="0" err="1"/>
              <a:t>state</a:t>
            </a:r>
            <a:r>
              <a:rPr lang="hu-HU" dirty="0"/>
              <a:t> </a:t>
            </a:r>
            <a:r>
              <a:rPr lang="hu-HU" dirty="0" err="1"/>
              <a:t>changes</a:t>
            </a:r>
            <a:endParaRPr lang="hu-HU" dirty="0"/>
          </a:p>
          <a:p>
            <a:pPr marL="800100" lvl="1" indent="-342900">
              <a:buFont typeface="+mj-lt"/>
              <a:buAutoNum type="alphaLcParenR"/>
            </a:pPr>
            <a:r>
              <a:rPr lang="hu-HU" dirty="0"/>
              <a:t>No </a:t>
            </a:r>
            <a:r>
              <a:rPr lang="hu-HU" dirty="0" err="1"/>
              <a:t>dependency</a:t>
            </a:r>
            <a:r>
              <a:rPr lang="hu-HU" dirty="0"/>
              <a:t> – </a:t>
            </a:r>
            <a:r>
              <a:rPr lang="hu-HU" dirty="0" err="1"/>
              <a:t>only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given</a:t>
            </a:r>
            <a:r>
              <a:rPr lang="hu-HU" dirty="0"/>
              <a:t> input</a:t>
            </a:r>
          </a:p>
          <a:p>
            <a:pPr marL="800100" lvl="1" indent="-342900">
              <a:buFont typeface="+mj-lt"/>
              <a:buAutoNum type="alphaLcParenR"/>
            </a:pPr>
            <a:r>
              <a:rPr lang="hu-HU" dirty="0" err="1"/>
              <a:t>One</a:t>
            </a:r>
            <a:r>
              <a:rPr lang="hu-HU" dirty="0"/>
              <a:t> </a:t>
            </a:r>
            <a:r>
              <a:rPr lang="hu-HU" dirty="0" err="1"/>
              <a:t>produced</a:t>
            </a:r>
            <a:r>
              <a:rPr lang="hu-HU" dirty="0"/>
              <a:t> output –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return</a:t>
            </a:r>
            <a:r>
              <a:rPr lang="hu-HU" dirty="0"/>
              <a:t> </a:t>
            </a:r>
            <a:r>
              <a:rPr lang="hu-HU" dirty="0" err="1"/>
              <a:t>value</a:t>
            </a:r>
            <a:endParaRPr lang="hu-HU" dirty="0"/>
          </a:p>
          <a:p>
            <a:pPr marL="342900" indent="-342900">
              <a:buFont typeface="+mj-lt"/>
              <a:buAutoNum type="arabicPeriod"/>
            </a:pPr>
            <a:r>
              <a:rPr lang="hu-HU" dirty="0" err="1"/>
              <a:t>Treating</a:t>
            </a:r>
            <a:r>
              <a:rPr lang="hu-HU" dirty="0"/>
              <a:t> </a:t>
            </a:r>
            <a:r>
              <a:rPr lang="hu-HU" dirty="0" err="1"/>
              <a:t>functions</a:t>
            </a:r>
            <a:r>
              <a:rPr lang="hu-HU" dirty="0"/>
              <a:t> </a:t>
            </a:r>
            <a:r>
              <a:rPr lang="hu-HU" dirty="0" err="1"/>
              <a:t>as</a:t>
            </a:r>
            <a:r>
              <a:rPr lang="hu-HU" dirty="0"/>
              <a:t> </a:t>
            </a:r>
            <a:r>
              <a:rPr lang="hu-HU" dirty="0" err="1"/>
              <a:t>values</a:t>
            </a:r>
            <a:r>
              <a:rPr lang="hu-HU" dirty="0"/>
              <a:t> and </a:t>
            </a:r>
            <a:r>
              <a:rPr lang="hu-HU" dirty="0" err="1"/>
              <a:t>pass</a:t>
            </a:r>
            <a:r>
              <a:rPr lang="hu-HU" dirty="0"/>
              <a:t> </a:t>
            </a:r>
            <a:r>
              <a:rPr lang="hu-HU" dirty="0" err="1"/>
              <a:t>them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others</a:t>
            </a:r>
            <a:r>
              <a:rPr lang="hu-HU" dirty="0"/>
              <a:t> </a:t>
            </a:r>
            <a:r>
              <a:rPr lang="hu-HU" dirty="0" err="1"/>
              <a:t>makes</a:t>
            </a:r>
            <a:r>
              <a:rPr lang="hu-HU" dirty="0"/>
              <a:t> </a:t>
            </a:r>
            <a:r>
              <a:rPr lang="hu-HU" dirty="0" err="1"/>
              <a:t>code</a:t>
            </a:r>
            <a:r>
              <a:rPr lang="hu-HU" dirty="0"/>
              <a:t> more </a:t>
            </a:r>
            <a:r>
              <a:rPr lang="hu-HU" dirty="0" err="1"/>
              <a:t>readable</a:t>
            </a:r>
            <a:r>
              <a:rPr lang="hu-HU" dirty="0"/>
              <a:t> and </a:t>
            </a:r>
            <a:r>
              <a:rPr lang="hu-HU" dirty="0" err="1"/>
              <a:t>easily</a:t>
            </a:r>
            <a:r>
              <a:rPr lang="hu-HU" dirty="0"/>
              <a:t> </a:t>
            </a:r>
            <a:r>
              <a:rPr lang="hu-HU" dirty="0" err="1"/>
              <a:t>understandable</a:t>
            </a:r>
            <a:endParaRPr lang="hu-HU" dirty="0"/>
          </a:p>
          <a:p>
            <a:pPr marL="342900" indent="-342900">
              <a:buFont typeface="+mj-lt"/>
              <a:buAutoNum type="arabicPeriod"/>
            </a:pPr>
            <a:r>
              <a:rPr lang="hu-HU" dirty="0" err="1"/>
              <a:t>Easy</a:t>
            </a:r>
            <a:r>
              <a:rPr lang="hu-HU" dirty="0"/>
              <a:t> testing and </a:t>
            </a:r>
            <a:r>
              <a:rPr lang="hu-HU" dirty="0" err="1"/>
              <a:t>debugging</a:t>
            </a:r>
            <a:endParaRPr lang="hu-HU" dirty="0"/>
          </a:p>
          <a:p>
            <a:pPr marL="800100" lvl="1" indent="-342900">
              <a:buFont typeface="+mj-lt"/>
              <a:buAutoNum type="alphaLcParenR"/>
            </a:pPr>
            <a:r>
              <a:rPr lang="hu-HU" dirty="0" err="1"/>
              <a:t>One</a:t>
            </a:r>
            <a:r>
              <a:rPr lang="hu-HU" dirty="0"/>
              <a:t> input – </a:t>
            </a:r>
            <a:r>
              <a:rPr lang="hu-HU" dirty="0" err="1"/>
              <a:t>one</a:t>
            </a:r>
            <a:r>
              <a:rPr lang="hu-HU" dirty="0"/>
              <a:t> output </a:t>
            </a:r>
            <a:r>
              <a:rPr lang="hu-HU" dirty="0" err="1"/>
              <a:t>principle</a:t>
            </a:r>
            <a:endParaRPr lang="hu-HU" dirty="0"/>
          </a:p>
          <a:p>
            <a:pPr marL="800100" lvl="1" indent="-342900">
              <a:buFont typeface="+mj-lt"/>
              <a:buAutoNum type="alphaLcParenR"/>
            </a:pPr>
            <a:r>
              <a:rPr lang="hu-HU" dirty="0"/>
              <a:t>No </a:t>
            </a:r>
            <a:r>
              <a:rPr lang="hu-HU" dirty="0" err="1"/>
              <a:t>changes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input, no </a:t>
            </a:r>
            <a:r>
              <a:rPr lang="hu-HU" dirty="0" err="1"/>
              <a:t>hidden</a:t>
            </a:r>
            <a:r>
              <a:rPr lang="hu-HU" dirty="0"/>
              <a:t> output</a:t>
            </a:r>
          </a:p>
          <a:p>
            <a:pPr marL="342900" indent="-342900">
              <a:buFont typeface="+mj-lt"/>
              <a:buAutoNum type="arabicPeriod"/>
            </a:pPr>
            <a:r>
              <a:rPr lang="hu-HU" dirty="0"/>
              <a:t>It </a:t>
            </a:r>
            <a:r>
              <a:rPr lang="hu-HU" dirty="0" err="1"/>
              <a:t>can</a:t>
            </a:r>
            <a:r>
              <a:rPr lang="hu-HU" dirty="0"/>
              <a:t> be </a:t>
            </a:r>
            <a:r>
              <a:rPr lang="hu-HU" dirty="0" err="1"/>
              <a:t>used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implement</a:t>
            </a:r>
            <a:r>
              <a:rPr lang="hu-HU" dirty="0"/>
              <a:t> </a:t>
            </a:r>
            <a:r>
              <a:rPr lang="hu-HU" dirty="0" err="1"/>
              <a:t>concurrency</a:t>
            </a:r>
            <a:r>
              <a:rPr lang="hu-HU" dirty="0"/>
              <a:t>/</a:t>
            </a:r>
            <a:r>
              <a:rPr lang="hu-HU" dirty="0" err="1"/>
              <a:t>parallelism</a:t>
            </a:r>
            <a:r>
              <a:rPr lang="hu-HU" dirty="0"/>
              <a:t> </a:t>
            </a:r>
            <a:r>
              <a:rPr lang="hu-HU" dirty="0" err="1"/>
              <a:t>as</a:t>
            </a:r>
            <a:r>
              <a:rPr lang="hu-HU" dirty="0"/>
              <a:t> </a:t>
            </a:r>
            <a:r>
              <a:rPr lang="hu-HU" dirty="0" err="1"/>
              <a:t>pure</a:t>
            </a:r>
            <a:r>
              <a:rPr lang="hu-HU" dirty="0"/>
              <a:t> </a:t>
            </a:r>
            <a:r>
              <a:rPr lang="hu-HU" dirty="0" err="1"/>
              <a:t>functions</a:t>
            </a:r>
            <a:r>
              <a:rPr lang="hu-HU" dirty="0"/>
              <a:t> </a:t>
            </a:r>
            <a:r>
              <a:rPr lang="hu-HU" dirty="0" err="1"/>
              <a:t>don’t</a:t>
            </a:r>
            <a:r>
              <a:rPr lang="hu-HU" dirty="0"/>
              <a:t> </a:t>
            </a:r>
            <a:r>
              <a:rPr lang="hu-HU" dirty="0" err="1"/>
              <a:t>change</a:t>
            </a:r>
            <a:r>
              <a:rPr lang="hu-HU" dirty="0"/>
              <a:t> </a:t>
            </a:r>
            <a:r>
              <a:rPr lang="hu-HU" dirty="0" err="1"/>
              <a:t>variables</a:t>
            </a:r>
            <a:r>
              <a:rPr lang="hu-HU" dirty="0"/>
              <a:t> </a:t>
            </a:r>
            <a:r>
              <a:rPr lang="hu-HU" dirty="0" err="1"/>
              <a:t>or</a:t>
            </a:r>
            <a:r>
              <a:rPr lang="hu-HU" dirty="0"/>
              <a:t> </a:t>
            </a:r>
            <a:r>
              <a:rPr lang="hu-HU" dirty="0" err="1"/>
              <a:t>any</a:t>
            </a:r>
            <a:r>
              <a:rPr lang="hu-HU" dirty="0"/>
              <a:t> </a:t>
            </a:r>
            <a:r>
              <a:rPr lang="hu-HU" dirty="0" err="1"/>
              <a:t>other</a:t>
            </a:r>
            <a:r>
              <a:rPr lang="hu-HU" dirty="0"/>
              <a:t> </a:t>
            </a:r>
            <a:r>
              <a:rPr lang="hu-HU" dirty="0" err="1"/>
              <a:t>data</a:t>
            </a:r>
            <a:r>
              <a:rPr lang="hu-HU" dirty="0"/>
              <a:t> </a:t>
            </a:r>
            <a:r>
              <a:rPr lang="hu-HU" dirty="0" err="1"/>
              <a:t>outside</a:t>
            </a:r>
            <a:r>
              <a:rPr lang="hu-HU" dirty="0"/>
              <a:t> of </a:t>
            </a:r>
            <a:r>
              <a:rPr lang="hu-HU" dirty="0" err="1"/>
              <a:t>their</a:t>
            </a:r>
            <a:r>
              <a:rPr lang="hu-HU" dirty="0"/>
              <a:t> context</a:t>
            </a:r>
          </a:p>
          <a:p>
            <a:pPr marL="342900" indent="-342900">
              <a:buFont typeface="+mj-lt"/>
              <a:buAutoNum type="arabicPeriod"/>
            </a:pPr>
            <a:r>
              <a:rPr lang="hu-HU" dirty="0" err="1"/>
              <a:t>Lazy</a:t>
            </a:r>
            <a:r>
              <a:rPr lang="hu-HU" dirty="0"/>
              <a:t> </a:t>
            </a:r>
            <a:r>
              <a:rPr lang="hu-HU" dirty="0" err="1"/>
              <a:t>evaluation</a:t>
            </a:r>
            <a:endParaRPr lang="hu-HU" dirty="0"/>
          </a:p>
          <a:p>
            <a:pPr marL="800100" lvl="1" indent="-342900">
              <a:buFont typeface="+mj-lt"/>
              <a:buAutoNum type="alphaLcParenR"/>
            </a:pPr>
            <a:r>
              <a:rPr lang="hu-HU" dirty="0" err="1"/>
              <a:t>Evaluate</a:t>
            </a:r>
            <a:r>
              <a:rPr lang="hu-HU" dirty="0"/>
              <a:t> </a:t>
            </a:r>
            <a:r>
              <a:rPr lang="hu-HU" dirty="0" err="1"/>
              <a:t>when</a:t>
            </a:r>
            <a:r>
              <a:rPr lang="hu-HU" dirty="0"/>
              <a:t> </a:t>
            </a:r>
            <a:r>
              <a:rPr lang="hu-HU" dirty="0" err="1"/>
              <a:t>needed</a:t>
            </a:r>
            <a:endParaRPr lang="hu-HU" dirty="0"/>
          </a:p>
          <a:p>
            <a:pPr marL="800100" lvl="1" indent="-342900">
              <a:buFont typeface="+mj-lt"/>
              <a:buAutoNum type="alphaLcParenR"/>
            </a:pPr>
            <a:r>
              <a:rPr lang="hu-HU" dirty="0" err="1"/>
              <a:t>Store</a:t>
            </a:r>
            <a:r>
              <a:rPr lang="hu-HU" dirty="0"/>
              <a:t> </a:t>
            </a:r>
            <a:r>
              <a:rPr lang="hu-HU" dirty="0" err="1"/>
              <a:t>results</a:t>
            </a:r>
            <a:r>
              <a:rPr lang="hu-HU" dirty="0"/>
              <a:t> </a:t>
            </a:r>
            <a:r>
              <a:rPr lang="hu-HU" dirty="0" err="1"/>
              <a:t>if</a:t>
            </a:r>
            <a:r>
              <a:rPr lang="hu-HU" dirty="0"/>
              <a:t> </a:t>
            </a:r>
            <a:r>
              <a:rPr lang="hu-HU" dirty="0" err="1"/>
              <a:t>needed</a:t>
            </a:r>
            <a:r>
              <a:rPr lang="hu-HU" dirty="0"/>
              <a:t> more </a:t>
            </a:r>
            <a:r>
              <a:rPr lang="hu-HU" dirty="0" err="1"/>
              <a:t>than</a:t>
            </a:r>
            <a:r>
              <a:rPr lang="hu-HU" dirty="0"/>
              <a:t> </a:t>
            </a:r>
            <a:r>
              <a:rPr lang="hu-HU" dirty="0" err="1"/>
              <a:t>once</a:t>
            </a:r>
            <a:endParaRPr lang="hu-HU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E264D5C-F9BE-4D26-AFF0-CA8AF029B00C}"/>
              </a:ext>
            </a:extLst>
          </p:cNvPr>
          <p:cNvSpPr txBox="1"/>
          <p:nvPr/>
        </p:nvSpPr>
        <p:spPr>
          <a:xfrm>
            <a:off x="6312877" y="1003177"/>
            <a:ext cx="5418875" cy="249299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hu-HU" b="1" u="sng" dirty="0" err="1"/>
              <a:t>Disadvantages</a:t>
            </a:r>
            <a:endParaRPr lang="hu-HU" b="1" u="sng" dirty="0"/>
          </a:p>
          <a:p>
            <a:pPr marL="342900" indent="-342900">
              <a:buFont typeface="+mj-lt"/>
              <a:buAutoNum type="arabicPeriod"/>
            </a:pPr>
            <a:r>
              <a:rPr lang="hu-HU" dirty="0" err="1"/>
              <a:t>Sometimes</a:t>
            </a:r>
            <a:r>
              <a:rPr lang="hu-HU" dirty="0"/>
              <a:t> </a:t>
            </a:r>
            <a:r>
              <a:rPr lang="hu-HU" dirty="0" err="1"/>
              <a:t>writing</a:t>
            </a:r>
            <a:r>
              <a:rPr lang="hu-HU" dirty="0"/>
              <a:t> </a:t>
            </a:r>
            <a:r>
              <a:rPr lang="hu-HU" dirty="0" err="1"/>
              <a:t>pure</a:t>
            </a:r>
            <a:r>
              <a:rPr lang="hu-HU" dirty="0"/>
              <a:t> </a:t>
            </a:r>
            <a:r>
              <a:rPr lang="hu-HU" dirty="0" err="1"/>
              <a:t>functions</a:t>
            </a:r>
            <a:r>
              <a:rPr lang="hu-HU" dirty="0"/>
              <a:t> </a:t>
            </a:r>
            <a:r>
              <a:rPr lang="hu-HU" dirty="0" err="1"/>
              <a:t>can</a:t>
            </a:r>
            <a:r>
              <a:rPr lang="hu-HU" dirty="0"/>
              <a:t> </a:t>
            </a:r>
            <a:r>
              <a:rPr lang="hu-HU" dirty="0" err="1"/>
              <a:t>reduce</a:t>
            </a:r>
            <a:r>
              <a:rPr lang="hu-HU" dirty="0"/>
              <a:t> </a:t>
            </a:r>
            <a:r>
              <a:rPr lang="hu-HU" dirty="0" err="1"/>
              <a:t>readiblity</a:t>
            </a:r>
            <a:r>
              <a:rPr lang="hu-HU" dirty="0"/>
              <a:t> of </a:t>
            </a:r>
            <a:r>
              <a:rPr lang="hu-HU" dirty="0" err="1"/>
              <a:t>code</a:t>
            </a:r>
            <a:endParaRPr lang="hu-HU" dirty="0"/>
          </a:p>
          <a:p>
            <a:pPr marL="342900" indent="-342900">
              <a:buFont typeface="+mj-lt"/>
              <a:buAutoNum type="arabicPeriod"/>
            </a:pPr>
            <a:r>
              <a:rPr lang="hu-HU" dirty="0" err="1"/>
              <a:t>Writing</a:t>
            </a:r>
            <a:r>
              <a:rPr lang="hu-HU" dirty="0"/>
              <a:t> </a:t>
            </a:r>
            <a:r>
              <a:rPr lang="hu-HU" dirty="0" err="1"/>
              <a:t>programs</a:t>
            </a:r>
            <a:r>
              <a:rPr lang="hu-HU" dirty="0"/>
              <a:t> in </a:t>
            </a:r>
            <a:r>
              <a:rPr lang="hu-HU" dirty="0" err="1"/>
              <a:t>recursive</a:t>
            </a:r>
            <a:r>
              <a:rPr lang="hu-HU" dirty="0"/>
              <a:t> </a:t>
            </a:r>
            <a:r>
              <a:rPr lang="hu-HU" dirty="0" err="1"/>
              <a:t>style</a:t>
            </a:r>
            <a:r>
              <a:rPr lang="hu-HU" dirty="0"/>
              <a:t> </a:t>
            </a:r>
            <a:r>
              <a:rPr lang="hu-HU" dirty="0" err="1"/>
              <a:t>instead</a:t>
            </a:r>
            <a:r>
              <a:rPr lang="hu-HU" dirty="0"/>
              <a:t> of </a:t>
            </a:r>
            <a:r>
              <a:rPr lang="hu-HU" dirty="0" err="1"/>
              <a:t>using</a:t>
            </a:r>
            <a:r>
              <a:rPr lang="hu-HU" dirty="0"/>
              <a:t> </a:t>
            </a:r>
            <a:r>
              <a:rPr lang="hu-HU" dirty="0" err="1"/>
              <a:t>loops</a:t>
            </a:r>
            <a:r>
              <a:rPr lang="hu-HU" dirty="0"/>
              <a:t> </a:t>
            </a:r>
            <a:r>
              <a:rPr lang="hu-HU" dirty="0" err="1"/>
              <a:t>can</a:t>
            </a:r>
            <a:r>
              <a:rPr lang="hu-HU" dirty="0"/>
              <a:t> be </a:t>
            </a:r>
            <a:r>
              <a:rPr lang="hu-HU" dirty="0" err="1"/>
              <a:t>intimidating</a:t>
            </a:r>
            <a:endParaRPr lang="hu-HU" dirty="0"/>
          </a:p>
          <a:p>
            <a:pPr marL="342900" indent="-342900">
              <a:buFont typeface="+mj-lt"/>
              <a:buAutoNum type="arabicPeriod"/>
            </a:pPr>
            <a:r>
              <a:rPr lang="hu-HU" dirty="0" err="1"/>
              <a:t>Combining</a:t>
            </a:r>
            <a:r>
              <a:rPr lang="hu-HU" dirty="0"/>
              <a:t> </a:t>
            </a:r>
            <a:r>
              <a:rPr lang="hu-HU" dirty="0" err="1"/>
              <a:t>pure</a:t>
            </a:r>
            <a:r>
              <a:rPr lang="hu-HU" dirty="0"/>
              <a:t> </a:t>
            </a:r>
            <a:r>
              <a:rPr lang="hu-HU" dirty="0" err="1"/>
              <a:t>funtions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rest of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application</a:t>
            </a:r>
            <a:r>
              <a:rPr lang="hu-HU" dirty="0"/>
              <a:t> and I/O </a:t>
            </a:r>
            <a:r>
              <a:rPr lang="hu-HU" dirty="0" err="1"/>
              <a:t>operations</a:t>
            </a:r>
            <a:r>
              <a:rPr lang="hu-HU" dirty="0"/>
              <a:t> </a:t>
            </a:r>
            <a:r>
              <a:rPr lang="hu-HU" dirty="0" err="1"/>
              <a:t>can</a:t>
            </a:r>
            <a:r>
              <a:rPr lang="hu-HU" dirty="0"/>
              <a:t> be </a:t>
            </a:r>
            <a:r>
              <a:rPr lang="hu-HU" dirty="0" err="1"/>
              <a:t>difficult</a:t>
            </a:r>
            <a:endParaRPr lang="hu-HU" dirty="0"/>
          </a:p>
          <a:p>
            <a:pPr marL="342900" indent="-342900">
              <a:buFont typeface="+mj-lt"/>
              <a:buAutoNum type="arabicPeriod"/>
            </a:pPr>
            <a:r>
              <a:rPr lang="hu-HU" dirty="0" err="1"/>
              <a:t>Imutable</a:t>
            </a:r>
            <a:r>
              <a:rPr lang="hu-HU" dirty="0"/>
              <a:t> </a:t>
            </a:r>
            <a:r>
              <a:rPr lang="hu-HU" dirty="0" err="1"/>
              <a:t>values</a:t>
            </a:r>
            <a:r>
              <a:rPr lang="hu-HU" dirty="0"/>
              <a:t> and </a:t>
            </a:r>
            <a:r>
              <a:rPr lang="hu-HU" dirty="0" err="1"/>
              <a:t>recursion</a:t>
            </a:r>
            <a:r>
              <a:rPr lang="hu-HU" dirty="0"/>
              <a:t> </a:t>
            </a:r>
            <a:r>
              <a:rPr lang="hu-HU" dirty="0" err="1"/>
              <a:t>can</a:t>
            </a:r>
            <a:r>
              <a:rPr lang="hu-HU" dirty="0"/>
              <a:t> lead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decrease</a:t>
            </a:r>
            <a:r>
              <a:rPr lang="hu-HU" dirty="0"/>
              <a:t> in performance</a:t>
            </a:r>
          </a:p>
        </p:txBody>
      </p:sp>
    </p:spTree>
    <p:extLst>
      <p:ext uri="{BB962C8B-B14F-4D97-AF65-F5344CB8AC3E}">
        <p14:creationId xmlns:p14="http://schemas.microsoft.com/office/powerpoint/2010/main" val="1140193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1A20E3-D240-5D0E-89A7-2338EB031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Functional programming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025BA4-2BAA-BAD6-0B00-F758D5318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Impure functions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80030A07-E736-65A3-AF68-139A895BE1FE}"/>
              </a:ext>
            </a:extLst>
          </p:cNvPr>
          <p:cNvSpPr txBox="1">
            <a:spLocks/>
          </p:cNvSpPr>
          <p:nvPr/>
        </p:nvSpPr>
        <p:spPr>
          <a:xfrm>
            <a:off x="6509238" y="457200"/>
            <a:ext cx="4797425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Pure functions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3C4303-D705-0FB6-FCB2-A175CDD440BC}"/>
              </a:ext>
            </a:extLst>
          </p:cNvPr>
          <p:cNvSpPr txBox="1"/>
          <p:nvPr/>
        </p:nvSpPr>
        <p:spPr>
          <a:xfrm>
            <a:off x="457201" y="1059873"/>
            <a:ext cx="5423078" cy="1938992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let </a:t>
            </a:r>
            <a:r>
              <a:rPr lang="en-US" altLang="en-US" dirty="0">
                <a:solidFill>
                  <a:srgbClr val="212529"/>
                </a:solidFill>
                <a:latin typeface="Consolas" panose="020B0609020204030204" pitchFamily="49" charset="0"/>
              </a:rPr>
              <a:t>x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rgbClr val="000066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en-US" b="1" dirty="0">
                <a:solidFill>
                  <a:srgbClr val="000066"/>
                </a:solidFill>
                <a:latin typeface="Consolas" panose="020B0609020204030204" pitchFamily="49" charset="0"/>
              </a:rPr>
              <a:t>function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addImpure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altLang="en-US" dirty="0">
              <a:solidFill>
                <a:srgbClr val="212529"/>
              </a:solidFill>
              <a:latin typeface="Consolas" panose="020B0609020204030204" pitchFamily="49" charset="0"/>
            </a:endParaRPr>
          </a:p>
          <a:p>
            <a:pPr algn="l"/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 x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+=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en-US" dirty="0">
                <a:solidFill>
                  <a:srgbClr val="339933"/>
                </a:solidFill>
                <a:latin typeface="Consolas" panose="020B0609020204030204" pitchFamily="49" charset="0"/>
              </a:rPr>
              <a:t>  </a:t>
            </a:r>
            <a:r>
              <a:rPr lang="en-US" altLang="en-US" b="1" dirty="0">
                <a:solidFill>
                  <a:srgbClr val="000066"/>
                </a:solidFill>
                <a:latin typeface="Consolas" panose="020B0609020204030204" pitchFamily="49" charset="0"/>
              </a:rPr>
              <a:t>return </a:t>
            </a:r>
            <a:r>
              <a:rPr lang="en-US" altLang="en-US" dirty="0">
                <a:solidFill>
                  <a:srgbClr val="212529"/>
                </a:solidFill>
                <a:latin typeface="Consolas" panose="020B0609020204030204" pitchFamily="49" charset="0"/>
              </a:rPr>
              <a:t>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algn="l"/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addImpure</a:t>
            </a:r>
            <a:r>
              <a:rPr lang="en-US" altLang="en-US" dirty="0">
                <a:solidFill>
                  <a:srgbClr val="009900"/>
                </a:solidFill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addImpure</a:t>
            </a:r>
            <a:r>
              <a:rPr lang="en-US" altLang="en-US" dirty="0">
                <a:solidFill>
                  <a:srgbClr val="009900"/>
                </a:solidFill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en-US" dirty="0">
                <a:solidFill>
                  <a:srgbClr val="009900"/>
                </a:solidFill>
                <a:latin typeface="Consolas" panose="020B0609020204030204" pitchFamily="49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9EFDB0-1CA4-825E-91CE-EC369A226CE9}"/>
              </a:ext>
            </a:extLst>
          </p:cNvPr>
          <p:cNvSpPr txBox="1"/>
          <p:nvPr/>
        </p:nvSpPr>
        <p:spPr>
          <a:xfrm>
            <a:off x="457201" y="3508130"/>
            <a:ext cx="5423078" cy="1384995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b="1" dirty="0"/>
              <a:t>Multiple problems: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External dependency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Unpredictable outcome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Mutation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Not reusable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CFFD7B-300D-8D8D-8E6C-F0A4471EB4AE}"/>
              </a:ext>
            </a:extLst>
          </p:cNvPr>
          <p:cNvSpPr txBox="1"/>
          <p:nvPr/>
        </p:nvSpPr>
        <p:spPr>
          <a:xfrm>
            <a:off x="6374423" y="967540"/>
            <a:ext cx="558995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a, b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) {</a:t>
            </a:r>
            <a:endParaRPr lang="nn-NO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nn-NO" dirty="0">
                <a:solidFill>
                  <a:srgbClr val="D4D4D4"/>
                </a:solidFill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 + 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nn-NO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accent3"/>
                </a:solidFill>
                <a:latin typeface="Consolas" panose="020B0609020204030204" pitchFamily="49" charset="0"/>
              </a:rPr>
              <a:t>}</a:t>
            </a:r>
            <a:endParaRPr lang="nn-NO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nn-NO" dirty="0">
                <a:solidFill>
                  <a:srgbClr val="C586C0"/>
                </a:solidFill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3</a:t>
            </a:r>
            <a:r>
              <a:rPr lang="nn-NO" dirty="0">
                <a:solidFill>
                  <a:srgbClr val="C586C0"/>
                </a:solidFill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588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E3FDA7-2CF2-F9C8-DC07-79F638B556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Functional programming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764185-8591-69AB-BFB3-5318FFA69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Mutability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7F7F0F77-8EDF-03FC-F11A-F258369348EA}"/>
              </a:ext>
            </a:extLst>
          </p:cNvPr>
          <p:cNvSpPr txBox="1">
            <a:spLocks/>
          </p:cNvSpPr>
          <p:nvPr/>
        </p:nvSpPr>
        <p:spPr>
          <a:xfrm>
            <a:off x="6444762" y="457200"/>
            <a:ext cx="4797425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Immutability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C53CCF-0A22-E3FD-F0B9-0D0BD679C761}"/>
              </a:ext>
            </a:extLst>
          </p:cNvPr>
          <p:cNvSpPr txBox="1"/>
          <p:nvPr/>
        </p:nvSpPr>
        <p:spPr>
          <a:xfrm>
            <a:off x="457201" y="1059873"/>
            <a:ext cx="5423078" cy="110799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let </a:t>
            </a:r>
            <a:r>
              <a:rPr lang="en-US" altLang="en-US" dirty="0">
                <a:solidFill>
                  <a:srgbClr val="212529"/>
                </a:solidFill>
                <a:latin typeface="Consolas" panose="020B0609020204030204" pitchFamily="49" charset="0"/>
              </a:rPr>
              <a:t>x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rgbClr val="000066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en-US" dirty="0" err="1">
                <a:solidFill>
                  <a:srgbClr val="212529"/>
                </a:solidFill>
                <a:latin typeface="Consolas" panose="020B0609020204030204" pitchFamily="49" charset="0"/>
              </a:rPr>
              <a:t>x.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en-US" dirty="0" err="1">
                <a:solidFill>
                  <a:srgbClr val="212529"/>
                </a:solidFill>
                <a:latin typeface="Consolas" panose="020B0609020204030204" pitchFamily="49" charset="0"/>
              </a:rPr>
              <a:t>x.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99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en-US" dirty="0">
                <a:solidFill>
                  <a:srgbClr val="212529"/>
                </a:solidFill>
                <a:latin typeface="Consolas" panose="020B0609020204030204" pitchFamily="49" charset="0"/>
              </a:rPr>
              <a:t>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  <a:latin typeface="Consolas" panose="020B0609020204030204" pitchFamily="49" charset="0"/>
              </a:rPr>
              <a:t>// [1, 2, 3, 4, 5]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3399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DD03DD-1779-656D-7558-AF8011165877}"/>
              </a:ext>
            </a:extLst>
          </p:cNvPr>
          <p:cNvSpPr txBox="1"/>
          <p:nvPr/>
        </p:nvSpPr>
        <p:spPr>
          <a:xfrm>
            <a:off x="6343742" y="1015910"/>
            <a:ext cx="558995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1, 2, 3</a:t>
            </a:r>
            <a:r>
              <a:rPr lang="en-US" b="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using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destructuring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...x, 4, 5</a:t>
            </a:r>
            <a:r>
              <a:rPr lang="en-US" b="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nn-NO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[1, 2, 3, 4, 5]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[1, 2, 3]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182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E30C3E-E97F-8DBD-84F8-092A2D7226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Functional Programming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B3AA4B-FD19-482F-D286-0F3DF5525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state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8C47FCF-0131-F584-9D52-41721831221B}"/>
              </a:ext>
            </a:extLst>
          </p:cNvPr>
          <p:cNvSpPr txBox="1">
            <a:spLocks/>
          </p:cNvSpPr>
          <p:nvPr/>
        </p:nvSpPr>
        <p:spPr>
          <a:xfrm>
            <a:off x="6444762" y="457200"/>
            <a:ext cx="4797425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Avoiding shared state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37C2FE-C22A-394B-8771-1E63DDA86B78}"/>
              </a:ext>
            </a:extLst>
          </p:cNvPr>
          <p:cNvSpPr txBox="1"/>
          <p:nvPr/>
        </p:nvSpPr>
        <p:spPr>
          <a:xfrm>
            <a:off x="457201" y="1059873"/>
            <a:ext cx="5423078" cy="1938992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let </a:t>
            </a:r>
            <a:r>
              <a:rPr lang="en-US" altLang="en-US" dirty="0">
                <a:solidFill>
                  <a:srgbClr val="212529"/>
                </a:solidFill>
                <a:latin typeface="Consolas" panose="020B0609020204030204" pitchFamily="49" charset="0"/>
              </a:rPr>
              <a:t>counter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en-US" b="1" dirty="0">
                <a:solidFill>
                  <a:srgbClr val="000066"/>
                </a:solidFill>
                <a:latin typeface="Consolas" panose="020B0609020204030204" pitchFamily="49" charset="0"/>
              </a:rPr>
              <a:t>function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incrementCounter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() {</a:t>
            </a:r>
            <a:endParaRPr lang="en-US" altLang="en-US" dirty="0">
              <a:solidFill>
                <a:srgbClr val="212529"/>
              </a:solidFill>
              <a:latin typeface="Consolas" panose="020B0609020204030204" pitchFamily="49" charset="0"/>
            </a:endParaRPr>
          </a:p>
          <a:p>
            <a:pPr algn="l"/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altLang="en-US" dirty="0">
                <a:solidFill>
                  <a:srgbClr val="212529"/>
                </a:solidFill>
                <a:latin typeface="Consolas" panose="020B0609020204030204" pitchFamily="49" charset="0"/>
              </a:rPr>
              <a:t>counter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++;</a:t>
            </a:r>
          </a:p>
          <a:p>
            <a:pPr algn="l"/>
            <a:r>
              <a:rPr lang="en-US" altLang="en-US" dirty="0">
                <a:solidFill>
                  <a:srgbClr val="339933"/>
                </a:solidFill>
                <a:latin typeface="Consolas" panose="020B0609020204030204" pitchFamily="49" charset="0"/>
              </a:rPr>
              <a:t>  </a:t>
            </a:r>
            <a:r>
              <a:rPr lang="en-US" altLang="en-US" b="1" dirty="0">
                <a:solidFill>
                  <a:srgbClr val="000066"/>
                </a:solidFill>
                <a:latin typeface="Consolas" panose="020B0609020204030204" pitchFamily="49" charset="0"/>
              </a:rPr>
              <a:t>return </a:t>
            </a:r>
            <a:r>
              <a:rPr lang="en-US" altLang="en-US" dirty="0">
                <a:solidFill>
                  <a:srgbClr val="212529"/>
                </a:solidFill>
                <a:latin typeface="Consolas" panose="020B0609020204030204" pitchFamily="49" charset="0"/>
              </a:rPr>
              <a:t>counter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339933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incrementCounter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  <a:latin typeface="Consolas" panose="020B0609020204030204" pitchFamily="49" charset="0"/>
              </a:rPr>
              <a:t>// 1</a:t>
            </a:r>
          </a:p>
          <a:p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incrementCounter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  <a:latin typeface="Consolas" panose="020B0609020204030204" pitchFamily="49" charset="0"/>
              </a:rPr>
              <a:t>// 2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3399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E6A1A0-B78F-9FED-0665-E7C19E7287C5}"/>
              </a:ext>
            </a:extLst>
          </p:cNvPr>
          <p:cNvSpPr txBox="1"/>
          <p:nvPr/>
        </p:nvSpPr>
        <p:spPr>
          <a:xfrm>
            <a:off x="6343742" y="1015910"/>
            <a:ext cx="558995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increment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nn-NO" dirty="0">
                <a:solidFill>
                  <a:srgbClr val="C586C0"/>
                </a:solidFill>
                <a:latin typeface="Consolas" panose="020B0609020204030204" pitchFamily="49" charset="0"/>
              </a:rPr>
              <a:t>  return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+ 1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chemeClr val="accent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0;</a:t>
            </a: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increment</a:t>
            </a:r>
            <a:r>
              <a:rPr lang="nn-NO" dirty="0">
                <a:solidFill>
                  <a:srgbClr val="C586C0"/>
                </a:solidFill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nn-NO" dirty="0">
                <a:solidFill>
                  <a:srgbClr val="C586C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chemeClr val="accent3"/>
                </a:solidFill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</a:t>
            </a:r>
          </a:p>
          <a:p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increment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800" dirty="0">
                <a:solidFill>
                  <a:schemeClr val="accent3"/>
                </a:solidFill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count = 1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increment</a:t>
            </a:r>
            <a:r>
              <a:rPr lang="nn-NO" dirty="0">
                <a:solidFill>
                  <a:srgbClr val="C586C0"/>
                </a:solidFill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nn-NO" dirty="0">
                <a:solidFill>
                  <a:srgbClr val="C586C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chemeClr val="accent3"/>
                </a:solidFill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2</a:t>
            </a:r>
          </a:p>
        </p:txBody>
      </p:sp>
    </p:spTree>
    <p:extLst>
      <p:ext uri="{BB962C8B-B14F-4D97-AF65-F5344CB8AC3E}">
        <p14:creationId xmlns:p14="http://schemas.microsoft.com/office/powerpoint/2010/main" val="1531586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268835-FF75-FC33-201E-F96A17F301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Functional programming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633A75-CE96-F4C3-C792-AFA5A7988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First-class citizens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C1FA08-E5D6-9D6B-5D4F-27B755B94CD2}"/>
              </a:ext>
            </a:extLst>
          </p:cNvPr>
          <p:cNvSpPr txBox="1"/>
          <p:nvPr/>
        </p:nvSpPr>
        <p:spPr>
          <a:xfrm>
            <a:off x="6573716" y="612844"/>
            <a:ext cx="541606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Assign a function to a variable</a:t>
            </a:r>
            <a:endParaRPr lang="en-US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 </a:t>
            </a:r>
            <a:r>
              <a:rPr lang="en-US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 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en-US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2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3</a:t>
            </a:r>
            <a:endParaRPr lang="en-US" dirty="0">
              <a:solidFill>
                <a:srgbClr val="6A9955"/>
              </a:solidFill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Pass a function as an argument</a:t>
            </a: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callFunc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...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 </a:t>
            </a:r>
            <a:r>
              <a:rPr lang="en-US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callFunc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2, 3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5</a:t>
            </a:r>
          </a:p>
          <a:p>
            <a:endParaRPr lang="en-US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Return a function from a function</a:t>
            </a:r>
            <a:endParaRPr lang="en-US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createCounter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 const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count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 0;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nn-NO" dirty="0">
                <a:solidFill>
                  <a:srgbClr val="C586C0"/>
                </a:solidFill>
                <a:latin typeface="Consolas" panose="020B0609020204030204" pitchFamily="49" charset="0"/>
              </a:rPr>
              <a:t> return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 function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    </a:t>
            </a:r>
            <a:r>
              <a:rPr lang="nn-NO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++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chemeClr val="accent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chemeClr val="accent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dirty="0">
              <a:solidFill>
                <a:schemeClr val="accent3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c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onst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counter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createCounter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0</a:t>
            </a:r>
            <a:endParaRPr lang="en-US" dirty="0">
              <a:solidFill>
                <a:srgbClr val="6A9955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75D65D30-0F68-B55E-F598-901F96AC5A73}"/>
              </a:ext>
            </a:extLst>
          </p:cNvPr>
          <p:cNvSpPr txBox="1"/>
          <p:nvPr/>
        </p:nvSpPr>
        <p:spPr>
          <a:xfrm>
            <a:off x="457201" y="1059873"/>
            <a:ext cx="5143500" cy="110799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/>
              <a:t>Functions should be treated like any other data type: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Assigned to variables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Passed as arguments to other functions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Returned as values from other functions</a:t>
            </a:r>
          </a:p>
        </p:txBody>
      </p:sp>
    </p:spTree>
    <p:extLst>
      <p:ext uri="{BB962C8B-B14F-4D97-AF65-F5344CB8AC3E}">
        <p14:creationId xmlns:p14="http://schemas.microsoft.com/office/powerpoint/2010/main" val="3420213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D125C-BFB8-B4A4-EA5E-41EF9095A3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Functional programming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0437A4-3D18-CC05-A208-F8EF69C7A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Higher-order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49B4F9-0F18-50BF-BD89-C03AD687DB73}"/>
              </a:ext>
            </a:extLst>
          </p:cNvPr>
          <p:cNvSpPr txBox="1"/>
          <p:nvPr/>
        </p:nvSpPr>
        <p:spPr>
          <a:xfrm>
            <a:off x="6295293" y="1015910"/>
            <a:ext cx="575896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 higher order function</a:t>
            </a: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operateOn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operation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 x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 y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89608E"/>
                </a:solidFill>
                <a:latin typeface="Consolas" panose="020B0609020204030204" pitchFamily="49" charset="0"/>
              </a:rPr>
              <a:t>  </a:t>
            </a:r>
            <a:r>
              <a:rPr lang="nn-NO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operation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 y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chemeClr val="accent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returns sum of two arguments</a:t>
            </a:r>
            <a:endParaRPr lang="en-US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800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  </a:t>
            </a:r>
            <a:r>
              <a:rPr lang="nn-NO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 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en-US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b="0" dirty="0">
              <a:solidFill>
                <a:schemeClr val="accent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returns product of two arguments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multiply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800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  </a:t>
            </a:r>
            <a:r>
              <a:rPr lang="nn-NO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 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US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6A9955"/>
              </a:solidFill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operateOn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2, 3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5</a:t>
            </a: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operateOn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multiply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2, 3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6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929B5F37-34FC-124C-A45E-531CDA552271}"/>
              </a:ext>
            </a:extLst>
          </p:cNvPr>
          <p:cNvSpPr txBox="1"/>
          <p:nvPr/>
        </p:nvSpPr>
        <p:spPr>
          <a:xfrm>
            <a:off x="457201" y="1059873"/>
            <a:ext cx="5143500" cy="1384995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/>
              <a:t>In function programming functions can be used as arguments to other functions or returned as the result of a function.</a:t>
            </a:r>
          </a:p>
          <a:p>
            <a:pPr algn="l"/>
            <a:r>
              <a:rPr lang="en-US" dirty="0"/>
              <a:t>This allows for powerful abstractions, such as </a:t>
            </a:r>
            <a:r>
              <a:rPr lang="en-US" b="1" dirty="0"/>
              <a:t>functional composition</a:t>
            </a:r>
            <a:r>
              <a:rPr lang="en-US" dirty="0"/>
              <a:t> and </a:t>
            </a:r>
            <a:r>
              <a:rPr lang="en-US" b="1" dirty="0"/>
              <a:t>currying</a:t>
            </a:r>
          </a:p>
        </p:txBody>
      </p:sp>
    </p:spTree>
    <p:extLst>
      <p:ext uri="{BB962C8B-B14F-4D97-AF65-F5344CB8AC3E}">
        <p14:creationId xmlns:p14="http://schemas.microsoft.com/office/powerpoint/2010/main" val="4197823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1F55B3-4276-13A1-072E-3A70FEE41B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Functional programming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06C5EF-F0DD-638D-4AA4-0DF48768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evaluation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8D3B15-6E7D-0E96-D20C-898FF37D9B23}"/>
              </a:ext>
            </a:extLst>
          </p:cNvPr>
          <p:cNvSpPr txBox="1"/>
          <p:nvPr/>
        </p:nvSpPr>
        <p:spPr>
          <a:xfrm>
            <a:off x="457201" y="1059873"/>
            <a:ext cx="5143500" cy="1384995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/>
              <a:t>In function programming the evaluation of an expression is delayed until its value is needed, this is known as lazy evaluation.</a:t>
            </a:r>
          </a:p>
          <a:p>
            <a:pPr algn="l"/>
            <a:r>
              <a:rPr lang="en-US" dirty="0"/>
              <a:t>This can be useful to improve performance and save memory usage.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E2B156-5939-7C5C-97E0-1B608E300ADF}"/>
              </a:ext>
            </a:extLst>
          </p:cNvPr>
          <p:cNvSpPr txBox="1"/>
          <p:nvPr/>
        </p:nvSpPr>
        <p:spPr>
          <a:xfrm>
            <a:off x="6295293" y="1015910"/>
            <a:ext cx="575896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 generator </a:t>
            </a:r>
            <a:r>
              <a:rPr 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function –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infinite sequence</a:t>
            </a: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function*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naturalNumbers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 let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 n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 1;</a:t>
            </a:r>
            <a:endParaRPr lang="en-US" b="0" dirty="0">
              <a:solidFill>
                <a:schemeClr val="accent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89608E"/>
                </a:solidFill>
                <a:latin typeface="Consolas" panose="020B0609020204030204" pitchFamily="49" charset="0"/>
              </a:rPr>
              <a:t>  </a:t>
            </a:r>
            <a:r>
              <a:rPr lang="nn-NO" dirty="0">
                <a:solidFill>
                  <a:srgbClr val="C586C0"/>
                </a:solidFill>
                <a:latin typeface="Consolas" panose="020B0609020204030204" pitchFamily="49" charset="0"/>
              </a:rPr>
              <a:t>while (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true</a:t>
            </a:r>
            <a:r>
              <a:rPr lang="nn-NO" dirty="0">
                <a:solidFill>
                  <a:srgbClr val="C586C0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nn-NO" dirty="0">
                <a:solidFill>
                  <a:srgbClr val="C586C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n-NO" dirty="0">
                <a:solidFill>
                  <a:srgbClr val="C586C0"/>
                </a:solidFill>
                <a:latin typeface="Consolas" panose="020B0609020204030204" pitchFamily="49" charset="0"/>
              </a:rPr>
              <a:t>    yield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++;</a:t>
            </a:r>
            <a:endParaRPr lang="nn-NO" dirty="0">
              <a:solidFill>
                <a:srgbClr val="C586C0"/>
              </a:solidFill>
              <a:latin typeface="Consolas" panose="020B0609020204030204" pitchFamily="49" charset="0"/>
            </a:endParaRPr>
          </a:p>
          <a:p>
            <a:r>
              <a:rPr lang="nn-NO" dirty="0">
                <a:solidFill>
                  <a:srgbClr val="C586C0"/>
                </a:solidFill>
                <a:latin typeface="Consolas" panose="020B0609020204030204" pitchFamily="49" charset="0"/>
              </a:rPr>
              <a:t>  }</a:t>
            </a:r>
            <a:endParaRPr lang="en-US" b="0" dirty="0">
              <a:solidFill>
                <a:schemeClr val="accent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dirty="0">
              <a:solidFill>
                <a:schemeClr val="accent3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 numbers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naturalNumbers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numbers.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nn-NO" dirty="0">
                <a:solidFill>
                  <a:srgbClr val="C586C0"/>
                </a:solidFill>
                <a:latin typeface="Consolas" panose="020B0609020204030204" pitchFamily="49" charset="0"/>
              </a:rPr>
              <a:t>()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.value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</a:t>
            </a: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numbers.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nn-NO" dirty="0">
                <a:solidFill>
                  <a:srgbClr val="C586C0"/>
                </a:solidFill>
                <a:latin typeface="Consolas" panose="020B0609020204030204" pitchFamily="49" charset="0"/>
              </a:rPr>
              <a:t>()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.value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2</a:t>
            </a: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numbers.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nn-NO" dirty="0">
                <a:solidFill>
                  <a:srgbClr val="C586C0"/>
                </a:solidFill>
                <a:latin typeface="Consolas" panose="020B0609020204030204" pitchFamily="49" charset="0"/>
              </a:rPr>
              <a:t>()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.value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3</a:t>
            </a:r>
          </a:p>
        </p:txBody>
      </p:sp>
    </p:spTree>
    <p:extLst>
      <p:ext uri="{BB962C8B-B14F-4D97-AF65-F5344CB8AC3E}">
        <p14:creationId xmlns:p14="http://schemas.microsoft.com/office/powerpoint/2010/main" val="2241267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563696-2A08-E050-181A-50E35489C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113CBB-EA3E-1B01-2535-21DE1F3D55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handle arrays in JavaScript?</a:t>
            </a:r>
          </a:p>
        </p:txBody>
      </p:sp>
    </p:spTree>
    <p:extLst>
      <p:ext uri="{BB962C8B-B14F-4D97-AF65-F5344CB8AC3E}">
        <p14:creationId xmlns:p14="http://schemas.microsoft.com/office/powerpoint/2010/main" val="1127265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0131F5A-967A-1250-8A58-A9D3C6585F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/>
              <a:t>Arrays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2943AC-68E3-7AD9-8B75-FD3A1CCBC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Refresh your memories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D341E2-A72A-863C-69FC-C388CF66F999}"/>
              </a:ext>
            </a:extLst>
          </p:cNvPr>
          <p:cNvSpPr txBox="1"/>
          <p:nvPr/>
        </p:nvSpPr>
        <p:spPr>
          <a:xfrm>
            <a:off x="457201" y="1059873"/>
            <a:ext cx="5143500" cy="513986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hu-HU" dirty="0"/>
              <a:t>The most likely used structured types after functions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hu-HU" dirty="0"/>
              <a:t>Iterable object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hu-HU" dirty="0"/>
              <a:t>Stores a collection of multiple items under a single variable name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hu-HU" dirty="0"/>
              <a:t>Has members for performing common array operations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hu-HU" dirty="0"/>
          </a:p>
          <a:p>
            <a:r>
              <a:rPr lang="hu-HU" dirty="0"/>
              <a:t>Not primivite: resource type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/>
              <a:t>Resizable and can contain a mix of different data types (not suggested – use typed arrays)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/>
              <a:t>Elements must be accessed using nonnegative integers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/>
              <a:t>Zero indexed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/>
              <a:t>Array-copy: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hu-HU" dirty="0"/>
              <a:t>shallow copy</a:t>
            </a:r>
            <a:r>
              <a:rPr lang="en-US" dirty="0"/>
              <a:t> (spread operator)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Deep clone (</a:t>
            </a:r>
            <a:r>
              <a:rPr lang="en-US" dirty="0" err="1">
                <a:hlinkClick r:id="rId2"/>
              </a:rPr>
              <a:t>structuredClone</a:t>
            </a:r>
            <a:r>
              <a:rPr lang="en-US" dirty="0"/>
              <a:t>)</a:t>
            </a:r>
            <a:endParaRPr lang="hu-HU" dirty="0"/>
          </a:p>
          <a:p>
            <a:endParaRPr lang="hu-HU" dirty="0"/>
          </a:p>
          <a:p>
            <a:endParaRPr lang="hu-HU" dirty="0"/>
          </a:p>
          <a:p>
            <a:r>
              <a:rPr lang="hu-HU" sz="1000" dirty="0">
                <a:hlinkClick r:id="rId3"/>
              </a:rPr>
              <a:t>https://developer.mozilla.org/en-US/docs/Web/JavaScript/Reference/Global_Objects/Array</a:t>
            </a:r>
            <a:endParaRPr lang="hu-HU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AC040B-BAB1-8E70-B902-4189755FEB70}"/>
              </a:ext>
            </a:extLst>
          </p:cNvPr>
          <p:cNvSpPr txBox="1"/>
          <p:nvPr/>
        </p:nvSpPr>
        <p:spPr>
          <a:xfrm>
            <a:off x="6285345" y="905164"/>
            <a:ext cx="565265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>
                <a:solidFill>
                  <a:schemeClr val="bg1"/>
                </a:solidFill>
              </a:rPr>
              <a:t>Definitions:</a:t>
            </a:r>
          </a:p>
          <a:p>
            <a:pPr lvl="1"/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[];</a:t>
            </a:r>
          </a:p>
          <a:p>
            <a:pPr lvl="1"/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array2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  <a:endParaRPr lang="hu-HU" sz="14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>
                <a:solidFill>
                  <a:schemeClr val="bg1"/>
                </a:solidFill>
              </a:rPr>
              <a:t>Traversing</a:t>
            </a:r>
          </a:p>
          <a:p>
            <a:pPr lvl="1"/>
            <a:r>
              <a:rPr lang="nn-NO" sz="1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nn-NO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n-NO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nn-NO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n-NO" sz="14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nn-NO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n-NO" sz="14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nn-NO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nn-NO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nn-NO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nn-NO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pPr lvl="1"/>
            <a:r>
              <a:rPr lang="nn-NO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nn-NO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nn-NO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nn-NO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nn-NO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n-NO" sz="14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nn-NO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nn-NO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 lvl="1"/>
            <a:r>
              <a:rPr lang="nn-NO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hu-HU" sz="1400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sz="1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hu-HU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nn-NO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hu-HU" sz="1400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nn-NO" sz="1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nn-NO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n-NO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nn-NO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nn-NO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4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nn-NO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nn-NO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nn-NO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nn-NO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nn-NO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n-NO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);}</a:t>
            </a:r>
            <a:br>
              <a:rPr lang="hu-HU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400" b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lvl="1"/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});</a:t>
            </a:r>
            <a:endParaRPr lang="hu-HU" sz="14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>
                <a:solidFill>
                  <a:schemeClr val="bg1"/>
                </a:solidFill>
              </a:rPr>
              <a:t>Notable methods: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filter: </a:t>
            </a:r>
            <a:r>
              <a:rPr lang="hu-HU" sz="1400">
                <a:solidFill>
                  <a:schemeClr val="bg1"/>
                </a:solidFill>
              </a:rPr>
              <a:t>find multiple matching items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find: </a:t>
            </a:r>
            <a:r>
              <a:rPr lang="hu-HU" sz="1400">
                <a:solidFill>
                  <a:schemeClr val="bg1"/>
                </a:solidFill>
              </a:rPr>
              <a:t>find the first matching item (=&gt; </a:t>
            </a:r>
            <a:r>
              <a:rPr lang="hu-HU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findLast</a:t>
            </a:r>
            <a:r>
              <a:rPr lang="hu-HU" sz="1400">
                <a:solidFill>
                  <a:schemeClr val="bg1"/>
                </a:solidFill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hu-HU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hu-HU" sz="1400">
                <a:solidFill>
                  <a:schemeClr val="bg1"/>
                </a:solidFill>
              </a:rPr>
              <a:t>traversing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includes: </a:t>
            </a:r>
            <a:r>
              <a:rPr lang="hu-HU" sz="1400">
                <a:solidFill>
                  <a:schemeClr val="bg1"/>
                </a:solidFill>
              </a:rPr>
              <a:t>does it contain? (for primitives)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map: </a:t>
            </a:r>
            <a:r>
              <a:rPr lang="hu-HU" sz="1400">
                <a:solidFill>
                  <a:schemeClr val="bg1"/>
                </a:solidFill>
              </a:rPr>
              <a:t>transform</a:t>
            </a:r>
            <a:endParaRPr lang="hu-HU" sz="1400" b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reduce:</a:t>
            </a:r>
            <a:r>
              <a:rPr lang="hu-HU" sz="1400">
                <a:solidFill>
                  <a:schemeClr val="bg1"/>
                </a:solidFill>
              </a:rPr>
              <a:t> reduce the array to a single value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some:</a:t>
            </a:r>
            <a:r>
              <a:rPr lang="hu-HU" sz="1400">
                <a:solidFill>
                  <a:schemeClr val="bg1"/>
                </a:solidFill>
              </a:rPr>
              <a:t> has at least one match (=&gt; </a:t>
            </a:r>
            <a:r>
              <a:rPr lang="hu-HU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every</a:t>
            </a:r>
            <a:r>
              <a:rPr lang="hu-HU" sz="1400">
                <a:solidFill>
                  <a:schemeClr val="bg1"/>
                </a:solidFill>
              </a:rPr>
              <a:t>)</a:t>
            </a:r>
          </a:p>
          <a:p>
            <a:endParaRPr lang="hu-HU" sz="14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894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376ED2-379A-EE1C-B314-1761E63BAF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134F69-1CAC-7D82-D59B-A21671FC4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winds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B19F3F-7B2A-89AB-BB12-384B67DBB736}"/>
              </a:ext>
            </a:extLst>
          </p:cNvPr>
          <p:cNvSpPr txBox="1"/>
          <p:nvPr/>
        </p:nvSpPr>
        <p:spPr>
          <a:xfrm>
            <a:off x="457201" y="1059873"/>
            <a:ext cx="5423078" cy="332398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/>
              <a:t>Using built-in methods instead of traditional cycles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Benefits: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Compatible with functional paradigm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Keeps the original array without any modifications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Easy to understand what the goal is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More concise and readable code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Usually faster than traditional loops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Similar syntax and approach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/>
            <a:r>
              <a:rPr lang="en-US" b="1" dirty="0"/>
              <a:t>Drawbacks: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None – once tried and never put it aside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225FEC-F629-2A2F-99A4-7EB928BF4616}"/>
              </a:ext>
            </a:extLst>
          </p:cNvPr>
          <p:cNvSpPr txBox="1"/>
          <p:nvPr/>
        </p:nvSpPr>
        <p:spPr>
          <a:xfrm>
            <a:off x="6311723" y="1055877"/>
            <a:ext cx="565265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List of commonly used methods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hlinkClick r:id="rId2"/>
              </a:rPr>
              <a:t>forEach</a:t>
            </a:r>
            <a:r>
              <a:rPr lang="en-US" dirty="0">
                <a:solidFill>
                  <a:schemeClr val="bg1"/>
                </a:solidFill>
              </a:rPr>
              <a:t> – simple traversing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linkClick r:id="rId3"/>
              </a:rPr>
              <a:t>map</a:t>
            </a:r>
            <a:r>
              <a:rPr lang="en-US" dirty="0">
                <a:solidFill>
                  <a:schemeClr val="bg1"/>
                </a:solidFill>
              </a:rPr>
              <a:t> – transform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linkClick r:id="rId4"/>
              </a:rPr>
              <a:t>filter</a:t>
            </a:r>
            <a:r>
              <a:rPr lang="en-US" dirty="0">
                <a:solidFill>
                  <a:schemeClr val="bg1"/>
                </a:solidFill>
              </a:rPr>
              <a:t> – remove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linkClick r:id="rId5"/>
              </a:rPr>
              <a:t>reduce</a:t>
            </a:r>
            <a:r>
              <a:rPr lang="en-US" dirty="0">
                <a:solidFill>
                  <a:schemeClr val="bg1"/>
                </a:solidFill>
              </a:rPr>
              <a:t> - accumulate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Other goodies: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linkClick r:id="rId6"/>
              </a:rPr>
              <a:t>some</a:t>
            </a:r>
            <a:r>
              <a:rPr lang="en-US" dirty="0">
                <a:solidFill>
                  <a:schemeClr val="bg1"/>
                </a:solidFill>
              </a:rPr>
              <a:t> – has at least one element that pass the test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linkClick r:id="rId7"/>
              </a:rPr>
              <a:t>every</a:t>
            </a:r>
            <a:r>
              <a:rPr lang="en-US" dirty="0">
                <a:solidFill>
                  <a:schemeClr val="bg1"/>
                </a:solidFill>
              </a:rPr>
              <a:t> – all elements match with the test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linkClick r:id="rId8"/>
              </a:rPr>
              <a:t>find</a:t>
            </a:r>
            <a:r>
              <a:rPr lang="en-US" dirty="0">
                <a:solidFill>
                  <a:schemeClr val="bg1"/>
                </a:solidFill>
              </a:rPr>
              <a:t> – find one element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linkClick r:id="rId9"/>
              </a:rPr>
              <a:t>includes</a:t>
            </a:r>
            <a:r>
              <a:rPr lang="en-US" dirty="0">
                <a:solidFill>
                  <a:schemeClr val="bg1"/>
                </a:solidFill>
              </a:rPr>
              <a:t> – is in the array (only for primitives)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599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D30D24-8BE6-D956-2F64-93D6FA04CE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6E80E07-B82A-B623-4C44-E46A34994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traversing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CDC810-F630-11FC-F659-32F0FD6133C1}"/>
              </a:ext>
            </a:extLst>
          </p:cNvPr>
          <p:cNvSpPr txBox="1"/>
          <p:nvPr/>
        </p:nvSpPr>
        <p:spPr>
          <a:xfrm>
            <a:off x="457201" y="1059873"/>
            <a:ext cx="5423078" cy="498598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6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  <a:p>
            <a:pPr algn="l"/>
            <a:endParaRPr lang="en-US" dirty="0">
              <a:latin typeface="Consolas" panose="020B0609020204030204" pitchFamily="49" charset="0"/>
            </a:endParaRPr>
          </a:p>
          <a:p>
            <a:pPr algn="l"/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6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let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&lt;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arr.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altLang="en-US" dirty="0">
              <a:solidFill>
                <a:srgbClr val="212529"/>
              </a:solidFill>
              <a:latin typeface="Consolas" panose="020B0609020204030204" pitchFamily="49" charset="0"/>
            </a:endParaRPr>
          </a:p>
          <a:p>
            <a:pPr algn="l"/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 console.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])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dirty="0">
              <a:latin typeface="Consolas" panose="020B0609020204030204" pitchFamily="49" charset="0"/>
            </a:endParaRPr>
          </a:p>
          <a:p>
            <a:pPr algn="l"/>
            <a:endParaRPr lang="en-US" dirty="0">
              <a:latin typeface="Consolas" panose="020B0609020204030204" pitchFamily="49" charset="0"/>
            </a:endParaRPr>
          </a:p>
          <a:p>
            <a:pPr algn="l"/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6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let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6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en-US" dirty="0">
              <a:solidFill>
                <a:srgbClr val="212529"/>
              </a:solidFill>
              <a:latin typeface="Consolas" panose="020B0609020204030204" pitchFamily="49" charset="0"/>
            </a:endParaRPr>
          </a:p>
          <a:p>
            <a:pPr algn="l"/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 console.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])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algn="l"/>
            <a:endParaRPr lang="en-US" dirty="0">
              <a:latin typeface="Consolas" panose="020B0609020204030204" pitchFamily="49" charset="0"/>
            </a:endParaRPr>
          </a:p>
          <a:p>
            <a:pPr algn="l"/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6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let element of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en-US" dirty="0">
              <a:solidFill>
                <a:srgbClr val="212529"/>
              </a:solidFill>
              <a:latin typeface="Consolas" panose="020B0609020204030204" pitchFamily="49" charset="0"/>
            </a:endParaRPr>
          </a:p>
          <a:p>
            <a:pPr algn="l"/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 console.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dirty="0">
              <a:latin typeface="Consolas" panose="020B0609020204030204" pitchFamily="49" charset="0"/>
            </a:endParaRPr>
          </a:p>
          <a:p>
            <a:pPr algn="l"/>
            <a:endParaRPr lang="en-US" dirty="0">
              <a:latin typeface="Consolas" panose="020B0609020204030204" pitchFamily="49" charset="0"/>
            </a:endParaRPr>
          </a:p>
          <a:p>
            <a:pPr algn="l"/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let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&lt;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arr.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en-US" dirty="0">
              <a:solidFill>
                <a:srgbClr val="212529"/>
              </a:solidFill>
              <a:latin typeface="Consolas" panose="020B0609020204030204" pitchFamily="49" charset="0"/>
            </a:endParaRPr>
          </a:p>
          <a:p>
            <a:pPr algn="l"/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 console.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])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BF9C5B-7445-90A5-15B9-C8CD019CA20E}"/>
              </a:ext>
            </a:extLst>
          </p:cNvPr>
          <p:cNvSpPr txBox="1"/>
          <p:nvPr/>
        </p:nvSpPr>
        <p:spPr>
          <a:xfrm>
            <a:off x="6311723" y="967540"/>
            <a:ext cx="565265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1, 2, 3, 4, 5</a:t>
            </a:r>
            <a:r>
              <a:rPr lang="en-US" b="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b="0" dirty="0">
              <a:solidFill>
                <a:srgbClr val="4FC1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})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6739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0D4C93F-6274-A142-EAA0-D05457778ED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B5FF62A-D74D-A9A7-B592-AA2428761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A99ABB-E8BF-4127-9BE8-87A69112008E}"/>
              </a:ext>
            </a:extLst>
          </p:cNvPr>
          <p:cNvSpPr txBox="1"/>
          <p:nvPr/>
        </p:nvSpPr>
        <p:spPr>
          <a:xfrm>
            <a:off x="457201" y="1059873"/>
            <a:ext cx="5423078" cy="221599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6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6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double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  <a:p>
            <a:pPr algn="l"/>
            <a:endParaRPr lang="en-US" dirty="0">
              <a:latin typeface="Consolas" panose="020B0609020204030204" pitchFamily="49" charset="0"/>
            </a:endParaRPr>
          </a:p>
          <a:p>
            <a:pPr algn="l"/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6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let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&lt;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arr.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altLang="en-US" dirty="0">
              <a:solidFill>
                <a:srgbClr val="212529"/>
              </a:solidFill>
              <a:latin typeface="Consolas" panose="020B0609020204030204" pitchFamily="49" charset="0"/>
            </a:endParaRPr>
          </a:p>
          <a:p>
            <a:pPr algn="l"/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double.push</a:t>
            </a:r>
            <a:r>
              <a:rPr lang="en-US" altLang="en-US" dirty="0">
                <a:solidFill>
                  <a:srgbClr val="212529"/>
                </a:solidFill>
                <a:latin typeface="Consolas" panose="020B0609020204030204" pitchFamily="49" charset="0"/>
              </a:rPr>
              <a:t>(numbers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en-US" dirty="0">
                <a:solidFill>
                  <a:srgbClr val="212529"/>
                </a:solidFill>
                <a:latin typeface="Consolas" panose="020B0609020204030204" pitchFamily="49" charset="0"/>
              </a:rPr>
              <a:t> *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en-US" dirty="0">
                <a:solidFill>
                  <a:srgbClr val="212529"/>
                </a:solidFill>
                <a:latin typeface="Consolas" panose="020B0609020204030204" pitchFamily="49" charset="0"/>
              </a:rPr>
              <a:t>);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algn="l"/>
            <a:endParaRPr lang="en-US" dirty="0">
              <a:solidFill>
                <a:srgbClr val="009900"/>
              </a:solidFill>
              <a:latin typeface="Consolas" panose="020B0609020204030204" pitchFamily="49" charset="0"/>
            </a:endParaRPr>
          </a:p>
          <a:p>
            <a:pPr algn="l"/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  <a:latin typeface="Consolas" panose="020B0609020204030204" pitchFamily="49" charset="0"/>
              </a:rPr>
              <a:t> // [2, 4, 6, 8, 10]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632893-CC01-0A03-1107-C63DDF29E967}"/>
              </a:ext>
            </a:extLst>
          </p:cNvPr>
          <p:cNvSpPr txBox="1"/>
          <p:nvPr/>
        </p:nvSpPr>
        <p:spPr>
          <a:xfrm>
            <a:off x="6311723" y="967540"/>
            <a:ext cx="565265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1, 2, 3, 4, 5</a:t>
            </a:r>
            <a:r>
              <a:rPr lang="en-US" b="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b="0" dirty="0">
              <a:solidFill>
                <a:srgbClr val="4FC1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double = 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 *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6603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6789AE-F4E5-69BA-17A8-234DAD160A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4E61A1-4485-CFD7-941B-0F0930ABE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252BCB-6B02-B9C1-B6A6-2116C415E37E}"/>
              </a:ext>
            </a:extLst>
          </p:cNvPr>
          <p:cNvSpPr txBox="1"/>
          <p:nvPr/>
        </p:nvSpPr>
        <p:spPr>
          <a:xfrm>
            <a:off x="457201" y="1059873"/>
            <a:ext cx="5423078" cy="249299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6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numbers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6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evenNumbers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6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let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numbers.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212529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6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===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212529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evenNumbers.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])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212529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rgbClr val="212529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evenNumbers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  <a:latin typeface="Consolas" panose="020B0609020204030204" pitchFamily="49" charset="0"/>
              </a:rPr>
              <a:t>// [2, 4]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B33687-CAFB-777D-D0D5-ADB23C02E609}"/>
              </a:ext>
            </a:extLst>
          </p:cNvPr>
          <p:cNvSpPr txBox="1"/>
          <p:nvPr/>
        </p:nvSpPr>
        <p:spPr>
          <a:xfrm>
            <a:off x="6311723" y="1020293"/>
            <a:ext cx="565265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1, 2, 3, 4, 5</a:t>
            </a:r>
            <a:r>
              <a:rPr lang="en-US" b="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b="0" dirty="0">
              <a:solidFill>
                <a:srgbClr val="4FC1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even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s = 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 %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2 === 0</a:t>
            </a:r>
          </a:p>
          <a:p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evens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980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03E573B-1FAB-6BA3-684A-D458EC38F2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54A07C-A17B-1EE9-01D3-1C081183F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Accumulating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830F47-7551-5326-3EEA-A3E9F8565736}"/>
              </a:ext>
            </a:extLst>
          </p:cNvPr>
          <p:cNvSpPr txBox="1"/>
          <p:nvPr/>
        </p:nvSpPr>
        <p:spPr>
          <a:xfrm>
            <a:off x="457201" y="1059873"/>
            <a:ext cx="5423078" cy="221599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6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numbers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6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total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6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let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numbers.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9900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total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numbers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rgbClr val="212529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9933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  <a:latin typeface="Consolas" panose="020B0609020204030204" pitchFamily="49" charset="0"/>
              </a:rPr>
              <a:t>// 15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EB5C34-8F2B-5533-7835-67D39FF021D7}"/>
              </a:ext>
            </a:extLst>
          </p:cNvPr>
          <p:cNvSpPr txBox="1"/>
          <p:nvPr/>
        </p:nvSpPr>
        <p:spPr>
          <a:xfrm>
            <a:off x="6311723" y="1020708"/>
            <a:ext cx="565265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1, 2, 3, 4, 5</a:t>
            </a:r>
            <a:r>
              <a:rPr lang="en-US" b="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b="0" dirty="0">
              <a:solidFill>
                <a:srgbClr val="4FC1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reduce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subTotal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, i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tem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subTotal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item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0</a:t>
            </a:r>
          </a:p>
          <a:p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evens</a:t>
            </a: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968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89BE6E-7A4C-4E1B-9E46-49FDE40C8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Callbacks &amp; Promises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D8E5B2-BB43-4C02-A0E9-673DAE6D58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0611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160A49-13C0-0CF9-2997-9580181BF1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Callbacks &amp; Promises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37162C-662D-3C73-8779-99CADA296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Asynchronous JavaScript in a nutshell</a:t>
            </a:r>
          </a:p>
        </p:txBody>
      </p:sp>
      <p:sp>
        <p:nvSpPr>
          <p:cNvPr id="6" name="Tartalom helye 6">
            <a:extLst>
              <a:ext uri="{FF2B5EF4-FFF2-40B4-BE49-F238E27FC236}">
                <a16:creationId xmlns:a16="http://schemas.microsoft.com/office/drawing/2014/main" id="{35BB54CE-768A-3941-EAB9-99F27C2CA765}"/>
              </a:ext>
            </a:extLst>
          </p:cNvPr>
          <p:cNvSpPr txBox="1">
            <a:spLocks/>
          </p:cNvSpPr>
          <p:nvPr/>
        </p:nvSpPr>
        <p:spPr>
          <a:xfrm>
            <a:off x="365981" y="1079500"/>
            <a:ext cx="5505932" cy="514545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Asynchronous programming is a way for a computer program to handle multiple tasks simultaneously rather than executing them one after the other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Allows a program to continue working on other tasks while waiting for external events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Improve performance and responsiveness</a:t>
            </a:r>
          </a:p>
          <a:p>
            <a:pPr marL="971550" lvl="1" indent="-285750">
              <a:lnSpc>
                <a:spcPct val="100000"/>
              </a:lnSpc>
            </a:pPr>
            <a:r>
              <a:rPr lang="en-US" sz="1400" dirty="0"/>
              <a:t>Events (wait for user to click…?)</a:t>
            </a:r>
          </a:p>
          <a:p>
            <a:pPr marL="971550" lvl="1" indent="-285750">
              <a:lnSpc>
                <a:spcPct val="100000"/>
              </a:lnSpc>
            </a:pPr>
            <a:r>
              <a:rPr lang="en-US" sz="1400" dirty="0"/>
              <a:t>Timers (e.g. do nothing for X seconds…?)</a:t>
            </a:r>
          </a:p>
          <a:p>
            <a:pPr marL="971550" lvl="1" indent="-285750">
              <a:lnSpc>
                <a:spcPct val="100000"/>
              </a:lnSpc>
            </a:pPr>
            <a:r>
              <a:rPr lang="en-US" sz="1400" dirty="0"/>
              <a:t>HTTP requests (e.g. XHR or Fetch – block everything till data arrives…?)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JS is single-threaded – it carries out async operations via callback queue and event loop</a:t>
            </a:r>
          </a:p>
          <a:p>
            <a:pPr marL="971550" lvl="1" indent="-285750">
              <a:lnSpc>
                <a:spcPct val="100000"/>
              </a:lnSpc>
            </a:pPr>
            <a:r>
              <a:rPr lang="en-US" sz="1800" dirty="0"/>
              <a:t>JS is synchronous and has a single call stack</a:t>
            </a:r>
          </a:p>
          <a:p>
            <a:pPr marL="971550" lvl="1" indent="-285750">
              <a:lnSpc>
                <a:spcPct val="100000"/>
              </a:lnSpc>
            </a:pPr>
            <a:r>
              <a:rPr lang="en-US" sz="1800" dirty="0"/>
              <a:t>Code is executed in last-in first out (LIFO)</a:t>
            </a:r>
          </a:p>
          <a:p>
            <a:pPr marL="285750" indent="-285750">
              <a:lnSpc>
                <a:spcPct val="100000"/>
              </a:lnSpc>
            </a:pPr>
            <a:endParaRPr lang="en-US" sz="1800" dirty="0"/>
          </a:p>
          <a:p>
            <a:pPr marL="285750" indent="-285750" algn="ctr">
              <a:lnSpc>
                <a:spcPct val="100000"/>
              </a:lnSpc>
            </a:pPr>
            <a:r>
              <a:rPr lang="en-US" dirty="0">
                <a:hlinkClick r:id="rId2"/>
              </a:rPr>
              <a:t>https://semaphoreci.com/blog/asynchronous-javascript</a:t>
            </a:r>
            <a:endParaRPr lang="en-US" dirty="0"/>
          </a:p>
          <a:p>
            <a:pPr marL="285750" indent="-285750" algn="ctr">
              <a:lnSpc>
                <a:spcPct val="100000"/>
              </a:lnSpc>
            </a:pPr>
            <a:r>
              <a:rPr lang="en-US" dirty="0">
                <a:hlinkClick r:id="rId3"/>
              </a:rPr>
              <a:t>https://www.freecodecamp.org/news/asynchronous-programming-in-javascript/</a:t>
            </a:r>
            <a:endParaRPr lang="en-US" dirty="0"/>
          </a:p>
          <a:p>
            <a:pPr marL="285750" indent="-285750" algn="ctr">
              <a:lnSpc>
                <a:spcPct val="100000"/>
              </a:lnSpc>
            </a:pPr>
            <a:endParaRPr lang="en-US" dirty="0"/>
          </a:p>
        </p:txBody>
      </p:sp>
      <p:pic>
        <p:nvPicPr>
          <p:cNvPr id="8" name="Picture 7" descr="A diagram of a javan program&#10;&#10;Description automatically generated">
            <a:extLst>
              <a:ext uri="{FF2B5EF4-FFF2-40B4-BE49-F238E27FC236}">
                <a16:creationId xmlns:a16="http://schemas.microsoft.com/office/drawing/2014/main" id="{FF271616-74E9-F7B1-2F40-A3A7FF7028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0089" y="1079500"/>
            <a:ext cx="5627077" cy="422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2560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FCD0A5-D872-4688-A62A-0208C5328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JavaScript concurrency model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AA75B8-C31D-4856-A5F2-0FD6079AE60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/>
              <a:t>Callbacks &amp; Promises</a:t>
            </a:r>
            <a:endParaRPr lang="en-US" dirty="0"/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0FD0DD17-9568-442B-9E12-977DBF3BF81E}"/>
              </a:ext>
            </a:extLst>
          </p:cNvPr>
          <p:cNvSpPr txBox="1">
            <a:spLocks/>
          </p:cNvSpPr>
          <p:nvPr/>
        </p:nvSpPr>
        <p:spPr>
          <a:xfrm>
            <a:off x="457200" y="1079500"/>
            <a:ext cx="11174540" cy="51526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u-HU" sz="1800" dirty="0"/>
              <a:t>JavaScript has a concurrency model based on „event loop”</a:t>
            </a:r>
          </a:p>
          <a:p>
            <a:pPr marL="285750" indent="-285750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u-HU" sz="1800" dirty="0"/>
              <a:t>Three main parts:</a:t>
            </a:r>
            <a:r>
              <a:rPr lang="hu-HU" sz="1800" b="1" dirty="0"/>
              <a:t> heap, stack </a:t>
            </a:r>
            <a:r>
              <a:rPr lang="hu-HU" sz="1800" dirty="0"/>
              <a:t>and</a:t>
            </a:r>
            <a:r>
              <a:rPr lang="hu-HU" sz="1800" b="1" dirty="0"/>
              <a:t> message queue</a:t>
            </a:r>
            <a:r>
              <a:rPr lang="hu-HU" sz="1800" dirty="0"/>
              <a:t>.</a:t>
            </a:r>
          </a:p>
          <a:p>
            <a:pPr marL="285750" indent="-285750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u-HU" sz="1800" dirty="0"/>
              <a:t>At some time during the event loop, the JS runtime starts processing the messages on the message queue</a:t>
            </a:r>
          </a:p>
          <a:p>
            <a:pPr marL="285750" indent="-285750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u-HU" sz="1800" dirty="0"/>
              <a:t>Event handlers, XMLHttpRequest and timers can push messages to the message queue</a:t>
            </a:r>
          </a:p>
          <a:p>
            <a:pPr marL="285750" indent="-285750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u-HU" sz="1800" dirty="0"/>
              <a:t>Each message has a </a:t>
            </a:r>
            <a:r>
              <a:rPr lang="hu-HU" sz="1800" b="1" dirty="0"/>
              <a:t>callback</a:t>
            </a:r>
            <a:r>
              <a:rPr lang="hu-HU" sz="1800" dirty="0"/>
              <a:t> associated with it, which will be invoked upon processing.</a:t>
            </a:r>
          </a:p>
        </p:txBody>
      </p:sp>
      <p:sp>
        <p:nvSpPr>
          <p:cNvPr id="2" name="Tartalom helye 6">
            <a:extLst>
              <a:ext uri="{FF2B5EF4-FFF2-40B4-BE49-F238E27FC236}">
                <a16:creationId xmlns:a16="http://schemas.microsoft.com/office/drawing/2014/main" id="{06851861-BBD2-33B7-D07E-9C67A0EE313D}"/>
              </a:ext>
            </a:extLst>
          </p:cNvPr>
          <p:cNvSpPr txBox="1">
            <a:spLocks/>
          </p:cNvSpPr>
          <p:nvPr/>
        </p:nvSpPr>
        <p:spPr>
          <a:xfrm>
            <a:off x="365980" y="5912528"/>
            <a:ext cx="10819883" cy="31242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</a:pPr>
            <a:r>
              <a:rPr lang="en-US" dirty="0">
                <a:hlinkClick r:id="rId2"/>
              </a:rPr>
              <a:t>https://medium.com/sessionstack-blog/how-javascript-works-event-loop-and-the-rise-of-async-programming-5-ways-to-better-coding-with-2f077c4438b5</a:t>
            </a:r>
            <a:endParaRPr lang="en-US" dirty="0"/>
          </a:p>
          <a:p>
            <a:pPr marL="285750" indent="-285750"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2727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09E3B1-1A44-4518-923D-EC3A846BC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Asynchronous functions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375F88-348F-4E67-A644-2F064FBBB1E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/>
              <a:t>Callbacks &amp; Promises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39001E-4372-437C-AA80-5DD02C562B18}"/>
              </a:ext>
            </a:extLst>
          </p:cNvPr>
          <p:cNvSpPr txBox="1"/>
          <p:nvPr/>
        </p:nvSpPr>
        <p:spPr>
          <a:xfrm>
            <a:off x="457200" y="1366463"/>
            <a:ext cx="11111500" cy="360098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printNumber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setTimeout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"Your number is: 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floor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*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countToThree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printNumber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printNumber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printNumber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countToThree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What is the result of this? Why?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18001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17C707-1F15-43E2-B28C-0F474B598F2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/>
              <a:t>Callbacks &amp; Promises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0E0A47-3FCF-477F-B805-70F015D60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Callbacks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3495EB-E7BD-4CF7-BD3A-D82ED2B1CE12}"/>
              </a:ext>
            </a:extLst>
          </p:cNvPr>
          <p:cNvSpPr txBox="1"/>
          <p:nvPr/>
        </p:nvSpPr>
        <p:spPr>
          <a:xfrm>
            <a:off x="6428892" y="914400"/>
            <a:ext cx="5405919" cy="443198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printNumber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hu-H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allBackFn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setTimeout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"Your number is: 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hu-HU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allBackFn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floor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*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countToThree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printNumber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()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printNumber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()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printNumber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()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{});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});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});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countToThree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Is this better?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en-US" dirty="0"/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06FB421B-1B0C-40CA-95D2-D0806ED15A0A}"/>
              </a:ext>
            </a:extLst>
          </p:cNvPr>
          <p:cNvSpPr txBox="1">
            <a:spLocks/>
          </p:cNvSpPr>
          <p:nvPr/>
        </p:nvSpPr>
        <p:spPr>
          <a:xfrm>
            <a:off x="357189" y="1079500"/>
            <a:ext cx="5505932" cy="33972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hu-HU" sz="1800" dirty="0"/>
              <a:t>Functions are first class citizens in JavaScript</a:t>
            </a:r>
          </a:p>
          <a:p>
            <a:pPr lvl="1">
              <a:lnSpc>
                <a:spcPct val="100000"/>
              </a:lnSpc>
              <a:spcAft>
                <a:spcPts val="1000"/>
              </a:spcAft>
            </a:pPr>
            <a:r>
              <a:rPr lang="hu-HU" sz="1400" dirty="0"/>
              <a:t>That means we can use them as function parameters</a:t>
            </a:r>
          </a:p>
          <a:p>
            <a:pPr marL="285750" indent="-285750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u-HU" sz="1800" dirty="0"/>
              <a:t>A callback is basically a function that is passed to another function</a:t>
            </a:r>
          </a:p>
          <a:p>
            <a:pPr marL="285750" indent="-285750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u-HU" sz="1800" dirty="0"/>
              <a:t>The first function will call the callback</a:t>
            </a:r>
          </a:p>
          <a:p>
            <a:pPr marL="285750" indent="-285750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u-HU" sz="1800" dirty="0"/>
              <a:t>So let’s see our printNumber function with callbacks</a:t>
            </a:r>
          </a:p>
        </p:txBody>
      </p:sp>
    </p:spTree>
    <p:extLst>
      <p:ext uri="{BB962C8B-B14F-4D97-AF65-F5344CB8AC3E}">
        <p14:creationId xmlns:p14="http://schemas.microsoft.com/office/powerpoint/2010/main" val="36071530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2F8C53-0095-46D9-90A8-F5FBFD071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The Promise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C1DB88-322E-46AD-B0C1-43FB46E90D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/>
              <a:t>Callbacks &amp; Promises</a:t>
            </a:r>
            <a:endParaRPr lang="en-US" dirty="0"/>
          </a:p>
        </p:txBody>
      </p:sp>
      <p:sp>
        <p:nvSpPr>
          <p:cNvPr id="6" name="Tartalom helye 3">
            <a:extLst>
              <a:ext uri="{FF2B5EF4-FFF2-40B4-BE49-F238E27FC236}">
                <a16:creationId xmlns:a16="http://schemas.microsoft.com/office/drawing/2014/main" id="{CEA6FA45-CE71-47EE-827F-B36F1CF02BAC}"/>
              </a:ext>
            </a:extLst>
          </p:cNvPr>
          <p:cNvSpPr txBox="1">
            <a:spLocks/>
          </p:cNvSpPr>
          <p:nvPr/>
        </p:nvSpPr>
        <p:spPr>
          <a:xfrm>
            <a:off x="457199" y="1079499"/>
            <a:ext cx="11274552" cy="513636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u-HU" sz="1800" dirty="0"/>
              <a:t>A promise is an object representing the eventual completion or failure of an asychronous operation.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A Promise is in one of these states: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800" dirty="0"/>
              <a:t>pending: initial state, neither fulfilled nor rejected.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hu-HU" sz="1800" dirty="0"/>
              <a:t>resolved</a:t>
            </a:r>
            <a:r>
              <a:rPr lang="en-US" sz="1800" dirty="0"/>
              <a:t>: meaning that the operation completed successfully.</a:t>
            </a:r>
          </a:p>
          <a:p>
            <a:pPr lvl="1">
              <a:lnSpc>
                <a:spcPct val="100000"/>
              </a:lnSpc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1800" dirty="0"/>
              <a:t>rejected: meaning that the operation failed.</a:t>
            </a:r>
            <a:endParaRPr lang="hu-HU" sz="1800" dirty="0"/>
          </a:p>
          <a:p>
            <a:pPr marL="285750" indent="-285750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u-HU" sz="1800" dirty="0"/>
              <a:t>Until ES6 JavaScript did not have native implementation for promises</a:t>
            </a:r>
          </a:p>
          <a:p>
            <a:pPr marL="285750" indent="-285750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u-HU" sz="1800" dirty="0"/>
              <a:t>Pre ES6, the concept Promise was more like a design pattern, if you wanted to use it you had to use third-party libraries like jQuery or Q, frameworks that had the implementation (like AngularJS) or implement it yourself.</a:t>
            </a:r>
          </a:p>
          <a:p>
            <a:pPr marL="285750" indent="-285750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hu-HU" sz="1800" dirty="0"/>
          </a:p>
          <a:p>
            <a:pPr marL="285750" indent="-285750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hu-HU" sz="1800" dirty="0"/>
          </a:p>
          <a:p>
            <a:pPr marL="285750" indent="-285750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hu-HU" sz="1800" dirty="0"/>
          </a:p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lang="hu-HU" sz="1800" dirty="0">
                <a:hlinkClick r:id="rId2"/>
              </a:rPr>
              <a:t>https://developer.mozilla.org/en-US/docs/Web/JavaScript/Reference/Global_Objects/Promise</a:t>
            </a:r>
            <a:endParaRPr lang="hu-HU" sz="1800" dirty="0"/>
          </a:p>
        </p:txBody>
      </p:sp>
    </p:spTree>
    <p:extLst>
      <p:ext uri="{BB962C8B-B14F-4D97-AF65-F5344CB8AC3E}">
        <p14:creationId xmlns:p14="http://schemas.microsoft.com/office/powerpoint/2010/main" val="3945509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B26BF-1047-4A67-BBE2-A27AE9E05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The Promise object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121FA-07EB-4992-B3FD-0F1966559B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/>
              <a:t>Callbacks &amp; Promises</a:t>
            </a:r>
            <a:endParaRPr lang="en-US" dirty="0"/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9EDBD1BF-35E9-4526-8906-0D7173AAF485}"/>
              </a:ext>
            </a:extLst>
          </p:cNvPr>
          <p:cNvSpPr txBox="1">
            <a:spLocks/>
          </p:cNvSpPr>
          <p:nvPr/>
        </p:nvSpPr>
        <p:spPr>
          <a:xfrm>
            <a:off x="457200" y="1010841"/>
            <a:ext cx="7098673" cy="33972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800" dirty="0"/>
              <a:t>With the standardisation of ECMAScript2015 (more commonly known as ES6), native support for promises was introduced for JavaScript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800" dirty="0"/>
              <a:t>The promise constructor takes a function with two functions as parameters for happy and sad cases – this function is called the </a:t>
            </a:r>
            <a:r>
              <a:rPr lang="hu-HU" sz="1800" b="1" dirty="0"/>
              <a:t>executor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800" dirty="0"/>
              <a:t>The executor is called immediately (even before creating the new promise object), does some asynchronous work then calls resolve if everything went fine, or reject if some error occured.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800" dirty="0"/>
              <a:t>The Promise prototype has the well known </a:t>
            </a:r>
            <a:r>
              <a:rPr lang="hu-HU" sz="1800" b="1" dirty="0"/>
              <a:t>then</a:t>
            </a:r>
            <a:r>
              <a:rPr lang="hu-HU" sz="1800" dirty="0"/>
              <a:t>, </a:t>
            </a:r>
            <a:r>
              <a:rPr lang="hu-HU" sz="1800" b="1" dirty="0"/>
              <a:t>catch</a:t>
            </a:r>
            <a:r>
              <a:rPr lang="hu-HU" sz="1800" dirty="0"/>
              <a:t> and </a:t>
            </a:r>
            <a:r>
              <a:rPr lang="hu-HU" sz="1800" b="1" dirty="0"/>
              <a:t>finally</a:t>
            </a:r>
            <a:r>
              <a:rPr lang="hu-HU" sz="1800" dirty="0"/>
              <a:t> methods for handling the result of the Promise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1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4B7EA2-77C8-435D-A27A-5FD22E07688B}"/>
              </a:ext>
            </a:extLst>
          </p:cNvPr>
          <p:cNvSpPr txBox="1"/>
          <p:nvPr/>
        </p:nvSpPr>
        <p:spPr>
          <a:xfrm>
            <a:off x="8137133" y="1010841"/>
            <a:ext cx="3801438" cy="73866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proxy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endParaRPr lang="hu-HU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hu-HU" sz="1600" dirty="0">
                <a:solidFill>
                  <a:srgbClr val="D4D4D4"/>
                </a:solidFill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resolve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reject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{}</a:t>
            </a:r>
            <a:endParaRPr lang="hu-HU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hu-HU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7647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EA518-B6F1-4D0B-ADBA-5D560E1C5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How to work with promises?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B2003-8F31-4102-B3D0-F688E394F28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/>
              <a:t>Callbacks &amp; Promises</a:t>
            </a:r>
            <a:endParaRPr lang="en-US" dirty="0"/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03AD0CCD-9B29-4501-9FC3-62E5ADAC2E9A}"/>
              </a:ext>
            </a:extLst>
          </p:cNvPr>
          <p:cNvSpPr txBox="1">
            <a:spLocks/>
          </p:cNvSpPr>
          <p:nvPr/>
        </p:nvSpPr>
        <p:spPr>
          <a:xfrm>
            <a:off x="457200" y="1010841"/>
            <a:ext cx="7248418" cy="33972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800" dirty="0"/>
              <a:t>In async calls you have to work with data you don’t have yet – so:</a:t>
            </a:r>
            <a:br>
              <a:rPr lang="hu-HU" sz="1800" dirty="0"/>
            </a:br>
            <a:r>
              <a:rPr lang="hu-HU" sz="1800" b="1" dirty="0"/>
              <a:t>Simple variable assignment is not working!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800" dirty="0"/>
              <a:t>You have to </a:t>
            </a:r>
            <a:r>
              <a:rPr lang="hu-HU" sz="1800" b="1" dirty="0"/>
              <a:t>WAIT</a:t>
            </a:r>
            <a:r>
              <a:rPr lang="hu-HU" sz="1800" dirty="0"/>
              <a:t> until the data arrives – it can be done via the </a:t>
            </a:r>
            <a:r>
              <a:rPr lang="hu-HU" sz="1800" b="1" dirty="0"/>
              <a:t>THEN</a:t>
            </a:r>
            <a:r>
              <a:rPr lang="hu-HU" sz="1800" dirty="0"/>
              <a:t> method</a:t>
            </a:r>
            <a:endParaRPr lang="hu-HU" sz="1800" b="1" dirty="0"/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800" dirty="0"/>
              <a:t>It’s also possible an error occurs and it has to be handled too – never forget it, a promise has to be accepted or rejected within a time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800" dirty="0"/>
              <a:t>You can store data within promises too</a:t>
            </a:r>
            <a:br>
              <a:rPr lang="hu-HU" sz="1800" dirty="0"/>
            </a:br>
            <a:r>
              <a:rPr lang="hu-HU" sz="1800" dirty="0"/>
              <a:t>e.g. no other request has to be sent out which can increase performance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800" dirty="0"/>
              <a:t>JS Decorator for promise: async + await pairing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8A86ED-2873-4E05-9C1D-1E59B5834325}"/>
              </a:ext>
            </a:extLst>
          </p:cNvPr>
          <p:cNvSpPr txBox="1"/>
          <p:nvPr/>
        </p:nvSpPr>
        <p:spPr>
          <a:xfrm>
            <a:off x="8137133" y="1010841"/>
            <a:ext cx="3801438" cy="517064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proxy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endParaRPr lang="hu-HU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hu-HU" sz="1600" dirty="0">
                <a:solidFill>
                  <a:srgbClr val="D4D4D4"/>
                </a:solidFill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resolve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reject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{}</a:t>
            </a:r>
            <a:endParaRPr lang="hu-HU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hu-HU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hu-HU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proxy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.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"done"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})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.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"error"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});</a:t>
            </a:r>
            <a:endParaRPr lang="hu-HU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hu-HU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proxy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"done"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"error"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})();</a:t>
            </a:r>
          </a:p>
        </p:txBody>
      </p:sp>
    </p:spTree>
    <p:extLst>
      <p:ext uri="{BB962C8B-B14F-4D97-AF65-F5344CB8AC3E}">
        <p14:creationId xmlns:p14="http://schemas.microsoft.com/office/powerpoint/2010/main" val="5411669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5D5205-126F-4255-9F24-A68C412D9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Counting with Promises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519F39-BC4B-4643-BD72-CB7E22310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/>
              <a:t>Callbacks &amp; Promises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C06B88-BBD6-45BF-AC5F-F3365E1B6472}"/>
              </a:ext>
            </a:extLst>
          </p:cNvPr>
          <p:cNvSpPr txBox="1"/>
          <p:nvPr/>
        </p:nvSpPr>
        <p:spPr>
          <a:xfrm>
            <a:off x="457199" y="1366463"/>
            <a:ext cx="5399071" cy="369331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printNumber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resolve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reject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setTimeout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"Your number:"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resolve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},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floor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* 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});</a:t>
            </a:r>
          </a:p>
          <a:p>
            <a:b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countToThree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printNumber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printNumber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printNumber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countToThree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77F0A5-7BC9-4BF5-B757-BB7A8335D552}"/>
              </a:ext>
            </a:extLst>
          </p:cNvPr>
          <p:cNvSpPr txBox="1"/>
          <p:nvPr/>
        </p:nvSpPr>
        <p:spPr>
          <a:xfrm>
            <a:off x="6094476" y="3315985"/>
            <a:ext cx="5085707" cy="147732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countToThree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printNumber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printNumber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printNumber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algn="l"/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0336B2-EDD5-431E-9697-6AFE42B88909}"/>
              </a:ext>
            </a:extLst>
          </p:cNvPr>
          <p:cNvSpPr txBox="1"/>
          <p:nvPr/>
        </p:nvSpPr>
        <p:spPr>
          <a:xfrm>
            <a:off x="457199" y="5404207"/>
            <a:ext cx="11274552" cy="49244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/** We successfully created a promise chain that will print the numbers in order */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144679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000C6F-46B0-D03A-9995-E431CBBF44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Callbacks &amp; Promises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E4830D1-21C4-D9D0-2088-359D9ED4F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 the async</a:t>
            </a:r>
          </a:p>
        </p:txBody>
      </p:sp>
      <p:sp>
        <p:nvSpPr>
          <p:cNvPr id="6" name="Tartalom helye 6">
            <a:extLst>
              <a:ext uri="{FF2B5EF4-FFF2-40B4-BE49-F238E27FC236}">
                <a16:creationId xmlns:a16="http://schemas.microsoft.com/office/drawing/2014/main" id="{92AC6CDE-BA03-8613-BE78-8A0BCD0947B8}"/>
              </a:ext>
            </a:extLst>
          </p:cNvPr>
          <p:cNvSpPr txBox="1">
            <a:spLocks/>
          </p:cNvSpPr>
          <p:nvPr/>
        </p:nvSpPr>
        <p:spPr>
          <a:xfrm>
            <a:off x="357188" y="1079500"/>
            <a:ext cx="5647957" cy="33972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What the actual …? Why …?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A little multi-threaded thinking is needed</a:t>
            </a:r>
          </a:p>
          <a:p>
            <a:pPr marL="971550" lvl="1" indent="-285750">
              <a:lnSpc>
                <a:spcPct val="100000"/>
              </a:lnSpc>
            </a:pPr>
            <a:r>
              <a:rPr lang="en-US" sz="1800" dirty="0"/>
              <a:t>E.g. transactions (database or multiple requests)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We want to know when all the async methods are finished, failed or just settled (-&gt; </a:t>
            </a:r>
            <a:r>
              <a:rPr lang="en-US" sz="1800" dirty="0" err="1"/>
              <a:t>Promise.allSettled</a:t>
            </a:r>
            <a:r>
              <a:rPr lang="en-US" sz="1800" dirty="0"/>
              <a:t>)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We want the fastest result (-&gt; </a:t>
            </a:r>
            <a:r>
              <a:rPr lang="en-US" sz="1800" dirty="0" err="1"/>
              <a:t>Promise.race</a:t>
            </a:r>
            <a:r>
              <a:rPr lang="en-US" sz="1800" dirty="0"/>
              <a:t>)</a:t>
            </a:r>
          </a:p>
          <a:p>
            <a:pPr marL="971550" lvl="1" indent="-285750">
              <a:lnSpc>
                <a:spcPct val="100000"/>
              </a:lnSpc>
            </a:pPr>
            <a:r>
              <a:rPr lang="en-US" sz="1800" dirty="0"/>
              <a:t>How to stop the unstoppable?</a:t>
            </a:r>
          </a:p>
          <a:p>
            <a:pPr lvl="2" indent="0">
              <a:lnSpc>
                <a:spcPct val="100000"/>
              </a:lnSpc>
              <a:buNone/>
            </a:pPr>
            <a:r>
              <a:rPr lang="en-US" sz="1800" dirty="0"/>
              <a:t>-&gt; don’t – just accept it and move 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86A806-395F-C9B7-2354-9B3974467C29}"/>
              </a:ext>
            </a:extLst>
          </p:cNvPr>
          <p:cNvSpPr txBox="1"/>
          <p:nvPr/>
        </p:nvSpPr>
        <p:spPr>
          <a:xfrm>
            <a:off x="6260123" y="457200"/>
            <a:ext cx="5829300" cy="58169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printNumber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resolve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reject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4FC1FF"/>
                </a:solidFill>
                <a:latin typeface="Consolas" panose="020B0609020204030204" pitchFamily="49" charset="0"/>
              </a:rPr>
              <a:t>wait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floor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* 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setTimeout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"Your number:"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resolve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({ </a:t>
            </a:r>
            <a:r>
              <a:rPr lang="en-US" sz="1400" dirty="0">
                <a:solidFill>
                  <a:srgbClr val="4FC1FF"/>
                </a:solidFill>
                <a:latin typeface="Consolas" panose="020B0609020204030204" pitchFamily="49" charset="0"/>
              </a:rPr>
              <a:t>wait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4FC1FF"/>
                </a:solidFill>
                <a:latin typeface="Consolas" panose="020B0609020204030204" pitchFamily="49" charset="0"/>
              </a:rPr>
              <a:t> num 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}, </a:t>
            </a:r>
            <a:r>
              <a:rPr lang="en-US" sz="1400" dirty="0">
                <a:solidFill>
                  <a:srgbClr val="4FC1FF"/>
                </a:solidFill>
                <a:latin typeface="Consolas" panose="020B0609020204030204" pitchFamily="49" charset="0"/>
              </a:rPr>
              <a:t>wait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});</a:t>
            </a:r>
          </a:p>
          <a:p>
            <a:endParaRPr lang="hu-HU" sz="1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.all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4FC1FF"/>
                </a:solidFill>
                <a:latin typeface="Consolas" panose="020B0609020204030204" pitchFamily="49" charset="0"/>
              </a:rPr>
              <a:t>[</a:t>
            </a:r>
          </a:p>
          <a:p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printNumber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en-US" sz="1400" dirty="0">
                <a:solidFill>
                  <a:srgbClr val="4FC1FF"/>
                </a:solidFill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printNumber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printNumber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400" dirty="0">
              <a:solidFill>
                <a:srgbClr val="4FC1FF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4FC1FF"/>
                </a:solidFill>
                <a:latin typeface="Consolas" panose="020B0609020204030204" pitchFamily="49" charset="0"/>
              </a:rPr>
              <a:t>  ]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endParaRPr lang="hu-HU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dirty="0">
                <a:solidFill>
                  <a:srgbClr val="4FC1FF"/>
                </a:solidFill>
                <a:latin typeface="Consolas" panose="020B0609020204030204" pitchFamily="49" charset="0"/>
              </a:rPr>
              <a:t>number1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4FC1FF"/>
                </a:solidFill>
                <a:latin typeface="Consolas" panose="020B0609020204030204" pitchFamily="49" charset="0"/>
              </a:rPr>
              <a:t> number2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4FC1FF"/>
                </a:solidFill>
                <a:latin typeface="Consolas" panose="020B0609020204030204" pitchFamily="49" charset="0"/>
              </a:rPr>
              <a:t> number3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     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"all done"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     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400" dirty="0">
                <a:solidFill>
                  <a:srgbClr val="4FC1FF"/>
                </a:solidFill>
                <a:latin typeface="Consolas" panose="020B0609020204030204" pitchFamily="49" charset="0"/>
              </a:rPr>
              <a:t>number1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4FC1FF"/>
                </a:solidFill>
                <a:latin typeface="Consolas" panose="020B0609020204030204" pitchFamily="49" charset="0"/>
              </a:rPr>
              <a:t> number2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4FC1FF"/>
                </a:solidFill>
                <a:latin typeface="Consolas" panose="020B0609020204030204" pitchFamily="49" charset="0"/>
              </a:rPr>
              <a:t> number3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solidFill>
                  <a:srgbClr val="C586C0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"error"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})();</a:t>
            </a:r>
          </a:p>
        </p:txBody>
      </p:sp>
    </p:spTree>
    <p:extLst>
      <p:ext uri="{BB962C8B-B14F-4D97-AF65-F5344CB8AC3E}">
        <p14:creationId xmlns:p14="http://schemas.microsoft.com/office/powerpoint/2010/main" val="42105868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DBFEF7-4B29-4D5C-AF0F-59739691D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Fetch API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95DE00-6022-4E33-8228-B029DFEDAB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u-HU" dirty="0"/>
              <a:t>Execute requests from client side to a server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01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A963F4-C694-49B5-BC41-C17BB8D87F3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/>
              <a:t>AJAX &amp; Fetch API</a:t>
            </a:r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4CF1BA-53CB-49F1-AA50-7D8C1C32F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The Fetch API</a:t>
            </a:r>
            <a:endParaRPr lang="en-US" dirty="0"/>
          </a:p>
        </p:txBody>
      </p:sp>
      <p:sp>
        <p:nvSpPr>
          <p:cNvPr id="7" name="Tartalom helye 2">
            <a:extLst>
              <a:ext uri="{FF2B5EF4-FFF2-40B4-BE49-F238E27FC236}">
                <a16:creationId xmlns:a16="http://schemas.microsoft.com/office/drawing/2014/main" id="{D021233B-B5BE-4621-9AD6-EB945A4FAFD4}"/>
              </a:ext>
            </a:extLst>
          </p:cNvPr>
          <p:cNvSpPr txBox="1">
            <a:spLocks/>
          </p:cNvSpPr>
          <p:nvPr/>
        </p:nvSpPr>
        <p:spPr>
          <a:xfrm>
            <a:off x="357189" y="1079500"/>
            <a:ext cx="5315642" cy="33972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The Fetch API provides a JavaScript interface to create HTTP requests.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Follows the Promise pattern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Standard way to request data from server and handle the responses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834DF4-B4EE-4D0E-9C18-098E23000E9D}"/>
              </a:ext>
            </a:extLst>
          </p:cNvPr>
          <p:cNvSpPr txBox="1"/>
          <p:nvPr/>
        </p:nvSpPr>
        <p:spPr>
          <a:xfrm>
            <a:off x="0" y="577850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hlinkClick r:id="rId3"/>
              </a:rPr>
              <a:t>https://developer.mozilla.org/en-US/docs/Web/API/Fetch_API</a:t>
            </a:r>
            <a:endParaRPr lang="hu-HU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3C5A45-6F0D-4021-9B41-5E213DEB11ED}"/>
              </a:ext>
            </a:extLst>
          </p:cNvPr>
          <p:cNvSpPr txBox="1"/>
          <p:nvPr/>
        </p:nvSpPr>
        <p:spPr>
          <a:xfrm>
            <a:off x="6438530" y="213739"/>
            <a:ext cx="529627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/cart"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{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method: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"POST"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headers: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"Content-Type"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"application/json"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},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body: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stringify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productId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quantity: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}),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});</a:t>
            </a:r>
            <a:endParaRPr lang="hu-HU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 =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ShoppingCart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updateQuantity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hu-HU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Unexpected error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})();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974E43-9B51-426F-82CB-6E8CBE728FA7}"/>
              </a:ext>
            </a:extLst>
          </p:cNvPr>
          <p:cNvSpPr txBox="1"/>
          <p:nvPr/>
        </p:nvSpPr>
        <p:spPr>
          <a:xfrm>
            <a:off x="6438530" y="4732059"/>
            <a:ext cx="529627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Example: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"https://yesno.wtf/api"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json()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})();</a:t>
            </a:r>
          </a:p>
        </p:txBody>
      </p:sp>
    </p:spTree>
    <p:extLst>
      <p:ext uri="{BB962C8B-B14F-4D97-AF65-F5344CB8AC3E}">
        <p14:creationId xmlns:p14="http://schemas.microsoft.com/office/powerpoint/2010/main" val="37944867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AF0B35-593D-4633-8EEC-713814304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Thank you!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2CF14C4-16A5-4980-85BA-25A8F0F9A2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7338" y="2286000"/>
            <a:ext cx="3827462" cy="257250"/>
          </a:xfrm>
        </p:spPr>
        <p:txBody>
          <a:bodyPr/>
          <a:lstStyle/>
          <a:p>
            <a:r>
              <a:rPr lang="hu-HU" dirty="0"/>
              <a:t>For more information, contact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77009E-38D1-4C2B-8752-4DEA825C0C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hu-HU" dirty="0"/>
              <a:t>János Stefán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CC7E740-719E-4FAA-969A-E5A1614435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hu-HU" dirty="0"/>
              <a:t>Junior Software Engineer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6B65EC7-8E1E-4B63-AA57-DD2D1F3538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 dirty="0"/>
              <a:t>janos_stefan@epam.com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E1FFE50-5331-4E43-8B89-B385738B2A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907338" y="4572000"/>
            <a:ext cx="3827462" cy="852990"/>
          </a:xfrm>
        </p:spPr>
        <p:txBody>
          <a:bodyPr/>
          <a:lstStyle/>
          <a:p>
            <a:r>
              <a:rPr lang="hu-HU" dirty="0"/>
              <a:t>EPAM Debrecen</a:t>
            </a:r>
          </a:p>
          <a:p>
            <a:r>
              <a:rPr lang="hu-HU" dirty="0"/>
              <a:t>Tüzér street 4.</a:t>
            </a:r>
          </a:p>
          <a:p>
            <a:r>
              <a:rPr lang="hu-HU" dirty="0"/>
              <a:t>HU-4028 Debrecen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211862"/>
      </p:ext>
    </p:extLst>
  </p:cSld>
  <p:clrMapOvr>
    <a:masterClrMapping/>
  </p:clrMapOvr>
</p:sld>
</file>

<file path=ppt/theme/theme1.xml><?xml version="1.0" encoding="utf-8"?>
<a:theme xmlns:a="http://schemas.openxmlformats.org/drawingml/2006/main" name="EPAM Master 2021.3">
  <a:themeElements>
    <a:clrScheme name="Custom 3">
      <a:dk1>
        <a:srgbClr val="222222"/>
      </a:dk1>
      <a:lt1>
        <a:srgbClr val="FFFFFF"/>
      </a:lt1>
      <a:dk2>
        <a:srgbClr val="A0A0A0"/>
      </a:dk2>
      <a:lt2>
        <a:srgbClr val="F6F6F6"/>
      </a:lt2>
      <a:accent1>
        <a:srgbClr val="222222"/>
      </a:accent1>
      <a:accent2>
        <a:srgbClr val="76CDD8"/>
      </a:accent2>
      <a:accent3>
        <a:srgbClr val="FFC000"/>
      </a:accent3>
      <a:accent4>
        <a:srgbClr val="445464"/>
      </a:accent4>
      <a:accent5>
        <a:srgbClr val="008ACE"/>
      </a:accent5>
      <a:accent6>
        <a:srgbClr val="38C2D7"/>
      </a:accent6>
      <a:hlink>
        <a:srgbClr val="76CDD8"/>
      </a:hlink>
      <a:folHlink>
        <a:srgbClr val="A0A0A0"/>
      </a:folHlink>
    </a:clrScheme>
    <a:fontScheme name="EPAM">
      <a:majorFont>
        <a:latin typeface="Calibri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square" lIns="0" tIns="0" rIns="0" bIns="0" rtlCol="0" anchor="ctr"/>
      <a:lstStyle>
        <a:defPPr algn="ctr">
          <a:defRPr sz="2400" dirty="0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>
        <a:spAutoFit/>
      </a:bodyPr>
      <a:lstStyle>
        <a:defPPr algn="l">
          <a:defRPr dirty="0" smtClean="0"/>
        </a:defPPr>
      </a:lstStyle>
    </a:txDef>
  </a:objectDefaults>
  <a:extraClrSchemeLst/>
  <a:custClrLst>
    <a:custClr name="PALINA BLUE">
      <a:srgbClr val="A9C9D7"/>
    </a:custClr>
    <a:custClr name="DARK PURPLE ">
      <a:srgbClr val="8A7CBB"/>
    </a:custClr>
    <a:custClr name="LIGHT PURPLE">
      <a:srgbClr val="AE9BD8"/>
    </a:custClr>
    <a:custClr name="BRIGHT CORAL">
      <a:srgbClr val="FF4E33"/>
    </a:custClr>
    <a:custClr name="EPAM CORAL">
      <a:srgbClr val="FF8468"/>
    </a:custClr>
    <a:custClr name="BRIGHT ORANGE">
      <a:srgbClr val="FF8500"/>
    </a:custClr>
    <a:custClr name="ORANGE ">
      <a:srgbClr val="FFA436"/>
    </a:custClr>
    <a:custClr name="DARK GREEN">
      <a:srgbClr val="62A230"/>
    </a:custClr>
    <a:custClr name="BRIGHT GREEN">
      <a:srgbClr val="9BC838"/>
    </a:custClr>
    <a:custClr name="LIME GREEN">
      <a:srgbClr val="C8DE49"/>
    </a:custClr>
    <a:custClr name="Coral Orange">
      <a:srgbClr val="F57F41"/>
    </a:custClr>
    <a:custClr name="Tangerine">
      <a:srgbClr val="F15C44"/>
    </a:custClr>
    <a:custClr name="Gold">
      <a:srgbClr val="DBB661"/>
    </a:custClr>
    <a:custClr name="Turqoise">
      <a:srgbClr val="2A9D8E"/>
    </a:custClr>
    <a:custClr name="Ocean">
      <a:srgbClr val="209EBD"/>
    </a:custClr>
    <a:custClr name="Charcoal">
      <a:srgbClr val="264553"/>
    </a:custClr>
    <a:custClr name="Eggplant">
      <a:srgbClr val="58335E"/>
    </a:custClr>
    <a:custClr name="Grape Soda">
      <a:srgbClr val="745C97"/>
    </a:custClr>
    <a:custClr name="Wild Berry">
      <a:srgbClr val="89608E"/>
    </a:custClr>
    <a:custClr name="Taffy">
      <a:srgbClr val="8ACDEA"/>
    </a:custClr>
    <a:custClr name="Honey">
      <a:srgbClr val="EFEA5A"/>
    </a:custClr>
    <a:custClr name="Mint">
      <a:srgbClr val="2CD094"/>
    </a:custClr>
    <a:custClr name="Malibu">
      <a:srgbClr val="BAD49C"/>
    </a:custClr>
    <a:custClr name="Cotton Candy">
      <a:srgbClr val="EEB4B3"/>
    </a:custClr>
    <a:custClr name="Guava">
      <a:srgbClr val="E26D5C"/>
    </a:custClr>
  </a:custClrLst>
  <a:extLst>
    <a:ext uri="{05A4C25C-085E-4340-85A3-A5531E510DB2}">
      <thm15:themeFamily xmlns:thm15="http://schemas.microsoft.com/office/thememl/2012/main" name="Continuum_Master_v1.1" id="{D2F91407-39AD-2344-8F42-01B4155FF2FD}" vid="{09F1F252-BD3A-0A45-9F6B-518524EA32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117DE914E1FC49A35D90CD8516D943" ma:contentTypeVersion="12" ma:contentTypeDescription="Create a new document." ma:contentTypeScope="" ma:versionID="e1f7c3316c007ddcbbfc786aee0f30b6">
  <xsd:schema xmlns:xsd="http://www.w3.org/2001/XMLSchema" xmlns:xs="http://www.w3.org/2001/XMLSchema" xmlns:p="http://schemas.microsoft.com/office/2006/metadata/properties" xmlns:ns2="58f349b0-675b-4c01-8ee6-14db8fa12501" xmlns:ns3="df44d29e-ce0d-48fd-88bf-98e6a958fd4b" targetNamespace="http://schemas.microsoft.com/office/2006/metadata/properties" ma:root="true" ma:fieldsID="ebdd3e3611f83f5edb1b485483198b2e" ns2:_="" ns3:_="">
    <xsd:import namespace="58f349b0-675b-4c01-8ee6-14db8fa12501"/>
    <xsd:import namespace="df44d29e-ce0d-48fd-88bf-98e6a958fd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f349b0-675b-4c01-8ee6-14db8fa125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44d29e-ce0d-48fd-88bf-98e6a958fd4b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5DB04F-7584-4690-B257-DA90A69356DD}">
  <ds:schemaRefs>
    <ds:schemaRef ds:uri="58f349b0-675b-4c01-8ee6-14db8fa12501"/>
    <ds:schemaRef ds:uri="df44d29e-ce0d-48fd-88bf-98e6a958fd4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12E3419-B313-4514-AD24-D56E1F80A63A}">
  <ds:schemaRefs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58f349b0-675b-4c01-8ee6-14db8fa12501"/>
    <ds:schemaRef ds:uri="http://purl.org/dc/elements/1.1/"/>
    <ds:schemaRef ds:uri="df44d29e-ce0d-48fd-88bf-98e6a958fd4b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87CA341C-74C1-4577-8C96-EF2605DC526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10849</TotalTime>
  <Words>3672</Words>
  <Application>Microsoft Office PowerPoint</Application>
  <PresentationFormat>Widescreen</PresentationFormat>
  <Paragraphs>590</Paragraphs>
  <Slides>34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Calibri Bold</vt:lpstr>
      <vt:lpstr>Calibri Light</vt:lpstr>
      <vt:lpstr>Consolas</vt:lpstr>
      <vt:lpstr>Courier New</vt:lpstr>
      <vt:lpstr>EPAM Master 2021.3</vt:lpstr>
      <vt:lpstr>JavaScript Functions</vt:lpstr>
      <vt:lpstr>Agenda</vt:lpstr>
      <vt:lpstr>Function definitions</vt:lpstr>
      <vt:lpstr>What is a function?</vt:lpstr>
      <vt:lpstr>Type of functions</vt:lpstr>
      <vt:lpstr>Functional programming</vt:lpstr>
      <vt:lpstr>Main concepts</vt:lpstr>
      <vt:lpstr>Pros and cons</vt:lpstr>
      <vt:lpstr>Impure functions</vt:lpstr>
      <vt:lpstr>Mutability</vt:lpstr>
      <vt:lpstr>Shared state</vt:lpstr>
      <vt:lpstr>First-class citizens</vt:lpstr>
      <vt:lpstr>Higher-order functions</vt:lpstr>
      <vt:lpstr>Lazy evaluation</vt:lpstr>
      <vt:lpstr>Arrays</vt:lpstr>
      <vt:lpstr>Refresh your memories</vt:lpstr>
      <vt:lpstr>New winds</vt:lpstr>
      <vt:lpstr>Simple traversing</vt:lpstr>
      <vt:lpstr>Transformations</vt:lpstr>
      <vt:lpstr>Filtering</vt:lpstr>
      <vt:lpstr>Accumulating</vt:lpstr>
      <vt:lpstr>Callbacks &amp; Promises</vt:lpstr>
      <vt:lpstr>Asynchronous JavaScript in a nutshell</vt:lpstr>
      <vt:lpstr>JavaScript concurrency model</vt:lpstr>
      <vt:lpstr>Asynchronous functions</vt:lpstr>
      <vt:lpstr>Callbacks</vt:lpstr>
      <vt:lpstr>The Promise</vt:lpstr>
      <vt:lpstr>The Promise object</vt:lpstr>
      <vt:lpstr>How to work with promises?</vt:lpstr>
      <vt:lpstr>Counting with Promises</vt:lpstr>
      <vt:lpstr>Sync the async</vt:lpstr>
      <vt:lpstr>Fetch API</vt:lpstr>
      <vt:lpstr>The Fetch API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Palina Vilava</dc:creator>
  <cp:lastModifiedBy>Janos Stefan</cp:lastModifiedBy>
  <cp:revision>1081</cp:revision>
  <dcterms:created xsi:type="dcterms:W3CDTF">2020-10-27T12:12:11Z</dcterms:created>
  <dcterms:modified xsi:type="dcterms:W3CDTF">2025-02-25T13:47:38Z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0x010100BA117DE914E1FC49A35D90CD8516D943</vt:lpwstr>
  </property>
</Properties>
</file>